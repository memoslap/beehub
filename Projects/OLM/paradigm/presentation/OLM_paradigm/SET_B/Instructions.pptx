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0"/>
  </p:notesMasterIdLst>
  <p:sldIdLst>
    <p:sldId id="257" r:id="rId3"/>
    <p:sldId id="259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91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8" r:id="rId28"/>
    <p:sldId id="31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ßmann, Sven" initials="P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821" autoAdjust="0"/>
  </p:normalViewPr>
  <p:slideViewPr>
    <p:cSldViewPr snapToGrid="0">
      <p:cViewPr varScale="1">
        <p:scale>
          <a:sx n="87" d="100"/>
          <a:sy n="87" d="100"/>
        </p:scale>
        <p:origin x="-499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28ED6-4574-41B9-8358-E0C7200475A2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C5027-DBF7-442C-9F4E-B1E856D147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4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Frau Fromm: diesen Text gegenlesen – verständlich?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C5027-DBF7-442C-9F4E-B1E856D147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2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AC143F-CE07-4837-A50A-B0E0063DB6EF}" type="slidenum">
              <a:rPr lang="de-DE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10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5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0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8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1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1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5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5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28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CA46F0-D5CA-48F5-9888-3B8420A43D10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507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76D3DBB-5C36-4104-B305-228B6DEAFA5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4889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CA46F0-D5CA-48F5-9888-3B8420A43D10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320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86BEA7-9F62-46CF-956F-6D741A5EB472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755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8FC2FEE-B72A-4A24-A2DF-E0C505D800DB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84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006FED-CC87-4E14-8834-EE118173A62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6477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5A165A-3D77-4BB1-88D9-B4BBEFC9A68E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8270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721A2F3-D4BC-482C-9061-CE6DFAB932E6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1588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A8199EF-AE93-41BB-B395-6BF09E26F4B2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3746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7B63F6-0CB7-43C1-A5C8-4D0180BE64B0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539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07E62A-4CED-49C1-81B2-A48E0D6F7AF0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80017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EA9AAC-29FF-4939-89D9-1EE6A4AA04A5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36946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D09B28-649A-45AE-9F4D-64667398B452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5396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174E-72A9-47D2-9A7A-A8656326455F}" type="datetimeFigureOut">
              <a:rPr lang="de-DE" smtClean="0"/>
              <a:t>26.06.2024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5B72-3B9E-4097-B1D8-9DEB1121E5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47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3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de-DE" sz="6000" b="0" strike="noStrike" spc="-1">
                <a:solidFill>
                  <a:srgbClr val="000000"/>
                </a:solidFill>
                <a:latin typeface="Calibri Light"/>
              </a:rPr>
              <a:t>Titelmasterformat durch Klicken bearbeiten</a:t>
            </a:r>
            <a:endParaRPr lang="de-DE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20AEBC-57E8-46AF-9D60-731F5DBD7FEB}" type="slidenum">
              <a:rPr lang="de-DE" sz="1200" b="0" strike="noStrike" spc="-1">
                <a:solidFill>
                  <a:srgbClr val="8B8B8B"/>
                </a:solidFill>
                <a:latin typeface="Calibri"/>
              </a:rPr>
              <a:t>‹Nr.›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6074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762CC4-C4BA-13E3-CE95-28732A5B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597675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Während des Experiments bitten wir Sie, 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zwei Aufgaben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zu bearbeiten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1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b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In dieser Aufgabe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müssen Sie entscheiden, </a:t>
            </a:r>
            <a:r>
              <a:rPr lang="de-DE" sz="2000" spc="-1" dirty="0">
                <a:latin typeface="Arial"/>
              </a:rPr>
              <a:t>                                                                         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ob die Lage eines Hauses auf einer Karte </a:t>
            </a:r>
            <a:r>
              <a:rPr kumimoji="0" lang="de-DE" sz="200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„richtig“ oder „falsch“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ist.</a:t>
            </a: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Was in diesem Fall „richtig“ oder „falsch“ bedeutet,                                                           erklären wir Ihnen auf den nächsten Folien. 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2</a:t>
            </a:r>
            <a:b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Hier müssen Sie entscheiden,                                                                                                ob die Lage eines Hauses auf einer Karte „rechts“ oder „links“ liegt.</a:t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endParaRPr kumimoji="0" lang="de-DE" sz="2000" b="0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1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kumimoji="0" lang="de-DE" sz="2000" b="1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viermal</a:t>
            </a:r>
            <a:r>
              <a:rPr lang="de-DE" sz="2000" b="1" spc="-1" dirty="0">
                <a:latin typeface="Arial"/>
              </a:rPr>
              <a:t> </a:t>
            </a:r>
            <a:r>
              <a:rPr kumimoji="0" lang="de-DE" sz="2000" b="0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2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zweimal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15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476660"/>
            <a:ext cx="9144000" cy="13849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4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Aufgabe 1 </a:t>
            </a:r>
            <a:r>
              <a:rPr kumimoji="0" lang="de-DE" altLang="de-DE" sz="3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3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Dafür werden Ihnen verschiedene Häuser auf einem Stadtplan gezeigt.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Der Stadtplan sieht so aus: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158" y="2108843"/>
            <a:ext cx="6093994" cy="4310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75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005712"/>
            <a:ext cx="914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Dasselbe H</a:t>
            </a:r>
            <a:r>
              <a:rPr lang="de-DE" altLang="de-DE" sz="2000" dirty="0">
                <a:latin typeface="Arial" panose="020B0604020202020204" pitchFamily="34" charset="0"/>
              </a:rPr>
              <a:t>aus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wird mehrmals an verschiedenen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Plätzen                                 auf diesem Stadtplan gezeigt.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22" y="2154601"/>
            <a:ext cx="4603174" cy="3436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1" y="2156417"/>
            <a:ext cx="4600574" cy="34344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feld 6"/>
          <p:cNvSpPr txBox="1"/>
          <p:nvPr/>
        </p:nvSpPr>
        <p:spPr>
          <a:xfrm>
            <a:off x="3269515" y="1754491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7908686" y="1754491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Oder so:</a:t>
            </a:r>
          </a:p>
        </p:txBody>
      </p:sp>
    </p:spTree>
    <p:extLst>
      <p:ext uri="{BB962C8B-B14F-4D97-AF65-F5344CB8AC3E}">
        <p14:creationId xmlns:p14="http://schemas.microsoft.com/office/powerpoint/2010/main" val="166986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71413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ABER: </a:t>
            </a:r>
            <a:b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Jedes Haus hat einen „Lieblingsplatz“, an dem es besonders häufig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vorkommt.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Diesen Platz sollen Sie herausfinden! </a:t>
            </a:r>
          </a:p>
        </p:txBody>
      </p:sp>
    </p:spTree>
    <p:extLst>
      <p:ext uri="{BB962C8B-B14F-4D97-AF65-F5344CB8AC3E}">
        <p14:creationId xmlns:p14="http://schemas.microsoft.com/office/powerpoint/2010/main" val="148032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039942"/>
            <a:ext cx="9144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                                                                                                      wenn Sie meinen, dass der gezeigte Ort der Lieblingsplatz des </a:t>
            </a:r>
            <a:r>
              <a:rPr lang="de-DE" altLang="de-DE" sz="2000" dirty="0">
                <a:latin typeface="Arial" panose="020B0604020202020204" pitchFamily="34" charset="0"/>
              </a:rPr>
              <a:t>Hauses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ist,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wenn nicht.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immer eine Taste</a:t>
            </a:r>
            <a:r>
              <a:rPr lang="de-DE" altLang="de-DE" sz="2000" dirty="0">
                <a:latin typeface="Arial" panose="020B0604020202020204" pitchFamily="34" charset="0"/>
              </a:rPr>
              <a:t>,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dem ersten Bild!	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Taste1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Zeigefinger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Taste2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Daumen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492133" y="3392732"/>
            <a:ext cx="4845538" cy="12817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6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45E4E932-9489-A6D5-65E8-5021B8041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72" y="1086936"/>
            <a:ext cx="103189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Auf einer Karte wird Ihnen ein Haus gezeigt und Sie werden gefragt, ob sich dieses Haus, von Ihnen aus gesehen, „rechts“ oder „links“ der Karte befindet 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Beispiel: Ist das Haus „rechts“ auf der Karte?</a:t>
            </a:r>
            <a:endParaRPr lang="de-DE" altLang="de-DE" sz="2000" b="1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C4DAFB5-078E-03FE-3533-A6774C24C8A7}"/>
              </a:ext>
            </a:extLst>
          </p:cNvPr>
          <p:cNvSpPr txBox="1"/>
          <p:nvPr/>
        </p:nvSpPr>
        <p:spPr>
          <a:xfrm>
            <a:off x="599767" y="108031"/>
            <a:ext cx="10215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Aufgabe 2</a:t>
            </a:r>
            <a:b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E2EA2C6-61EA-D397-431C-4E836751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1" y="2250507"/>
            <a:ext cx="5781978" cy="401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2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9574E6-06EE-6D5D-073A-217C1F0D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In dieser Aufgabe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9956A8B-BD84-CA49-D4E9-A3FF7813A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24234"/>
            <a:ext cx="102791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JA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          dass sich das Haus auf der rechten Seite der Karte </a:t>
            </a:r>
            <a:r>
              <a:rPr lang="de-DE" altLang="de-DE" sz="2000" dirty="0" smtClean="0">
                <a:latin typeface="Arial" panose="020B0604020202020204" pitchFamily="34" charset="0"/>
              </a:rPr>
              <a:t>befindet.</a:t>
            </a: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NEIN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dass sich das Haus auf der linken Seite der Karte befindet.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587" y="2519593"/>
            <a:ext cx="594033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6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657EA0-6791-BBE9-DC36-3C7E6B9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Ablauf der Aufgaben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48E02E7B-C9EC-4F6C-B7E4-D4A12739409F}"/>
              </a:ext>
            </a:extLst>
          </p:cNvPr>
          <p:cNvSpPr txBox="1">
            <a:spLocks/>
          </p:cNvSpPr>
          <p:nvPr/>
        </p:nvSpPr>
        <p:spPr>
          <a:xfrm>
            <a:off x="936522" y="17862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>Der Ablauf der Aufgaben wird Ihnen </a:t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>an jeweils einem Beispiel präsentiert.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737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F0B41EA1-8021-9D36-88B3-CD3D8907D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6"/>
            <a:ext cx="10515600" cy="5673213"/>
          </a:xfrm>
          <a:solidFill>
            <a:schemeClr val="bg1"/>
          </a:solidFill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Das Bild des Hauses erscheint 2,5 Sekunden lang auf dem Bildschirm.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Während dieser Zeit sollen Sie per Knopfdruck entscheiden, ob der Standort des angezeigten Hauses richtig oder falsch ist.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In den ersten Runden müssen Sie zwangsläufig raten.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Pfeil nach rechts 14">
            <a:extLst>
              <a:ext uri="{FF2B5EF4-FFF2-40B4-BE49-F238E27FC236}">
                <a16:creationId xmlns:a16="http://schemas.microsoft.com/office/drawing/2014/main" xmlns="" id="{31FC4024-306A-E021-4EDB-44C98B3DD118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6" name="Textfeld 1">
            <a:extLst>
              <a:ext uri="{FF2B5EF4-FFF2-40B4-BE49-F238E27FC236}">
                <a16:creationId xmlns:a16="http://schemas.microsoft.com/office/drawing/2014/main" xmlns="" id="{AD4E99A0-B91D-38A2-D234-703E50DBC13D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Textfeld 16">
            <a:extLst>
              <a:ext uri="{FF2B5EF4-FFF2-40B4-BE49-F238E27FC236}">
                <a16:creationId xmlns:a16="http://schemas.microsoft.com/office/drawing/2014/main" xmlns="" id="{F2B6C996-8196-49EC-2E67-C8208DFFADA7}"/>
              </a:ext>
            </a:extLst>
          </p:cNvPr>
          <p:cNvSpPr/>
          <p:nvPr/>
        </p:nvSpPr>
        <p:spPr>
          <a:xfrm>
            <a:off x="2235809" y="4541412"/>
            <a:ext cx="7733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4	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23">
            <a:extLst>
              <a:ext uri="{FF2B5EF4-FFF2-40B4-BE49-F238E27FC236}">
                <a16:creationId xmlns:a16="http://schemas.microsoft.com/office/drawing/2014/main" xmlns="" id="{3DBF6D1C-954B-039B-2FC6-B35A2E71B08C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:a16="http://schemas.microsoft.com/office/drawing/2014/main" xmlns="" id="{35C2C1CA-F2E3-6CC3-27F3-5E786FD0A4F8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AF4F53B-0F7B-C38F-F110-2CBD4025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46" y="2871032"/>
            <a:ext cx="1481464" cy="110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9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BA3AA927-3E1E-3CC0-BDE7-F8A0472FB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535344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Unmittelbar nach jedem Bild eines Hauses erhalten Sie automatisch eine Rückmeldung,    ob Ihre Antwort richtig oder falsch war.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Hier ist ein Beispiel für die Rückmeldung nach einer richtigen Antwort.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7" name="Pfeil nach rechts 14">
            <a:extLst>
              <a:ext uri="{FF2B5EF4-FFF2-40B4-BE49-F238E27FC236}">
                <a16:creationId xmlns:a16="http://schemas.microsoft.com/office/drawing/2014/main" xmlns="" id="{740E2BB9-5AC5-EE55-FCD2-13686FD8F10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9" name="Textfeld 1">
            <a:extLst>
              <a:ext uri="{FF2B5EF4-FFF2-40B4-BE49-F238E27FC236}">
                <a16:creationId xmlns:a16="http://schemas.microsoft.com/office/drawing/2014/main" xmlns="" id="{3259948A-D645-AB76-3B1B-6EFCE066C791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0" name="Textfeld 23">
            <a:extLst>
              <a:ext uri="{FF2B5EF4-FFF2-40B4-BE49-F238E27FC236}">
                <a16:creationId xmlns:a16="http://schemas.microsoft.com/office/drawing/2014/main" xmlns="" id="{4E70D3B9-4429-D517-0B63-4D89962098A5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2" name="Textfeld 23">
            <a:extLst>
              <a:ext uri="{FF2B5EF4-FFF2-40B4-BE49-F238E27FC236}">
                <a16:creationId xmlns:a16="http://schemas.microsoft.com/office/drawing/2014/main" xmlns="" id="{14736315-1954-427F-052C-9789E4B4A23E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3" name="Textfeld 16">
            <a:extLst>
              <a:ext uri="{FF2B5EF4-FFF2-40B4-BE49-F238E27FC236}">
                <a16:creationId xmlns:a16="http://schemas.microsoft.com/office/drawing/2014/main" xmlns="" id="{B2EAD88C-1847-4C5F-9286-76C45A1A7952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xmlns="" id="{072A47C9-16A6-1FF1-B3D4-7114DB45E302}"/>
              </a:ext>
            </a:extLst>
          </p:cNvPr>
          <p:cNvSpPr txBox="1"/>
          <p:nvPr/>
        </p:nvSpPr>
        <p:spPr>
          <a:xfrm>
            <a:off x="2518990" y="32727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Richtig!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feld 1">
            <a:extLst>
              <a:ext uri="{FF2B5EF4-FFF2-40B4-BE49-F238E27FC236}">
                <a16:creationId xmlns:a16="http://schemas.microsoft.com/office/drawing/2014/main" xmlns="" id="{02AA67D1-DF34-08BE-4821-7CD7F9078985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xmlns="" id="{FE6ACC5A-1356-85BA-0EE4-C9DAA756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58" y="2897075"/>
            <a:ext cx="1481464" cy="1105942"/>
          </a:xfrm>
          <a:prstGeom prst="rect">
            <a:avLst/>
          </a:prstGeom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xmlns="" id="{A9C031AC-2386-B642-2E65-CE72AFA8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19" y="2867114"/>
            <a:ext cx="1481464" cy="110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7F523EAB-75FF-DFEE-6AF3-4304AE4F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40"/>
            <a:ext cx="10515600" cy="5742038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Ihre Antwort falsch war, erhalten Sie ebenfalls eine Rückmeldung.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Und die korrekte Lage des Hauses wird angezeigt.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" name="Pfeil nach rechts 14">
            <a:extLst>
              <a:ext uri="{FF2B5EF4-FFF2-40B4-BE49-F238E27FC236}">
                <a16:creationId xmlns:a16="http://schemas.microsoft.com/office/drawing/2014/main" xmlns="" id="{0C42B9B0-3CDF-FEDA-8547-9F6052A273CA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9" name="Textfeld 1">
            <a:extLst>
              <a:ext uri="{FF2B5EF4-FFF2-40B4-BE49-F238E27FC236}">
                <a16:creationId xmlns:a16="http://schemas.microsoft.com/office/drawing/2014/main" xmlns="" id="{16F6939B-4B26-932A-0CA0-CA59739D85CE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1">
            <a:extLst>
              <a:ext uri="{FF2B5EF4-FFF2-40B4-BE49-F238E27FC236}">
                <a16:creationId xmlns:a16="http://schemas.microsoft.com/office/drawing/2014/main" xmlns="" id="{046E618A-D9F3-D853-8596-09128780BABE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:a16="http://schemas.microsoft.com/office/drawing/2014/main" xmlns="" id="{56F0BBC4-622E-46A8-1BAE-9C8B9E630B10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feld 23">
            <a:extLst>
              <a:ext uri="{FF2B5EF4-FFF2-40B4-BE49-F238E27FC236}">
                <a16:creationId xmlns:a16="http://schemas.microsoft.com/office/drawing/2014/main" xmlns="" id="{43DD0DAD-E785-887E-5680-771F9593396F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6">
            <a:extLst>
              <a:ext uri="{FF2B5EF4-FFF2-40B4-BE49-F238E27FC236}">
                <a16:creationId xmlns:a16="http://schemas.microsoft.com/office/drawing/2014/main" xmlns="" id="{5157F54B-3AE5-F293-6120-C7A328AA413F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42BB7EF-1043-F490-2773-07DC9DB8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19" y="3021346"/>
            <a:ext cx="1326813" cy="916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98FA0FD-CC0D-DF6A-D8E7-3D4DFEB9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658" y="2962032"/>
            <a:ext cx="1282292" cy="975538"/>
          </a:xfrm>
          <a:prstGeom prst="rect">
            <a:avLst/>
          </a:prstGeom>
        </p:spPr>
      </p:pic>
      <p:sp>
        <p:nvSpPr>
          <p:cNvPr id="15" name="TextBox 17">
            <a:extLst>
              <a:ext uri="{FF2B5EF4-FFF2-40B4-BE49-F238E27FC236}">
                <a16:creationId xmlns:a16="http://schemas.microsoft.com/office/drawing/2014/main" xmlns="" id="{E7E1406E-E884-EF90-02F9-431D918F5FFB}"/>
              </a:ext>
            </a:extLst>
          </p:cNvPr>
          <p:cNvSpPr txBox="1"/>
          <p:nvPr/>
        </p:nvSpPr>
        <p:spPr>
          <a:xfrm>
            <a:off x="2527150" y="3246202"/>
            <a:ext cx="5956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b="1" spc="-1" dirty="0">
                <a:solidFill>
                  <a:srgbClr val="FF0000"/>
                </a:solidFill>
                <a:latin typeface="Arial"/>
              </a:rPr>
              <a:t>Falsch</a:t>
            </a: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476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8B6DCA73-8354-15B5-5350-B5898597B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94851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ist wichtig, innerhalb von 2,5 Sekunden zu antworten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Sie zu spät drücken, wird Ihre Antwort nicht gezählt.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Auch in diesem Fall erhalten Sie eine Rückmeldung und es wird Ihnen der korrekte Standort des Hauses angezeigt.</a:t>
            </a:r>
          </a:p>
        </p:txBody>
      </p:sp>
      <p:sp>
        <p:nvSpPr>
          <p:cNvPr id="7" name="Pfeil nach rechts 4">
            <a:extLst>
              <a:ext uri="{FF2B5EF4-FFF2-40B4-BE49-F238E27FC236}">
                <a16:creationId xmlns:a16="http://schemas.microsoft.com/office/drawing/2014/main" xmlns="" id="{4CEF7592-742C-A853-8253-A83DABB26B32}"/>
              </a:ext>
            </a:extLst>
          </p:cNvPr>
          <p:cNvSpPr/>
          <p:nvPr/>
        </p:nvSpPr>
        <p:spPr>
          <a:xfrm>
            <a:off x="2291874" y="3811854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8" name="Textfeld 41">
            <a:extLst>
              <a:ext uri="{FF2B5EF4-FFF2-40B4-BE49-F238E27FC236}">
                <a16:creationId xmlns:a16="http://schemas.microsoft.com/office/drawing/2014/main" xmlns="" id="{3C2250DD-B0F1-9688-6094-96E7F9ED5CAD}"/>
              </a:ext>
            </a:extLst>
          </p:cNvPr>
          <p:cNvSpPr/>
          <p:nvPr/>
        </p:nvSpPr>
        <p:spPr>
          <a:xfrm>
            <a:off x="4763654" y="4191558"/>
            <a:ext cx="2215800" cy="363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6E3AB9-A481-D945-6FCA-02A6F826E472}"/>
              </a:ext>
            </a:extLst>
          </p:cNvPr>
          <p:cNvSpPr txBox="1"/>
          <p:nvPr/>
        </p:nvSpPr>
        <p:spPr>
          <a:xfrm>
            <a:off x="2584566" y="33355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Zu spät!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:a16="http://schemas.microsoft.com/office/drawing/2014/main" xmlns="" id="{DF1B0FF2-04EB-5E06-CEDB-0D5863BD1EEF}"/>
              </a:ext>
            </a:extLst>
          </p:cNvPr>
          <p:cNvSpPr/>
          <p:nvPr/>
        </p:nvSpPr>
        <p:spPr>
          <a:xfrm>
            <a:off x="2356809" y="494906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:a16="http://schemas.microsoft.com/office/drawing/2014/main" xmlns="" id="{927E4257-1764-5F88-8553-B32FADF7AEC7}"/>
              </a:ext>
            </a:extLst>
          </p:cNvPr>
          <p:cNvSpPr/>
          <p:nvPr/>
        </p:nvSpPr>
        <p:spPr>
          <a:xfrm>
            <a:off x="3557336" y="4935391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">
            <a:extLst>
              <a:ext uri="{FF2B5EF4-FFF2-40B4-BE49-F238E27FC236}">
                <a16:creationId xmlns:a16="http://schemas.microsoft.com/office/drawing/2014/main" xmlns="" id="{E44DEEB4-FD0A-D82E-3DF8-EAA82F80BCAD}"/>
              </a:ext>
            </a:extLst>
          </p:cNvPr>
          <p:cNvSpPr/>
          <p:nvPr/>
        </p:nvSpPr>
        <p:spPr>
          <a:xfrm>
            <a:off x="2344856" y="4189599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" name="Textfeld 16">
            <a:extLst>
              <a:ext uri="{FF2B5EF4-FFF2-40B4-BE49-F238E27FC236}">
                <a16:creationId xmlns:a16="http://schemas.microsoft.com/office/drawing/2014/main" xmlns="" id="{AACBE689-1119-03A3-F3F3-AFF31325094F}"/>
              </a:ext>
            </a:extLst>
          </p:cNvPr>
          <p:cNvSpPr/>
          <p:nvPr/>
        </p:nvSpPr>
        <p:spPr>
          <a:xfrm>
            <a:off x="2232128" y="4591025"/>
            <a:ext cx="76679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43970296-B833-0859-1BAA-373947C9C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74" y="3139519"/>
            <a:ext cx="1218619" cy="9097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440FC36-5181-AEDC-E358-AD446AD3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216" y="3139519"/>
            <a:ext cx="1218619" cy="90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7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00AA6FC5-495F-0B5B-F8D9-D9920BC6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5938684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wird nur Ihre erste Antwort gezählt, auch wenn Sie sich korrigieren wollen, und innerhalb des Zeitrahmens die andere Taste drücken.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Sie sollten sich also innerhalb des Zeitrahmens auf eine einzelne Antwort konzentrieren!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3" name="Pfeil nach rechts 14">
            <a:extLst>
              <a:ext uri="{FF2B5EF4-FFF2-40B4-BE49-F238E27FC236}">
                <a16:creationId xmlns:a16="http://schemas.microsoft.com/office/drawing/2014/main" xmlns="" id="{07CE2272-8388-010A-6E27-4D9AE65FD1D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5" name="Textfeld 1">
            <a:extLst>
              <a:ext uri="{FF2B5EF4-FFF2-40B4-BE49-F238E27FC236}">
                <a16:creationId xmlns:a16="http://schemas.microsoft.com/office/drawing/2014/main" xmlns="" id="{A330DA8B-BA67-9CEB-04D8-EF6704BFC65B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Textfeld 23">
            <a:extLst>
              <a:ext uri="{FF2B5EF4-FFF2-40B4-BE49-F238E27FC236}">
                <a16:creationId xmlns:a16="http://schemas.microsoft.com/office/drawing/2014/main" xmlns="" id="{577BB109-486D-CA9A-F2AD-9773A06FA1E8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feld 23">
            <a:extLst>
              <a:ext uri="{FF2B5EF4-FFF2-40B4-BE49-F238E27FC236}">
                <a16:creationId xmlns:a16="http://schemas.microsoft.com/office/drawing/2014/main" xmlns="" id="{6C02A42E-BC13-A762-0D25-0C2AA808E386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742606DB-003B-C83E-CEF5-3892100E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671" y="3013657"/>
            <a:ext cx="1218619" cy="90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6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7DDBBF9-6A18-D045-213A-9BC4397A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48"/>
            <a:ext cx="10515600" cy="4916130"/>
          </a:xfrm>
        </p:spPr>
        <p:txBody>
          <a:bodyPr>
            <a:norm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Beide Aufgaben werden in kurzen Blöcken wiederholt, wie am Anfang schon erklärt: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6 x Lage des Hauses auf einer Karte, und 2 x Rechts-Links-Aufgaben.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Die Reihenfolge der Aufgaben ist zufällig                                                                                   und wird jeweils vor einem Block durch eine Sprechblase angekündigt.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Zwischen den Aufgaben gibt es kurze Pausen, in denen wir Sie bitten,                                          auf ein Kreuz zu schauen (ca. 15 Sekunden).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7630B103-FA66-9E0E-2417-802E81CA9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19" y="871756"/>
            <a:ext cx="9413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400" b="1" dirty="0">
                <a:latin typeface="Arial" panose="020B0604020202020204" pitchFamily="34" charset="0"/>
              </a:rPr>
              <a:t>Ablauf des Gesamtversuchs</a:t>
            </a:r>
          </a:p>
        </p:txBody>
      </p:sp>
      <p:sp>
        <p:nvSpPr>
          <p:cNvPr id="12" name="Rechteck 1">
            <a:extLst>
              <a:ext uri="{FF2B5EF4-FFF2-40B4-BE49-F238E27FC236}">
                <a16:creationId xmlns:a16="http://schemas.microsoft.com/office/drawing/2014/main" xmlns="" id="{777F074A-59FE-988C-3E43-FE28EB50DFCF}"/>
              </a:ext>
            </a:extLst>
          </p:cNvPr>
          <p:cNvSpPr/>
          <p:nvPr/>
        </p:nvSpPr>
        <p:spPr>
          <a:xfrm>
            <a:off x="101880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Rechteck 5">
            <a:extLst>
              <a:ext uri="{FF2B5EF4-FFF2-40B4-BE49-F238E27FC236}">
                <a16:creationId xmlns:a16="http://schemas.microsoft.com/office/drawing/2014/main" xmlns="" id="{AD3B2315-9606-CEDF-E9C0-BD268EA3E496}"/>
              </a:ext>
            </a:extLst>
          </p:cNvPr>
          <p:cNvSpPr/>
          <p:nvPr/>
        </p:nvSpPr>
        <p:spPr>
          <a:xfrm>
            <a:off x="268524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xmlns="" id="{B732C47B-A4EC-D28C-C0E1-F509BE9D583E}"/>
              </a:ext>
            </a:extLst>
          </p:cNvPr>
          <p:cNvSpPr/>
          <p:nvPr/>
        </p:nvSpPr>
        <p:spPr>
          <a:xfrm>
            <a:off x="435168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" name="Rechteck 11">
            <a:extLst>
              <a:ext uri="{FF2B5EF4-FFF2-40B4-BE49-F238E27FC236}">
                <a16:creationId xmlns:a16="http://schemas.microsoft.com/office/drawing/2014/main" xmlns="" id="{6A5A31BD-A9AC-CADD-F7C4-B2B06212FB4E}"/>
              </a:ext>
            </a:extLst>
          </p:cNvPr>
          <p:cNvSpPr/>
          <p:nvPr/>
        </p:nvSpPr>
        <p:spPr>
          <a:xfrm>
            <a:off x="601776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xmlns="" id="{7F213159-0368-20FD-A92A-F93C9F6E3599}"/>
              </a:ext>
            </a:extLst>
          </p:cNvPr>
          <p:cNvSpPr/>
          <p:nvPr/>
        </p:nvSpPr>
        <p:spPr>
          <a:xfrm>
            <a:off x="768420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AEDCEF7-397A-A265-6384-1737FE884389}"/>
              </a:ext>
            </a:extLst>
          </p:cNvPr>
          <p:cNvSpPr/>
          <p:nvPr/>
        </p:nvSpPr>
        <p:spPr>
          <a:xfrm>
            <a:off x="935856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feld 9">
            <a:extLst>
              <a:ext uri="{FF2B5EF4-FFF2-40B4-BE49-F238E27FC236}">
                <a16:creationId xmlns:a16="http://schemas.microsoft.com/office/drawing/2014/main" xmlns="" id="{2FEBB9C9-F544-3AF1-199E-3AFC770C2105}"/>
              </a:ext>
            </a:extLst>
          </p:cNvPr>
          <p:cNvSpPr/>
          <p:nvPr/>
        </p:nvSpPr>
        <p:spPr>
          <a:xfrm>
            <a:off x="2396880" y="5555520"/>
            <a:ext cx="280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8" name="Textfeld 9">
            <a:extLst>
              <a:ext uri="{FF2B5EF4-FFF2-40B4-BE49-F238E27FC236}">
                <a16:creationId xmlns:a16="http://schemas.microsoft.com/office/drawing/2014/main" xmlns="" id="{44642C83-F12D-9DCD-019B-D86E598779F3}"/>
              </a:ext>
            </a:extLst>
          </p:cNvPr>
          <p:cNvSpPr/>
          <p:nvPr/>
        </p:nvSpPr>
        <p:spPr>
          <a:xfrm>
            <a:off x="4079160" y="5551602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9" name="Textfeld 9">
            <a:extLst>
              <a:ext uri="{FF2B5EF4-FFF2-40B4-BE49-F238E27FC236}">
                <a16:creationId xmlns:a16="http://schemas.microsoft.com/office/drawing/2014/main" xmlns="" id="{CFB394B8-08EA-C7C4-DC90-65636CB45625}"/>
              </a:ext>
            </a:extLst>
          </p:cNvPr>
          <p:cNvSpPr/>
          <p:nvPr/>
        </p:nvSpPr>
        <p:spPr>
          <a:xfrm>
            <a:off x="5713920" y="5544090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0" name="Textfeld 9">
            <a:extLst>
              <a:ext uri="{FF2B5EF4-FFF2-40B4-BE49-F238E27FC236}">
                <a16:creationId xmlns:a16="http://schemas.microsoft.com/office/drawing/2014/main" xmlns="" id="{3DD431E3-8B8C-9579-CA7F-395CF2D7F9ED}"/>
              </a:ext>
            </a:extLst>
          </p:cNvPr>
          <p:cNvSpPr/>
          <p:nvPr/>
        </p:nvSpPr>
        <p:spPr>
          <a:xfrm>
            <a:off x="7420200" y="5569980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1" name="Textfeld 9">
            <a:extLst>
              <a:ext uri="{FF2B5EF4-FFF2-40B4-BE49-F238E27FC236}">
                <a16:creationId xmlns:a16="http://schemas.microsoft.com/office/drawing/2014/main" xmlns="" id="{022791DD-2FEA-943F-6F86-24B7E8836D35}"/>
              </a:ext>
            </a:extLst>
          </p:cNvPr>
          <p:cNvSpPr/>
          <p:nvPr/>
        </p:nvSpPr>
        <p:spPr>
          <a:xfrm>
            <a:off x="9078120" y="5582274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2" name="Textfeld 24">
            <a:extLst>
              <a:ext uri="{FF2B5EF4-FFF2-40B4-BE49-F238E27FC236}">
                <a16:creationId xmlns:a16="http://schemas.microsoft.com/office/drawing/2014/main" xmlns="" id="{5B50E9EA-8D56-E5AE-B0FC-372AEE4C3A6C}"/>
              </a:ext>
            </a:extLst>
          </p:cNvPr>
          <p:cNvSpPr/>
          <p:nvPr/>
        </p:nvSpPr>
        <p:spPr>
          <a:xfrm>
            <a:off x="10796369" y="5548008"/>
            <a:ext cx="843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……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3" name="Speech Bubble: Oval 32">
            <a:extLst>
              <a:ext uri="{FF2B5EF4-FFF2-40B4-BE49-F238E27FC236}">
                <a16:creationId xmlns:a16="http://schemas.microsoft.com/office/drawing/2014/main" xmlns="" id="{D626D055-132E-4C5A-0645-8309A017FE78}"/>
              </a:ext>
            </a:extLst>
          </p:cNvPr>
          <p:cNvSpPr/>
          <p:nvPr/>
        </p:nvSpPr>
        <p:spPr>
          <a:xfrm>
            <a:off x="384491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xmlns="" id="{0E334569-B531-54AF-AA5D-5FA6DBC8C55E}"/>
              </a:ext>
            </a:extLst>
          </p:cNvPr>
          <p:cNvSpPr/>
          <p:nvPr/>
        </p:nvSpPr>
        <p:spPr>
          <a:xfrm>
            <a:off x="3745649" y="4571754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5" name="Speech Bubble: Oval 34">
            <a:extLst>
              <a:ext uri="{FF2B5EF4-FFF2-40B4-BE49-F238E27FC236}">
                <a16:creationId xmlns:a16="http://schemas.microsoft.com/office/drawing/2014/main" xmlns="" id="{631F7A86-2B43-8A80-E201-196F48398865}"/>
              </a:ext>
            </a:extLst>
          </p:cNvPr>
          <p:cNvSpPr/>
          <p:nvPr/>
        </p:nvSpPr>
        <p:spPr>
          <a:xfrm>
            <a:off x="5455778" y="4571754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xmlns="" id="{E7BEA3B4-B196-5B44-2188-4C9E875EE19F}"/>
              </a:ext>
            </a:extLst>
          </p:cNvPr>
          <p:cNvSpPr/>
          <p:nvPr/>
        </p:nvSpPr>
        <p:spPr>
          <a:xfrm>
            <a:off x="8828360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xmlns="" id="{296C7E49-39F2-390F-15D4-46170212FBB1}"/>
              </a:ext>
            </a:extLst>
          </p:cNvPr>
          <p:cNvSpPr/>
          <p:nvPr/>
        </p:nvSpPr>
        <p:spPr>
          <a:xfrm>
            <a:off x="2083196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2 (Rechts-Links-Position)</a:t>
            </a:r>
          </a:p>
        </p:txBody>
      </p:sp>
      <p:sp>
        <p:nvSpPr>
          <p:cNvPr id="39" name="Speech Bubble: Oval 38">
            <a:extLst>
              <a:ext uri="{FF2B5EF4-FFF2-40B4-BE49-F238E27FC236}">
                <a16:creationId xmlns:a16="http://schemas.microsoft.com/office/drawing/2014/main" xmlns="" id="{9EDBD153-D65B-BD34-5EBB-DB61C090FE78}"/>
              </a:ext>
            </a:extLst>
          </p:cNvPr>
          <p:cNvSpPr/>
          <p:nvPr/>
        </p:nvSpPr>
        <p:spPr>
          <a:xfrm>
            <a:off x="7165907" y="4569310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2 (Rechts-Links-Position)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xmlns="" id="{1E1FEBF5-9E80-4361-ABE4-3863331B7B3A}"/>
              </a:ext>
            </a:extLst>
          </p:cNvPr>
          <p:cNvSpPr txBox="1"/>
          <p:nvPr/>
        </p:nvSpPr>
        <p:spPr>
          <a:xfrm>
            <a:off x="8032152" y="6438001"/>
            <a:ext cx="4238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 smtClean="0"/>
              <a:t>Die angegebene Reihenfolge </a:t>
            </a:r>
            <a:r>
              <a:rPr lang="de-DE" sz="1600" i="1" dirty="0"/>
              <a:t>ist nur ein </a:t>
            </a:r>
            <a:r>
              <a:rPr lang="de-DE" sz="1600" i="1" dirty="0" smtClean="0"/>
              <a:t>Beispiel</a:t>
            </a:r>
            <a:endParaRPr lang="de-DE" sz="1600" i="1" dirty="0"/>
          </a:p>
        </p:txBody>
      </p:sp>
    </p:spTree>
    <p:extLst>
      <p:ext uri="{BB962C8B-B14F-4D97-AF65-F5344CB8AC3E}">
        <p14:creationId xmlns:p14="http://schemas.microsoft.com/office/powerpoint/2010/main" val="398568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469910" y="183892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Sie mit der Aufgabe etwas vertraut zu machen,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beginnen wir mit einem kurzen Test-Block.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Jetzt geht es los!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62422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:a16="http://schemas.microsoft.com/office/drawing/2014/main" xmlns="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/>
              </a:rPr>
              <a:t>A</a:t>
            </a: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ufgabe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1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(Lage des Hauses auf einer Karte)</a:t>
            </a:r>
          </a:p>
        </p:txBody>
      </p:sp>
    </p:spTree>
    <p:extLst>
      <p:ext uri="{BB962C8B-B14F-4D97-AF65-F5344CB8AC3E}">
        <p14:creationId xmlns:p14="http://schemas.microsoft.com/office/powerpoint/2010/main" val="291621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8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Richtig,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2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289518"/>
            <a:ext cx="6420287" cy="47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8" y="1289518"/>
            <a:ext cx="6435878" cy="480451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Falsch,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</p:spTree>
    <p:extLst>
      <p:ext uri="{BB962C8B-B14F-4D97-AF65-F5344CB8AC3E}">
        <p14:creationId xmlns:p14="http://schemas.microsoft.com/office/powerpoint/2010/main" val="18197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4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Zu spät,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xmlns="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:a16="http://schemas.microsoft.com/office/drawing/2014/main" xmlns="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Aufgabe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2</a:t>
            </a:r>
            <a:b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(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Rechts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-Links-Position)</a:t>
            </a:r>
          </a:p>
        </p:txBody>
      </p:sp>
    </p:spTree>
    <p:extLst>
      <p:ext uri="{BB962C8B-B14F-4D97-AF65-F5344CB8AC3E}">
        <p14:creationId xmlns:p14="http://schemas.microsoft.com/office/powerpoint/2010/main" val="311146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Ist das Haus auf der rechten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1" y="1270441"/>
            <a:ext cx="6157612" cy="48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7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Ist das Haus auf der Linken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2" y="1297354"/>
            <a:ext cx="6063826" cy="482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7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50950" y="392019"/>
            <a:ext cx="10054910" cy="1738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2800" b="1" u="sng" spc="-1" dirty="0">
                <a:solidFill>
                  <a:srgbClr val="000000"/>
                </a:solidFill>
                <a:latin typeface="Arial"/>
              </a:rPr>
              <a:t>Wichtig!</a:t>
            </a:r>
            <a:br>
              <a:rPr lang="de-DE" sz="2800" b="1" u="sng" spc="-1" dirty="0">
                <a:solidFill>
                  <a:srgbClr val="000000"/>
                </a:solidFill>
                <a:latin typeface="Arial"/>
              </a:rPr>
            </a:br>
            <a:r>
              <a:rPr sz="2000" dirty="0"/>
              <a:t/>
            </a:r>
            <a:br>
              <a:rPr sz="2000" dirty="0"/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Sie werden 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anstelle der Tastatur einen </a:t>
            </a:r>
            <a:r>
              <a:rPr lang="de-DE" sz="2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Grips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 Scanner verwenden. </a:t>
            </a:r>
            <a:b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Der </a:t>
            </a:r>
            <a:r>
              <a:rPr lang="de-DE" sz="2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Grips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sieht so aus:</a:t>
            </a:r>
            <a:r>
              <a:rPr lang="x-non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x-non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/>
              <a:t/>
            </a:r>
            <a:br>
              <a:rPr sz="2000" dirty="0"/>
            </a:br>
            <a:endParaRPr lang="de-DE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5" t="3529"/>
          <a:stretch/>
        </p:blipFill>
        <p:spPr>
          <a:xfrm rot="5400000">
            <a:off x="1844428" y="2153007"/>
            <a:ext cx="3126156" cy="384517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5" t="3529"/>
          <a:stretch/>
        </p:blipFill>
        <p:spPr>
          <a:xfrm rot="5400000">
            <a:off x="7385093" y="2138469"/>
            <a:ext cx="3126156" cy="3845172"/>
          </a:xfrm>
          <a:prstGeom prst="rect">
            <a:avLst/>
          </a:prstGeom>
        </p:spPr>
      </p:pic>
      <p:sp>
        <p:nvSpPr>
          <p:cNvPr id="12" name="Textfeld 23">
            <a:extLst>
              <a:ext uri="{FF2B5EF4-FFF2-40B4-BE49-F238E27FC236}">
                <a16:creationId xmlns:a16="http://schemas.microsoft.com/office/drawing/2014/main" xmlns="" id="{DF1B0FF2-04EB-5E06-CEDB-0D5863BD1EEF}"/>
              </a:ext>
            </a:extLst>
          </p:cNvPr>
          <p:cNvSpPr/>
          <p:nvPr/>
        </p:nvSpPr>
        <p:spPr>
          <a:xfrm>
            <a:off x="2847402" y="213009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feld 23">
            <a:extLst>
              <a:ext uri="{FF2B5EF4-FFF2-40B4-BE49-F238E27FC236}">
                <a16:creationId xmlns:a16="http://schemas.microsoft.com/office/drawing/2014/main" xmlns="" id="{927E4257-1764-5F88-8553-B32FADF7AEC7}"/>
              </a:ext>
            </a:extLst>
          </p:cNvPr>
          <p:cNvSpPr/>
          <p:nvPr/>
        </p:nvSpPr>
        <p:spPr>
          <a:xfrm>
            <a:off x="8606124" y="213009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425875" y="3505756"/>
            <a:ext cx="687653" cy="730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2740265" y="5624133"/>
            <a:ext cx="122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Zeigefinger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8674532" y="5624133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Daumen</a:t>
            </a:r>
            <a:endParaRPr lang="de-DE" dirty="0"/>
          </a:p>
        </p:txBody>
      </p:sp>
      <p:sp>
        <p:nvSpPr>
          <p:cNvPr id="19" name="Rechteck 18"/>
          <p:cNvSpPr/>
          <p:nvPr/>
        </p:nvSpPr>
        <p:spPr>
          <a:xfrm>
            <a:off x="9431998" y="2865855"/>
            <a:ext cx="687653" cy="730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75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39918" y="4806461"/>
            <a:ext cx="3524739" cy="114104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DE" altLang="de-DE" b="1" dirty="0"/>
              <a:t>JA -&gt; </a:t>
            </a:r>
            <a:r>
              <a:rPr lang="de-DE" altLang="de-DE" b="1" dirty="0" smtClean="0"/>
              <a:t>Taste1 (</a:t>
            </a:r>
            <a:r>
              <a:rPr lang="de-DE" altLang="de-DE" b="1" dirty="0"/>
              <a:t>Zeigefinger)</a:t>
            </a:r>
            <a:br>
              <a:rPr lang="de-DE" altLang="de-DE" b="1" dirty="0"/>
            </a:br>
            <a:r>
              <a:rPr lang="de-DE" altLang="de-DE" b="1" dirty="0"/>
              <a:t/>
            </a:r>
            <a:br>
              <a:rPr lang="de-DE" altLang="de-DE" b="1" dirty="0"/>
            </a:br>
            <a:r>
              <a:rPr lang="de-DE" altLang="de-DE" b="1" dirty="0"/>
              <a:t>NEIN -&gt; Taste2 (Daumen)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3101365" y="4580340"/>
            <a:ext cx="4845538" cy="12817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188556" y="1477604"/>
            <a:ext cx="9144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b="1" dirty="0">
                <a:latin typeface="Arial" panose="020B0604020202020204" pitchFamily="34" charset="0"/>
              </a:rPr>
              <a:t>Mit der linken </a:t>
            </a:r>
            <a:r>
              <a:rPr lang="de-DE" altLang="de-DE" sz="2000" b="1" dirty="0" smtClean="0">
                <a:latin typeface="Arial" panose="020B0604020202020204" pitchFamily="34" charset="0"/>
              </a:rPr>
              <a:t>Hand,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b="1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 smtClean="0">
                <a:latin typeface="Arial" panose="020B0604020202020204" pitchFamily="34" charset="0"/>
              </a:rPr>
              <a:t>Drücken </a:t>
            </a:r>
            <a:r>
              <a:rPr lang="de-DE" altLang="de-DE" sz="2000" dirty="0">
                <a:latin typeface="Arial" panose="020B0604020202020204" pitchFamily="34" charset="0"/>
              </a:rPr>
              <a:t>Sie </a:t>
            </a:r>
            <a:r>
              <a:rPr lang="de-DE" altLang="de-DE" sz="2000" b="1" dirty="0">
                <a:latin typeface="Arial" panose="020B0604020202020204" pitchFamily="34" charset="0"/>
              </a:rPr>
              <a:t>JA</a:t>
            </a:r>
            <a:r>
              <a:rPr lang="de-DE" altLang="de-DE" sz="2000" dirty="0">
                <a:latin typeface="Arial" panose="020B0604020202020204" pitchFamily="34" charset="0"/>
              </a:rPr>
              <a:t>,                                                                                                       wenn Sie meinen, dass der gezeigte Ort der Lieblingsplatz des Hauses ist,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und </a:t>
            </a:r>
            <a:r>
              <a:rPr lang="de-DE" altLang="de-DE" sz="2000" b="1" dirty="0">
                <a:latin typeface="Arial" panose="020B0604020202020204" pitchFamily="34" charset="0"/>
              </a:rPr>
              <a:t>NEIN</a:t>
            </a:r>
            <a:r>
              <a:rPr lang="de-DE" altLang="de-DE" sz="2000" dirty="0">
                <a:latin typeface="Arial" panose="020B0604020202020204" pitchFamily="34" charset="0"/>
              </a:rPr>
              <a:t>, wenn nicht. 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Drücken Sie immer eine Taste, ab dem ersten Bild!	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endParaRPr lang="de-DE" altLang="de-DE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553</Words>
  <Application>Microsoft Office PowerPoint</Application>
  <PresentationFormat>Benutzerdefiniert</PresentationFormat>
  <Paragraphs>107</Paragraphs>
  <Slides>27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29" baseType="lpstr">
      <vt:lpstr>Office Theme</vt:lpstr>
      <vt:lpstr>1_Office Theme</vt:lpstr>
      <vt:lpstr>PowerPoint-Präsentation</vt:lpstr>
      <vt:lpstr>Aufgabe 1   Dafür werden Ihnen verschiedene Häuser auf einem Stadtplan gezeigt. Der Stadtplan sieht so aus:</vt:lpstr>
      <vt:lpstr>Dasselbe Haus wird mehrmals an verschiedenen Plätzen                                 auf diesem Stadtplan gezeigt.</vt:lpstr>
      <vt:lpstr>ABER:   Jedes Haus hat einen „Lieblingsplatz“, an dem es besonders häufig vorkommt.   Diesen Platz sollen Sie herausfinden! </vt:lpstr>
      <vt:lpstr>Drücken Sie JA,                                                                                                       wenn Sie meinen, dass der gezeigte Ort der Lieblingsplatz des Hauses ist,  und NEIN, wenn nicht.   Drücken Sie immer eine Taste, ab dem ersten Bild!    JA -&gt; Taste1 (Zeigefinger)  NEIN -&gt; Taste2 (Daumen)</vt:lpstr>
      <vt:lpstr>PowerPoint-Präsentation</vt:lpstr>
      <vt:lpstr>In dieser Aufgabe</vt:lpstr>
      <vt:lpstr>Ablauf der Aufgaben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Um Sie mit der Aufgabe etwas vertraut zu machen,  beginnen wir mit einem kurzen Test-Block.   Jetzt geht es los! 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Wichtig!  Sie werden anstelle der Tastatur einen Response Grips im Scanner verwenden.          Der Response Grips sieht so aus:   </vt:lpstr>
      <vt:lpstr>PowerPoint-Präsentation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marihan sherif</dc:creator>
  <cp:lastModifiedBy>trainstim</cp:lastModifiedBy>
  <cp:revision>101</cp:revision>
  <dcterms:created xsi:type="dcterms:W3CDTF">2023-06-27T18:07:07Z</dcterms:created>
  <dcterms:modified xsi:type="dcterms:W3CDTF">2024-06-26T09:04:50Z</dcterms:modified>
</cp:coreProperties>
</file>