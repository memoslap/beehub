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101" d="100"/>
          <a:sy n="101" d="100"/>
        </p:scale>
        <p:origin x="114" y="9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de-DE"/>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EEBF174E-72A9-47D2-9A7A-A8656326455F}" type="datetimeFigureOut">
              <a:rPr lang="de-DE" smtClean="0"/>
              <a:t>21.03.2022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19193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EEBF174E-72A9-47D2-9A7A-A8656326455F}" type="datetimeFigureOut">
              <a:rPr lang="de-DE" smtClean="0"/>
              <a:t>21.03.2022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2541411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de-DE"/>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EEBF174E-72A9-47D2-9A7A-A8656326455F}" type="datetimeFigureOut">
              <a:rPr lang="de-DE" smtClean="0"/>
              <a:t>21.03.2022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297462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EEBF174E-72A9-47D2-9A7A-A8656326455F}" type="datetimeFigureOut">
              <a:rPr lang="de-DE" smtClean="0"/>
              <a:t>21.03.2022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874906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de-DE"/>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EEBF174E-72A9-47D2-9A7A-A8656326455F}" type="datetimeFigureOut">
              <a:rPr lang="de-DE" smtClean="0"/>
              <a:t>21.03.2022</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58755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EEBF174E-72A9-47D2-9A7A-A8656326455F}" type="datetimeFigureOut">
              <a:rPr lang="de-DE" smtClean="0"/>
              <a:t>21.03.2022</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498988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EEBF174E-72A9-47D2-9A7A-A8656326455F}" type="datetimeFigureOut">
              <a:rPr lang="de-DE" smtClean="0"/>
              <a:t>21.03.2022</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2539373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EEBF174E-72A9-47D2-9A7A-A8656326455F}" type="datetimeFigureOut">
              <a:rPr lang="de-DE" smtClean="0"/>
              <a:t>21.03.2022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83461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EEBF174E-72A9-47D2-9A7A-A8656326455F}" type="datetimeFigureOut">
              <a:rPr lang="de-DE" smtClean="0"/>
              <a:t>21.03.2022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1835981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EEBF174E-72A9-47D2-9A7A-A8656326455F}" type="datetimeFigureOut">
              <a:rPr lang="de-DE" smtClean="0"/>
              <a:t>21.03.2022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703713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EEBF174E-72A9-47D2-9A7A-A8656326455F}" type="datetimeFigureOut">
              <a:rPr lang="de-DE" smtClean="0"/>
              <a:t>21.03.2022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2096155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F174E-72A9-47D2-9A7A-A8656326455F}" type="datetimeFigureOut">
              <a:rPr lang="de-DE" smtClean="0"/>
              <a:t>21.03.2022</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4E5B72-3B9E-4097-B1D8-9DEB1121E522}" type="slidenum">
              <a:rPr lang="de-DE" smtClean="0"/>
              <a:t>‹Nr.›</a:t>
            </a:fld>
            <a:endParaRPr lang="de-DE"/>
          </a:p>
        </p:txBody>
      </p:sp>
    </p:spTree>
    <p:extLst>
      <p:ext uri="{BB962C8B-B14F-4D97-AF65-F5344CB8AC3E}">
        <p14:creationId xmlns:p14="http://schemas.microsoft.com/office/powerpoint/2010/main" val="2067658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1046006"/>
            <a:ext cx="9144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0" i="0" u="none" strike="noStrike" cap="none" normalizeH="0" baseline="0" dirty="0" smtClean="0">
                <a:ln>
                  <a:noFill/>
                </a:ln>
                <a:solidFill>
                  <a:schemeClr val="tx1"/>
                </a:solidFill>
                <a:effectLst/>
                <a:latin typeface="Arial" panose="020B0604020202020204" pitchFamily="34" charset="0"/>
              </a:rPr>
              <a:t>Im Folgenden werden Sie die AUFGABE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lang="de-DE" altLang="de-DE" sz="2000" b="1" dirty="0" smtClean="0">
                <a:latin typeface="Arial" panose="020B0604020202020204" pitchFamily="34" charset="0"/>
              </a:rPr>
              <a:t>„</a:t>
            </a:r>
            <a:r>
              <a:rPr kumimoji="0" lang="de-DE" altLang="de-DE" sz="2000" b="1" i="0" u="none" strike="noStrike" cap="none" normalizeH="0" baseline="0" dirty="0" smtClean="0">
                <a:ln>
                  <a:noFill/>
                </a:ln>
                <a:solidFill>
                  <a:schemeClr val="tx1"/>
                </a:solidFill>
                <a:effectLst/>
                <a:latin typeface="Arial" panose="020B0604020202020204" pitchFamily="34" charset="0"/>
              </a:rPr>
              <a:t>ERLENEN VON HÄUSER-POSITIONEN AUF EINEM STADTPLAN„</a:t>
            </a:r>
            <a:br>
              <a:rPr kumimoji="0" lang="de-DE" altLang="de-DE" sz="2000" b="1"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im Rahmen eines Trainingsprogramms wiederholt durchführen.</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t>
            </a: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Bitte drücken Sie eine Taste um fortzufahren</a:t>
            </a:r>
          </a:p>
        </p:txBody>
      </p:sp>
    </p:spTree>
    <p:extLst>
      <p:ext uri="{BB962C8B-B14F-4D97-AF65-F5344CB8AC3E}">
        <p14:creationId xmlns:p14="http://schemas.microsoft.com/office/powerpoint/2010/main" val="4227887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661324"/>
            <a:ext cx="9144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0" i="0" u="none" strike="noStrike" cap="none" normalizeH="0" baseline="0" dirty="0" smtClean="0">
                <a:ln>
                  <a:noFill/>
                </a:ln>
                <a:solidFill>
                  <a:schemeClr val="tx1"/>
                </a:solidFill>
                <a:effectLst/>
                <a:latin typeface="Arial" panose="020B0604020202020204" pitchFamily="34" charset="0"/>
              </a:rPr>
              <a:t>Dafür werden Ihnen verschiedene Gebäude auf einem Stadtplan gezeigt.</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der Stadtplan sieht so aus:</a:t>
            </a:r>
          </a:p>
        </p:txBody>
      </p:sp>
      <p:pic>
        <p:nvPicPr>
          <p:cNvPr id="2" name="Grafik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2750" y="1741909"/>
            <a:ext cx="6093994" cy="4310640"/>
          </a:xfrm>
          <a:prstGeom prst="rect">
            <a:avLst/>
          </a:prstGeom>
          <a:ln>
            <a:solidFill>
              <a:schemeClr val="tx1"/>
            </a:solidFill>
          </a:ln>
        </p:spPr>
      </p:pic>
      <p:sp>
        <p:nvSpPr>
          <p:cNvPr id="3" name="Textfeld 2"/>
          <p:cNvSpPr txBox="1"/>
          <p:nvPr/>
        </p:nvSpPr>
        <p:spPr>
          <a:xfrm>
            <a:off x="3609975" y="6165096"/>
            <a:ext cx="5290872"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Bitte drücken Sie eine Taste um fortzufahren.</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175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851824"/>
            <a:ext cx="9144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0" i="0" u="none" strike="noStrike" cap="none" normalizeH="0" baseline="0" dirty="0" smtClean="0">
                <a:ln>
                  <a:noFill/>
                </a:ln>
                <a:solidFill>
                  <a:schemeClr val="tx1"/>
                </a:solidFill>
                <a:effectLst/>
                <a:latin typeface="Arial" panose="020B0604020202020204" pitchFamily="34" charset="0"/>
              </a:rPr>
              <a:t>Dasselbe Gebäude wird mehrmals an verschiedenen</a:t>
            </a:r>
            <a:r>
              <a:rPr kumimoji="0" lang="de-DE" altLang="de-DE" sz="2000" b="0" i="0" u="none" strike="noStrike" cap="none" normalizeH="0" dirty="0" smtClean="0">
                <a:ln>
                  <a:noFill/>
                </a:ln>
                <a:solidFill>
                  <a:schemeClr val="tx1"/>
                </a:solidFill>
                <a:effectLst/>
                <a:latin typeface="Arial" panose="020B0604020202020204" pitchFamily="34" charset="0"/>
              </a:rPr>
              <a:t> </a:t>
            </a:r>
            <a:r>
              <a:rPr kumimoji="0" lang="de-DE" altLang="de-DE" sz="2000" b="0" i="0" u="none" strike="noStrike" cap="none" normalizeH="0" baseline="0" dirty="0" smtClean="0">
                <a:ln>
                  <a:noFill/>
                </a:ln>
                <a:solidFill>
                  <a:schemeClr val="tx1"/>
                </a:solidFill>
                <a:effectLst/>
                <a:latin typeface="Arial" panose="020B0604020202020204" pitchFamily="34" charset="0"/>
              </a:rPr>
              <a:t>Plätzen auf diesem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Stadtplan gezeigt.</a:t>
            </a:r>
          </a:p>
        </p:txBody>
      </p:sp>
      <p:sp>
        <p:nvSpPr>
          <p:cNvPr id="3" name="Textfeld 2"/>
          <p:cNvSpPr txBox="1"/>
          <p:nvPr/>
        </p:nvSpPr>
        <p:spPr>
          <a:xfrm>
            <a:off x="3609975" y="5879346"/>
            <a:ext cx="5290872"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Bitte drücken Sie eine Taste um fortzufahren.</a:t>
            </a:r>
            <a:endParaRPr lang="de-DE" sz="2000" dirty="0">
              <a:latin typeface="Arial" panose="020B0604020202020204" pitchFamily="34" charset="0"/>
              <a:cs typeface="Arial" panose="020B0604020202020204" pitchFamily="34" charset="0"/>
            </a:endParaRP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2622" y="2154601"/>
            <a:ext cx="4603174" cy="3436360"/>
          </a:xfrm>
          <a:prstGeom prst="rect">
            <a:avLst/>
          </a:prstGeom>
          <a:ln>
            <a:solidFill>
              <a:schemeClr val="tx1"/>
            </a:solidFill>
          </a:ln>
        </p:spPr>
      </p:pic>
      <p:pic>
        <p:nvPicPr>
          <p:cNvPr id="6" name="Grafik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251" y="2156417"/>
            <a:ext cx="4600574" cy="3434420"/>
          </a:xfrm>
          <a:prstGeom prst="rect">
            <a:avLst/>
          </a:prstGeom>
          <a:ln>
            <a:solidFill>
              <a:schemeClr val="tx1"/>
            </a:solidFill>
          </a:ln>
        </p:spPr>
      </p:pic>
      <p:sp>
        <p:nvSpPr>
          <p:cNvPr id="7" name="Textfeld 6"/>
          <p:cNvSpPr txBox="1"/>
          <p:nvPr/>
        </p:nvSpPr>
        <p:spPr>
          <a:xfrm>
            <a:off x="3269515" y="1754491"/>
            <a:ext cx="569387"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So:</a:t>
            </a:r>
            <a:endParaRPr lang="de-DE" sz="2000" dirty="0">
              <a:latin typeface="Arial" panose="020B0604020202020204" pitchFamily="34" charset="0"/>
              <a:cs typeface="Arial" panose="020B0604020202020204" pitchFamily="34" charset="0"/>
            </a:endParaRPr>
          </a:p>
        </p:txBody>
      </p:sp>
      <p:sp>
        <p:nvSpPr>
          <p:cNvPr id="8" name="Textfeld 7"/>
          <p:cNvSpPr txBox="1"/>
          <p:nvPr/>
        </p:nvSpPr>
        <p:spPr>
          <a:xfrm>
            <a:off x="7908686" y="1754491"/>
            <a:ext cx="1165704"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Oder so:</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865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1560246"/>
            <a:ext cx="9144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1" i="0" u="none" strike="noStrike" cap="none" normalizeH="0" baseline="0" dirty="0" smtClean="0">
                <a:ln>
                  <a:noFill/>
                </a:ln>
                <a:solidFill>
                  <a:schemeClr val="tx1"/>
                </a:solidFill>
                <a:effectLst/>
                <a:latin typeface="Arial" panose="020B0604020202020204" pitchFamily="34" charset="0"/>
              </a:rPr>
              <a:t>ABER: </a:t>
            </a:r>
            <a:br>
              <a:rPr kumimoji="0" lang="de-DE" altLang="de-DE" sz="2000" b="1"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Jedes Gebäude hat einen „Lieblingsplatz“, an dem es besonders häufig</a:t>
            </a:r>
            <a:r>
              <a:rPr kumimoji="0" lang="de-DE" altLang="de-DE" sz="2000" b="0" i="0" u="none" strike="noStrike" cap="none" normalizeH="0" dirty="0" smtClean="0">
                <a:ln>
                  <a:noFill/>
                </a:ln>
                <a:solidFill>
                  <a:schemeClr val="tx1"/>
                </a:solidFill>
                <a:effectLst/>
                <a:latin typeface="Arial" panose="020B0604020202020204" pitchFamily="34" charset="0"/>
              </a:rPr>
              <a:t> </a:t>
            </a:r>
            <a:r>
              <a:rPr kumimoji="0" lang="de-DE" altLang="de-DE" sz="2000" b="0" i="0" u="none" strike="noStrike" cap="none" normalizeH="0" baseline="0" dirty="0" smtClean="0">
                <a:ln>
                  <a:noFill/>
                </a:ln>
                <a:solidFill>
                  <a:schemeClr val="tx1"/>
                </a:solidFill>
                <a:effectLst/>
                <a:latin typeface="Arial" panose="020B0604020202020204" pitchFamily="34" charset="0"/>
              </a:rPr>
              <a:t>vorkommt.</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1" i="0" u="none" strike="noStrike" cap="none" normalizeH="0" baseline="0" dirty="0" smtClean="0">
                <a:ln>
                  <a:noFill/>
                </a:ln>
                <a:solidFill>
                  <a:schemeClr val="tx1"/>
                </a:solidFill>
                <a:effectLst/>
                <a:latin typeface="Arial" panose="020B0604020202020204" pitchFamily="34" charset="0"/>
              </a:rPr>
              <a:t>Diesen Platz sollen Sie herausfinden! </a:t>
            </a:r>
          </a:p>
        </p:txBody>
      </p:sp>
      <p:sp>
        <p:nvSpPr>
          <p:cNvPr id="3" name="Textfeld 2"/>
          <p:cNvSpPr txBox="1"/>
          <p:nvPr/>
        </p:nvSpPr>
        <p:spPr>
          <a:xfrm>
            <a:off x="3609975" y="5107821"/>
            <a:ext cx="5290872"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Bitte drücken Sie eine Taste um fortzufahren.</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032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1347718"/>
            <a:ext cx="9144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i="0" u="none" strike="noStrike" cap="none" normalizeH="0" baseline="0" dirty="0" smtClean="0">
                <a:ln>
                  <a:noFill/>
                </a:ln>
                <a:solidFill>
                  <a:schemeClr val="tx1"/>
                </a:solidFill>
                <a:effectLst/>
                <a:latin typeface="Arial" panose="020B0604020202020204" pitchFamily="34" charset="0"/>
              </a:rPr>
              <a:t>Drücken Sie </a:t>
            </a:r>
            <a:r>
              <a:rPr kumimoji="0" lang="de-DE" altLang="de-DE" sz="2000" b="1" i="0" u="none" strike="noStrike" cap="none" normalizeH="0" baseline="0" dirty="0" smtClean="0">
                <a:ln>
                  <a:noFill/>
                </a:ln>
                <a:solidFill>
                  <a:schemeClr val="tx1"/>
                </a:solidFill>
                <a:effectLst/>
                <a:latin typeface="Arial" panose="020B0604020202020204" pitchFamily="34" charset="0"/>
              </a:rPr>
              <a:t>JA</a:t>
            </a:r>
            <a:r>
              <a:rPr kumimoji="0" lang="de-DE" altLang="de-DE" sz="2000" i="0" u="none" strike="noStrike" cap="none" normalizeH="0" baseline="0" dirty="0" smtClean="0">
                <a:ln>
                  <a:noFill/>
                </a:ln>
                <a:solidFill>
                  <a:schemeClr val="tx1"/>
                </a:solidFill>
                <a:effectLst/>
                <a:latin typeface="Arial" panose="020B0604020202020204" pitchFamily="34" charset="0"/>
              </a:rPr>
              <a:t>, wenn Sie meinen, dass der gezeigte Ort der Lieblingsplatz des</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Gebäudes ist und </a:t>
            </a:r>
            <a:r>
              <a:rPr kumimoji="0" lang="de-DE" altLang="de-DE" sz="2000" b="1" i="0" u="none" strike="noStrike" cap="none" normalizeH="0" baseline="0" dirty="0" smtClean="0">
                <a:ln>
                  <a:noFill/>
                </a:ln>
                <a:solidFill>
                  <a:schemeClr val="tx1"/>
                </a:solidFill>
                <a:effectLst/>
                <a:latin typeface="Arial" panose="020B0604020202020204" pitchFamily="34" charset="0"/>
              </a:rPr>
              <a:t>NEIN</a:t>
            </a:r>
            <a:r>
              <a:rPr kumimoji="0" lang="de-DE" altLang="de-DE" sz="2000" i="0" u="none" strike="noStrike" cap="none" normalizeH="0" baseline="0" dirty="0" smtClean="0">
                <a:ln>
                  <a:noFill/>
                </a:ln>
                <a:solidFill>
                  <a:schemeClr val="tx1"/>
                </a:solidFill>
                <a:effectLst/>
                <a:latin typeface="Arial" panose="020B0604020202020204" pitchFamily="34" charset="0"/>
              </a:rPr>
              <a:t>, wenn nicht.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Drücken Sie ab dem ersten Bild!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b="1" i="0" u="none" strike="noStrike" cap="none" normalizeH="0" baseline="0" dirty="0" smtClean="0">
                <a:ln>
                  <a:noFill/>
                </a:ln>
                <a:solidFill>
                  <a:schemeClr val="tx1"/>
                </a:solidFill>
                <a:effectLst/>
                <a:latin typeface="Arial" panose="020B0604020202020204" pitchFamily="34" charset="0"/>
              </a:rPr>
              <a:t>JA</a:t>
            </a:r>
            <a:r>
              <a:rPr kumimoji="0" lang="de-DE" altLang="de-DE" sz="2000" i="0" u="none" strike="noStrike" cap="none" normalizeH="0" baseline="0" dirty="0" smtClean="0">
                <a:ln>
                  <a:noFill/>
                </a:ln>
                <a:solidFill>
                  <a:schemeClr val="tx1"/>
                </a:solidFill>
                <a:effectLst/>
                <a:latin typeface="Arial" panose="020B0604020202020204" pitchFamily="34" charset="0"/>
              </a:rPr>
              <a:t> -&gt; Taste1 (</a:t>
            </a:r>
            <a:r>
              <a:rPr kumimoji="0" lang="de-DE" altLang="de-DE" sz="2000" b="1" i="0" u="none" strike="noStrike" cap="none" normalizeH="0" baseline="0" dirty="0" smtClean="0">
                <a:ln>
                  <a:noFill/>
                </a:ln>
                <a:solidFill>
                  <a:schemeClr val="tx1"/>
                </a:solidFill>
                <a:effectLst/>
                <a:latin typeface="Arial" panose="020B0604020202020204" pitchFamily="34" charset="0"/>
              </a:rPr>
              <a:t>Zeigefinger</a:t>
            </a:r>
            <a:r>
              <a:rPr kumimoji="0" lang="de-DE" altLang="de-DE" sz="2000" i="0" u="none" strike="noStrike" cap="none" normalizeH="0" baseline="0" dirty="0" smtClean="0">
                <a:ln>
                  <a:noFill/>
                </a:ln>
                <a:solidFill>
                  <a:schemeClr val="tx1"/>
                </a:solidFill>
                <a:effectLst/>
                <a:latin typeface="Arial" panose="020B0604020202020204" pitchFamily="34" charset="0"/>
              </a:rPr>
              <a:t>)</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b="1" i="0" u="none" strike="noStrike" cap="none" normalizeH="0" baseline="0" dirty="0" smtClean="0">
                <a:ln>
                  <a:noFill/>
                </a:ln>
                <a:solidFill>
                  <a:schemeClr val="tx1"/>
                </a:solidFill>
                <a:effectLst/>
                <a:latin typeface="Arial" panose="020B0604020202020204" pitchFamily="34" charset="0"/>
              </a:rPr>
              <a:t>NEIN </a:t>
            </a:r>
            <a:r>
              <a:rPr kumimoji="0" lang="de-DE" altLang="de-DE" sz="2000" i="0" u="none" strike="noStrike" cap="none" normalizeH="0" baseline="0" dirty="0" smtClean="0">
                <a:ln>
                  <a:noFill/>
                </a:ln>
                <a:solidFill>
                  <a:schemeClr val="tx1"/>
                </a:solidFill>
                <a:effectLst/>
                <a:latin typeface="Arial" panose="020B0604020202020204" pitchFamily="34" charset="0"/>
              </a:rPr>
              <a:t>-&gt; Taste2 (</a:t>
            </a:r>
            <a:r>
              <a:rPr kumimoji="0" lang="de-DE" altLang="de-DE" sz="2000" b="1" i="0" u="none" strike="noStrike" cap="none" normalizeH="0" baseline="0" dirty="0" smtClean="0">
                <a:ln>
                  <a:noFill/>
                </a:ln>
                <a:solidFill>
                  <a:schemeClr val="tx1"/>
                </a:solidFill>
                <a:effectLst/>
                <a:latin typeface="Arial" panose="020B0604020202020204" pitchFamily="34" charset="0"/>
              </a:rPr>
              <a:t>Mittelfinger</a:t>
            </a:r>
            <a:r>
              <a:rPr kumimoji="0" lang="de-DE" altLang="de-DE" sz="2000" i="0" u="none" strike="noStrike" cap="none" normalizeH="0" baseline="0" dirty="0" smtClean="0">
                <a:ln>
                  <a:noFill/>
                </a:ln>
                <a:solidFill>
                  <a:schemeClr val="tx1"/>
                </a:solidFill>
                <a:effectLst/>
                <a:latin typeface="Arial" panose="020B0604020202020204" pitchFamily="34" charset="0"/>
              </a:rPr>
              <a:t>)</a:t>
            </a:r>
            <a:endParaRPr kumimoji="0" lang="de-DE" altLang="de-DE" sz="2000" b="1" i="0" u="none" strike="noStrike" cap="none" normalizeH="0" baseline="0" dirty="0" smtClean="0">
              <a:ln>
                <a:noFill/>
              </a:ln>
              <a:solidFill>
                <a:schemeClr val="tx1"/>
              </a:solidFill>
              <a:effectLst/>
              <a:latin typeface="Arial" panose="020B0604020202020204" pitchFamily="34" charset="0"/>
            </a:endParaRPr>
          </a:p>
        </p:txBody>
      </p:sp>
      <p:sp>
        <p:nvSpPr>
          <p:cNvPr id="3" name="Textfeld 2"/>
          <p:cNvSpPr txBox="1"/>
          <p:nvPr/>
        </p:nvSpPr>
        <p:spPr>
          <a:xfrm>
            <a:off x="3609975" y="5107821"/>
            <a:ext cx="5290872"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Bitte drücken Sie eine Taste um fortzufahren.</a:t>
            </a:r>
            <a:endParaRPr lang="de-DE" sz="2000" dirty="0">
              <a:latin typeface="Arial" panose="020B0604020202020204" pitchFamily="34" charset="0"/>
              <a:cs typeface="Arial" panose="020B0604020202020204" pitchFamily="34" charset="0"/>
            </a:endParaRPr>
          </a:p>
        </p:txBody>
      </p:sp>
      <p:sp>
        <p:nvSpPr>
          <p:cNvPr id="2" name="Rechteck 1"/>
          <p:cNvSpPr/>
          <p:nvPr/>
        </p:nvSpPr>
        <p:spPr>
          <a:xfrm>
            <a:off x="4114800" y="3048000"/>
            <a:ext cx="4143375" cy="1323975"/>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98609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517546"/>
            <a:ext cx="9144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i="0" u="none" strike="noStrike" cap="none" normalizeH="0" baseline="0" dirty="0" smtClean="0">
                <a:ln>
                  <a:noFill/>
                </a:ln>
                <a:solidFill>
                  <a:schemeClr val="tx1"/>
                </a:solidFill>
                <a:effectLst/>
                <a:latin typeface="Arial" panose="020B0604020202020204" pitchFamily="34" charset="0"/>
              </a:rPr>
              <a:t>Die Aufgabe besteht heute aus 5 Lern-Blöcken.</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Ein Lern-Block dauert etwa 6 min.</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Zwischen den Lern-Blöcken gibt es eine kurze Pause.</a:t>
            </a:r>
            <a:br>
              <a:rPr kumimoji="0" lang="de-DE" altLang="de-DE" sz="200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Die Aufgabe mag Ihnen zu Beginn sehr schwierig vorkommen.</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Das ist ganz normal, da Sie den Lieblingsplatz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eines Gebäudes über die Zeit erst herausfinden sollen.</a:t>
            </a:r>
            <a:br>
              <a:rPr kumimoji="0" lang="de-DE" altLang="de-DE" sz="200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Bitte versuchen Sie es trotzdem Wenn Sie es nicht wissen</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oder sich nicht sicher sind, raten Sie bitte!</a:t>
            </a:r>
            <a:endParaRPr kumimoji="0" lang="de-DE" altLang="de-DE" sz="2000" b="1" i="0" u="none" strike="noStrike" cap="none" normalizeH="0" baseline="0" dirty="0" smtClean="0">
              <a:ln>
                <a:noFill/>
              </a:ln>
              <a:solidFill>
                <a:schemeClr val="tx1"/>
              </a:solidFill>
              <a:effectLst/>
              <a:latin typeface="Arial" panose="020B0604020202020204" pitchFamily="34" charset="0"/>
            </a:endParaRPr>
          </a:p>
        </p:txBody>
      </p:sp>
      <p:sp>
        <p:nvSpPr>
          <p:cNvPr id="3" name="Textfeld 2"/>
          <p:cNvSpPr txBox="1"/>
          <p:nvPr/>
        </p:nvSpPr>
        <p:spPr>
          <a:xfrm>
            <a:off x="3609975" y="5107821"/>
            <a:ext cx="5290872" cy="400110"/>
          </a:xfrm>
          <a:prstGeom prst="rect">
            <a:avLst/>
          </a:prstGeom>
          <a:noFill/>
        </p:spPr>
        <p:txBody>
          <a:bodyPr wrap="none" rtlCol="0">
            <a:spAutoFit/>
          </a:bodyPr>
          <a:lstStyle/>
          <a:p>
            <a:r>
              <a:rPr lang="de-DE" sz="2000" dirty="0" smtClean="0">
                <a:latin typeface="Arial" panose="020B0604020202020204" pitchFamily="34" charset="0"/>
                <a:cs typeface="Arial" panose="020B0604020202020204" pitchFamily="34" charset="0"/>
              </a:rPr>
              <a:t>Bitte drücken Sie eine Taste um fortzufahren.</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3500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1036359"/>
            <a:ext cx="9144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i="0" u="none" strike="noStrike" cap="none" normalizeH="0" baseline="0" dirty="0" smtClean="0">
                <a:ln>
                  <a:noFill/>
                </a:ln>
                <a:solidFill>
                  <a:schemeClr val="tx1"/>
                </a:solidFill>
                <a:effectLst/>
                <a:latin typeface="Arial" panose="020B0604020202020204" pitchFamily="34" charset="0"/>
              </a:rPr>
              <a:t>Um Sie mit der Aufgabe etwas vertraut zu machen,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beginnen wir mit einem kurzen Test-Block.</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r>
            <a:br>
              <a:rPr kumimoji="0" lang="de-DE" altLang="de-DE" sz="200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Jetzt geht es los!</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t>
            </a:r>
          </a:p>
        </p:txBody>
      </p:sp>
      <p:sp>
        <p:nvSpPr>
          <p:cNvPr id="3" name="Textfeld 2"/>
          <p:cNvSpPr txBox="1"/>
          <p:nvPr/>
        </p:nvSpPr>
        <p:spPr>
          <a:xfrm>
            <a:off x="2882896" y="5031621"/>
            <a:ext cx="6474336" cy="400110"/>
          </a:xfrm>
          <a:prstGeom prst="rect">
            <a:avLst/>
          </a:prstGeom>
          <a:noFill/>
        </p:spPr>
        <p:txBody>
          <a:bodyPr wrap="none" rtlCol="0">
            <a:spAutoFit/>
          </a:bodyPr>
          <a:lstStyle/>
          <a:p>
            <a:pPr algn="ctr"/>
            <a:r>
              <a:rPr kumimoji="0" lang="de-DE" altLang="de-DE" sz="2000" i="0" u="none" strike="noStrike" cap="none" normalizeH="0" baseline="0" dirty="0" smtClean="0">
                <a:ln>
                  <a:noFill/>
                </a:ln>
                <a:solidFill>
                  <a:schemeClr val="tx1"/>
                </a:solidFill>
                <a:effectLst/>
                <a:latin typeface="Arial" panose="020B0604020202020204" pitchFamily="34" charset="0"/>
              </a:rPr>
              <a:t>Starten Sie den Test-Block durch drücken der JA-Taste!</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4169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548064" y="927121"/>
            <a:ext cx="9144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i="0" u="none" strike="noStrike" cap="none" normalizeH="0" baseline="0" dirty="0" smtClean="0">
                <a:ln>
                  <a:noFill/>
                </a:ln>
                <a:solidFill>
                  <a:schemeClr val="tx1"/>
                </a:solidFill>
                <a:effectLst/>
                <a:latin typeface="Arial" panose="020B0604020202020204" pitchFamily="34" charset="0"/>
              </a:rPr>
              <a:t>Nun beginnen wir mit den</a:t>
            </a:r>
            <a:r>
              <a:rPr kumimoji="0" lang="de-DE" altLang="de-DE" sz="2000" i="0" u="none" strike="noStrike" cap="none" normalizeH="0" dirty="0" smtClean="0">
                <a:ln>
                  <a:noFill/>
                </a:ln>
                <a:solidFill>
                  <a:schemeClr val="tx1"/>
                </a:solidFill>
                <a:effectLst/>
                <a:latin typeface="Arial" panose="020B0604020202020204" pitchFamily="34" charset="0"/>
              </a:rPr>
              <a:t> Lern-Blöcken.</a:t>
            </a:r>
            <a:br>
              <a:rPr kumimoji="0" lang="de-DE" altLang="de-DE" sz="2000" i="0" u="none" strike="noStrike" cap="none" normalizeH="0" dirty="0" smtClean="0">
                <a:ln>
                  <a:noFill/>
                </a:ln>
                <a:solidFill>
                  <a:schemeClr val="tx1"/>
                </a:solidFill>
                <a:effectLst/>
                <a:latin typeface="Arial" panose="020B0604020202020204" pitchFamily="34" charset="0"/>
              </a:rPr>
            </a:br>
            <a:r>
              <a:rPr lang="de-DE" altLang="de-DE" sz="2000" dirty="0" smtClean="0">
                <a:latin typeface="Arial" panose="020B0604020202020204" pitchFamily="34" charset="0"/>
              </a:rPr>
              <a:t>Sie werden jetzt viel mehr Häuser sehen, als im </a:t>
            </a:r>
            <a:br>
              <a:rPr lang="de-DE" altLang="de-DE" sz="2000" dirty="0" smtClean="0">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Test-Block</a:t>
            </a:r>
            <a:r>
              <a:rPr lang="de-DE" altLang="de-DE" sz="2000" dirty="0" smtClean="0">
                <a:latin typeface="Arial" panose="020B0604020202020204" pitchFamily="34" charset="0"/>
              </a:rPr>
              <a:t>.</a:t>
            </a:r>
            <a:br>
              <a:rPr lang="de-DE" altLang="de-DE" sz="2000" dirty="0" smtClean="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Bitte drücken Sie ab dem ersten Haus!</a:t>
            </a: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Jetzt geht es los!</a:t>
            </a:r>
            <a:br>
              <a:rPr kumimoji="0" lang="de-DE" altLang="de-DE" sz="2000" i="0" u="none" strike="noStrike" cap="none" normalizeH="0" baseline="0" dirty="0" smtClean="0">
                <a:ln>
                  <a:noFill/>
                </a:ln>
                <a:solidFill>
                  <a:schemeClr val="tx1"/>
                </a:solidFill>
                <a:effectLst/>
                <a:latin typeface="Arial" panose="020B0604020202020204" pitchFamily="34" charset="0"/>
              </a:rPr>
            </a:br>
            <a:r>
              <a:rPr kumimoji="0" lang="de-DE" altLang="de-DE" sz="2000" i="0" u="none" strike="noStrike" cap="none" normalizeH="0" baseline="0" dirty="0" smtClean="0">
                <a:ln>
                  <a:noFill/>
                </a:ln>
                <a:solidFill>
                  <a:schemeClr val="tx1"/>
                </a:solidFill>
                <a:effectLst/>
                <a:latin typeface="Arial" panose="020B0604020202020204" pitchFamily="34" charset="0"/>
              </a:rPr>
              <a:t>				</a:t>
            </a:r>
          </a:p>
        </p:txBody>
      </p:sp>
      <p:sp>
        <p:nvSpPr>
          <p:cNvPr id="3" name="Textfeld 2"/>
          <p:cNvSpPr txBox="1"/>
          <p:nvPr/>
        </p:nvSpPr>
        <p:spPr>
          <a:xfrm>
            <a:off x="2830318" y="5031621"/>
            <a:ext cx="6579493" cy="400110"/>
          </a:xfrm>
          <a:prstGeom prst="rect">
            <a:avLst/>
          </a:prstGeom>
          <a:noFill/>
        </p:spPr>
        <p:txBody>
          <a:bodyPr wrap="none" rtlCol="0">
            <a:spAutoFit/>
          </a:bodyPr>
          <a:lstStyle/>
          <a:p>
            <a:pPr algn="ctr"/>
            <a:r>
              <a:rPr kumimoji="0" lang="de-DE" altLang="de-DE" sz="2000" i="0" u="none" strike="noStrike" cap="none" normalizeH="0" baseline="0" dirty="0" smtClean="0">
                <a:ln>
                  <a:noFill/>
                </a:ln>
                <a:solidFill>
                  <a:schemeClr val="tx1"/>
                </a:solidFill>
                <a:effectLst/>
                <a:latin typeface="Arial" panose="020B0604020202020204" pitchFamily="34" charset="0"/>
              </a:rPr>
              <a:t>Starten Sie die</a:t>
            </a:r>
            <a:r>
              <a:rPr kumimoji="0" lang="de-DE" altLang="de-DE" sz="2000" i="0" u="none" strike="noStrike" cap="none" normalizeH="0" dirty="0" smtClean="0">
                <a:ln>
                  <a:noFill/>
                </a:ln>
                <a:solidFill>
                  <a:schemeClr val="tx1"/>
                </a:solidFill>
                <a:effectLst/>
                <a:latin typeface="Arial" panose="020B0604020202020204" pitchFamily="34" charset="0"/>
              </a:rPr>
              <a:t> Lern-Blöcke </a:t>
            </a:r>
            <a:r>
              <a:rPr kumimoji="0" lang="de-DE" altLang="de-DE" sz="2000" i="0" u="none" strike="noStrike" cap="none" normalizeH="0" baseline="0" dirty="0" smtClean="0">
                <a:ln>
                  <a:noFill/>
                </a:ln>
                <a:solidFill>
                  <a:schemeClr val="tx1"/>
                </a:solidFill>
                <a:effectLst/>
                <a:latin typeface="Arial" panose="020B0604020202020204" pitchFamily="34" charset="0"/>
              </a:rPr>
              <a:t>durch drücken der JA-Taste!</a:t>
            </a:r>
            <a:endParaRPr lang="de-D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0982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892118"/>
            <a:ext cx="9144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0" i="0" u="none" strike="noStrike" cap="none" normalizeH="0" baseline="0" dirty="0" smtClean="0">
                <a:ln>
                  <a:noFill/>
                </a:ln>
                <a:solidFill>
                  <a:schemeClr val="tx1"/>
                </a:solidFill>
                <a:effectLst/>
                <a:latin typeface="Arial" panose="020B0604020202020204" pitchFamily="34" charset="0"/>
              </a:rPr>
              <a:t>Abfrage:</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lang="de-DE" altLang="de-DE" sz="2000" b="1" dirty="0" smtClean="0">
                <a:latin typeface="Arial" panose="020B0604020202020204" pitchFamily="34" charset="0"/>
              </a:rPr>
              <a:t>„</a:t>
            </a:r>
            <a:r>
              <a:rPr kumimoji="0" lang="de-DE" altLang="de-DE" sz="2000" b="1" i="0" u="none" strike="noStrike" cap="none" normalizeH="0" baseline="0" dirty="0" smtClean="0">
                <a:ln>
                  <a:noFill/>
                </a:ln>
                <a:solidFill>
                  <a:schemeClr val="tx1"/>
                </a:solidFill>
                <a:effectLst/>
                <a:latin typeface="Arial" panose="020B0604020202020204" pitchFamily="34" charset="0"/>
              </a:rPr>
              <a:t>ERLENEN VON HÄUSER-POSITIONEN AUF EINEM STADTPLAN„</a:t>
            </a:r>
            <a:br>
              <a:rPr kumimoji="0" lang="de-DE" altLang="de-DE" sz="2000" b="1"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Bitte geben Sie die gelernten POSITIONEN für die Häuser</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(Lieblingspositionen) auf dem Stadtplan wieder.</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t>
            </a:r>
            <a:br>
              <a:rPr kumimoji="0" lang="de-DE" altLang="de-DE" sz="2000" b="0" i="0" u="none" strike="noStrike" cap="none" normalizeH="0" baseline="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																		</a:t>
            </a:r>
            <a:r>
              <a:rPr lang="de-DE" altLang="de-DE" sz="2000" dirty="0">
                <a:latin typeface="Arial" panose="020B0604020202020204" pitchFamily="34" charset="0"/>
              </a:rPr>
              <a:t/>
            </a:r>
            <a:br>
              <a:rPr lang="de-DE" altLang="de-DE" sz="2000" dirty="0">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Bitte drücken Sie </a:t>
            </a:r>
            <a:r>
              <a:rPr lang="de-DE" altLang="de-DE" sz="2000" dirty="0" smtClean="0">
                <a:latin typeface="Arial" panose="020B0604020202020204" pitchFamily="34" charset="0"/>
              </a:rPr>
              <a:t>die Leert</a:t>
            </a:r>
            <a:r>
              <a:rPr kumimoji="0" lang="de-DE" altLang="de-DE" sz="2000" b="0" i="0" u="none" strike="noStrike" cap="none" normalizeH="0" baseline="0" dirty="0" smtClean="0">
                <a:ln>
                  <a:noFill/>
                </a:ln>
                <a:solidFill>
                  <a:schemeClr val="tx1"/>
                </a:solidFill>
                <a:effectLst/>
                <a:latin typeface="Arial" panose="020B0604020202020204" pitchFamily="34" charset="0"/>
              </a:rPr>
              <a:t>aste um fortzufahren</a:t>
            </a:r>
          </a:p>
        </p:txBody>
      </p:sp>
    </p:spTree>
    <p:extLst>
      <p:ext uri="{BB962C8B-B14F-4D97-AF65-F5344CB8AC3E}">
        <p14:creationId xmlns:p14="http://schemas.microsoft.com/office/powerpoint/2010/main" val="3686735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892121"/>
            <a:ext cx="9144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0" i="0" u="none" strike="noStrike" cap="none" normalizeH="0" baseline="0" dirty="0" smtClean="0">
                <a:ln>
                  <a:noFill/>
                </a:ln>
                <a:solidFill>
                  <a:schemeClr val="tx1"/>
                </a:solidFill>
                <a:effectLst/>
                <a:latin typeface="Arial" panose="020B0604020202020204" pitchFamily="34" charset="0"/>
              </a:rPr>
              <a:t>Ein Haus</a:t>
            </a:r>
            <a:r>
              <a:rPr kumimoji="0" lang="de-DE" altLang="de-DE" sz="2000" b="0" i="0" u="none" strike="noStrike" cap="none" normalizeH="0" dirty="0" smtClean="0">
                <a:ln>
                  <a:noFill/>
                </a:ln>
                <a:solidFill>
                  <a:schemeClr val="tx1"/>
                </a:solidFill>
                <a:effectLst/>
                <a:latin typeface="Arial" panose="020B0604020202020204" pitchFamily="34" charset="0"/>
              </a:rPr>
              <a:t> wurde Ihnen dabei mehrmals </a:t>
            </a:r>
            <a:br>
              <a:rPr kumimoji="0" lang="de-DE" altLang="de-DE" sz="2000" b="0" i="0" u="none" strike="noStrike" cap="none" normalizeH="0" dirty="0" smtClean="0">
                <a:ln>
                  <a:noFill/>
                </a:ln>
                <a:solidFill>
                  <a:schemeClr val="tx1"/>
                </a:solidFill>
                <a:effectLst/>
                <a:latin typeface="Arial" panose="020B0604020202020204" pitchFamily="34" charset="0"/>
              </a:rPr>
            </a:br>
            <a:r>
              <a:rPr kumimoji="0" lang="de-DE" altLang="de-DE" sz="2000" b="0" i="0" u="none" strike="noStrike" cap="none" normalizeH="0" dirty="0" smtClean="0">
                <a:ln>
                  <a:noFill/>
                </a:ln>
                <a:solidFill>
                  <a:schemeClr val="tx1"/>
                </a:solidFill>
                <a:effectLst/>
                <a:latin typeface="Arial" panose="020B0604020202020204" pitchFamily="34" charset="0"/>
              </a:rPr>
              <a:t>an unterschiedlichen Plätzen gezeigt.</a:t>
            </a:r>
            <a:br>
              <a:rPr kumimoji="0" lang="de-DE" altLang="de-DE" sz="2000" b="0" i="0" u="none" strike="noStrike" cap="none" normalizeH="0" dirty="0" smtClean="0">
                <a:ln>
                  <a:noFill/>
                </a:ln>
                <a:solidFill>
                  <a:schemeClr val="tx1"/>
                </a:solidFill>
                <a:effectLst/>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Jedes Haus hatte aber seinen „Lieblingsplatz“, an dem</a:t>
            </a:r>
            <a:br>
              <a:rPr lang="de-DE" altLang="de-DE" sz="2000" dirty="0" smtClean="0">
                <a:latin typeface="Arial" panose="020B0604020202020204" pitchFamily="34" charset="0"/>
              </a:rPr>
            </a:br>
            <a:r>
              <a:rPr lang="de-DE" altLang="de-DE" sz="2000" dirty="0" smtClean="0">
                <a:latin typeface="Arial" panose="020B0604020202020204" pitchFamily="34" charset="0"/>
              </a:rPr>
              <a:t>es besonders häufig vorkam.</a:t>
            </a:r>
            <a:br>
              <a:rPr lang="de-DE" altLang="de-DE" sz="2000" dirty="0" smtClean="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smtClean="0">
                <a:latin typeface="Arial" panose="020B0604020202020204" pitchFamily="34" charset="0"/>
              </a:rPr>
              <a:t>Bitte versuchen Sie sich an die </a:t>
            </a:r>
            <a:br>
              <a:rPr lang="de-DE" altLang="de-DE" sz="2000" dirty="0" smtClean="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b="1" dirty="0" smtClean="0">
                <a:latin typeface="Arial" panose="020B0604020202020204" pitchFamily="34" charset="0"/>
              </a:rPr>
              <a:t>„Lieblingsplätze“</a:t>
            </a: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der Häuser</a:t>
            </a:r>
            <a:br>
              <a:rPr lang="de-DE" altLang="de-DE" sz="2000" dirty="0" smtClean="0">
                <a:latin typeface="Arial" panose="020B0604020202020204" pitchFamily="34" charset="0"/>
              </a:rPr>
            </a:br>
            <a:r>
              <a:rPr lang="de-DE" altLang="de-DE" sz="2000" dirty="0">
                <a:latin typeface="Arial" panose="020B0604020202020204" pitchFamily="34" charset="0"/>
              </a:rPr>
              <a:t/>
            </a:r>
            <a:br>
              <a:rPr lang="de-DE" altLang="de-DE" sz="2000" dirty="0">
                <a:latin typeface="Arial" panose="020B0604020202020204" pitchFamily="34" charset="0"/>
              </a:rPr>
            </a:br>
            <a:r>
              <a:rPr lang="de-DE" altLang="de-DE" sz="2000" dirty="0" smtClean="0">
                <a:latin typeface="Arial" panose="020B0604020202020204" pitchFamily="34" charset="0"/>
              </a:rPr>
              <a:t>auf dem Stadtplan zu erinnern.</a:t>
            </a:r>
            <a:br>
              <a:rPr lang="de-DE" altLang="de-DE" sz="2000" dirty="0" smtClean="0">
                <a:latin typeface="Arial" panose="020B0604020202020204" pitchFamily="34" charset="0"/>
              </a:rPr>
            </a:br>
            <a:r>
              <a:rPr lang="de-DE" altLang="de-DE" sz="2000" dirty="0" smtClean="0">
                <a:latin typeface="Arial" panose="020B0604020202020204" pitchFamily="34" charset="0"/>
              </a:rPr>
              <a:t/>
            </a:r>
            <a:br>
              <a:rPr lang="de-DE" altLang="de-DE" sz="2000" dirty="0" smtClean="0">
                <a:latin typeface="Arial" panose="020B0604020202020204" pitchFamily="34" charset="0"/>
              </a:rPr>
            </a:br>
            <a:r>
              <a:rPr kumimoji="0" lang="de-DE" altLang="de-DE" sz="2000" b="0" i="0" u="none" strike="noStrike" cap="none" normalizeH="0" dirty="0" smtClean="0">
                <a:ln>
                  <a:noFill/>
                </a:ln>
                <a:solidFill>
                  <a:schemeClr val="tx1"/>
                </a:solidFill>
                <a:effectLst/>
                <a:latin typeface="Arial" panose="020B0604020202020204" pitchFamily="34" charset="0"/>
              </a:rPr>
              <a:t/>
            </a:r>
            <a:br>
              <a:rPr kumimoji="0" lang="de-DE" altLang="de-DE" sz="2000" b="0" i="0" u="none" strike="noStrike" cap="none" normalizeH="0" dirty="0" smtClean="0">
                <a:ln>
                  <a:noFill/>
                </a:ln>
                <a:solidFill>
                  <a:schemeClr val="tx1"/>
                </a:solidFill>
                <a:effectLst/>
                <a:latin typeface="Arial" panose="020B0604020202020204" pitchFamily="34" charset="0"/>
              </a:rPr>
            </a:br>
            <a:r>
              <a:rPr kumimoji="0" lang="de-DE" altLang="de-DE" sz="2000" b="0" i="0" u="none" strike="noStrike" cap="none" normalizeH="0" baseline="0" dirty="0" smtClean="0">
                <a:ln>
                  <a:noFill/>
                </a:ln>
                <a:solidFill>
                  <a:schemeClr val="tx1"/>
                </a:solidFill>
                <a:effectLst/>
                <a:latin typeface="Arial" panose="020B0604020202020204" pitchFamily="34" charset="0"/>
              </a:rPr>
              <a:t>Bitte drücken Sie Leertaste um fortzufahren</a:t>
            </a:r>
          </a:p>
        </p:txBody>
      </p:sp>
    </p:spTree>
    <p:extLst>
      <p:ext uri="{BB962C8B-B14F-4D97-AF65-F5344CB8AC3E}">
        <p14:creationId xmlns:p14="http://schemas.microsoft.com/office/powerpoint/2010/main" val="2858701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595655"/>
            <a:ext cx="9144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de-DE" altLang="de-DE" sz="2000" dirty="0" smtClean="0">
                <a:latin typeface="Arial" panose="020B0604020202020204" pitchFamily="34" charset="0"/>
              </a:rPr>
              <a:t>Dazu werden Ihnen nun </a:t>
            </a:r>
            <a:r>
              <a:rPr lang="de-DE" altLang="de-DE" sz="2000" b="1" dirty="0" smtClean="0">
                <a:latin typeface="Arial" panose="020B0604020202020204" pitchFamily="34" charset="0"/>
              </a:rPr>
              <a:t>ein Haus</a:t>
            </a:r>
            <a:r>
              <a:rPr lang="de-DE" altLang="de-DE" sz="2000" dirty="0" smtClean="0">
                <a:latin typeface="Arial" panose="020B0604020202020204" pitchFamily="34" charset="0"/>
              </a:rPr>
              <a:t> und </a:t>
            </a:r>
            <a:r>
              <a:rPr lang="de-DE" altLang="de-DE" sz="2000" b="1" dirty="0" smtClean="0">
                <a:latin typeface="Arial" panose="020B0604020202020204" pitchFamily="34" charset="0"/>
              </a:rPr>
              <a:t>drei</a:t>
            </a:r>
            <a:r>
              <a:rPr lang="de-DE" altLang="de-DE" sz="2000" dirty="0" smtClean="0">
                <a:latin typeface="Arial" panose="020B0604020202020204" pitchFamily="34" charset="0"/>
              </a:rPr>
              <a:t> mögliche </a:t>
            </a:r>
            <a:r>
              <a:rPr lang="de-DE" altLang="de-DE" sz="2000" b="1" dirty="0" smtClean="0">
                <a:latin typeface="Arial" panose="020B0604020202020204" pitchFamily="34" charset="0"/>
              </a:rPr>
              <a:t>Positionen</a:t>
            </a:r>
            <a:r>
              <a:rPr lang="de-DE" altLang="de-DE" sz="2000" dirty="0" smtClean="0">
                <a:latin typeface="Arial" panose="020B0604020202020204" pitchFamily="34" charset="0"/>
              </a:rPr>
              <a:t/>
            </a:r>
            <a:br>
              <a:rPr lang="de-DE" altLang="de-DE" sz="2000" dirty="0" smtClean="0">
                <a:latin typeface="Arial" panose="020B0604020202020204" pitchFamily="34" charset="0"/>
              </a:rPr>
            </a:br>
            <a:r>
              <a:rPr lang="de-DE" altLang="de-DE" sz="2000" dirty="0" smtClean="0">
                <a:latin typeface="Arial" panose="020B0604020202020204" pitchFamily="34" charset="0"/>
              </a:rPr>
              <a:t>auf dem Stadtplan gezeigt.</a:t>
            </a:r>
            <a:br>
              <a:rPr lang="de-DE" altLang="de-DE" sz="2000" dirty="0" smtClean="0">
                <a:latin typeface="Arial" panose="020B0604020202020204" pitchFamily="34" charset="0"/>
              </a:rPr>
            </a:br>
            <a:endParaRPr kumimoji="0" lang="de-DE" altLang="de-DE" sz="2000" b="0" i="0" u="none" strike="noStrike" cap="none" normalizeH="0" baseline="0" dirty="0" smtClean="0">
              <a:ln>
                <a:noFill/>
              </a:ln>
              <a:solidFill>
                <a:schemeClr val="tx1"/>
              </a:solidFill>
              <a:effectLst/>
              <a:latin typeface="Arial" panose="020B0604020202020204" pitchFamily="34" charset="0"/>
            </a:endParaRPr>
          </a:p>
        </p:txBody>
      </p:sp>
      <p:pic>
        <p:nvPicPr>
          <p:cNvPr id="2" name="Grafik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1394" y="1400174"/>
            <a:ext cx="5265044" cy="3724275"/>
          </a:xfrm>
          <a:prstGeom prst="rect">
            <a:avLst/>
          </a:prstGeom>
          <a:ln>
            <a:solidFill>
              <a:schemeClr val="tx1"/>
            </a:solidFill>
          </a:ln>
        </p:spPr>
      </p:pic>
      <p:sp>
        <p:nvSpPr>
          <p:cNvPr id="5" name="Rectangle 1"/>
          <p:cNvSpPr txBox="1">
            <a:spLocks noChangeArrowheads="1"/>
          </p:cNvSpPr>
          <p:nvPr/>
        </p:nvSpPr>
        <p:spPr bwMode="auto">
          <a:xfrm>
            <a:off x="1491916" y="5208610"/>
            <a:ext cx="9144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00000"/>
              </a:lnSpc>
              <a:spcAft>
                <a:spcPct val="0"/>
              </a:spcAft>
            </a:pPr>
            <a:r>
              <a:rPr lang="de-DE" altLang="de-DE" sz="2000" dirty="0" smtClean="0">
                <a:latin typeface="Arial" panose="020B0604020202020204" pitchFamily="34" charset="0"/>
              </a:rPr>
              <a:t>Bitte drücken Sie entsprechende Taste „1“, „2“ </a:t>
            </a:r>
            <a:r>
              <a:rPr lang="de-DE" altLang="de-DE" sz="2000" dirty="0">
                <a:latin typeface="Arial" panose="020B0604020202020204" pitchFamily="34" charset="0"/>
              </a:rPr>
              <a:t>o</a:t>
            </a:r>
            <a:r>
              <a:rPr lang="de-DE" altLang="de-DE" sz="2000" dirty="0" smtClean="0">
                <a:latin typeface="Arial" panose="020B0604020202020204" pitchFamily="34" charset="0"/>
              </a:rPr>
              <a:t>der „3“ auf der Tastatur, um sich für eine Position zu entscheiden.</a:t>
            </a:r>
          </a:p>
          <a:p>
            <a:pPr eaLnBrk="0" fontAlgn="base" hangingPunct="0">
              <a:lnSpc>
                <a:spcPct val="100000"/>
              </a:lnSpc>
              <a:spcAft>
                <a:spcPct val="0"/>
              </a:spcAft>
            </a:pPr>
            <a:endParaRPr lang="de-DE" altLang="de-DE" sz="2000" dirty="0">
              <a:latin typeface="Arial" panose="020B0604020202020204" pitchFamily="34" charset="0"/>
            </a:endParaRPr>
          </a:p>
          <a:p>
            <a:pPr eaLnBrk="0" fontAlgn="base" hangingPunct="0">
              <a:lnSpc>
                <a:spcPct val="100000"/>
              </a:lnSpc>
              <a:spcAft>
                <a:spcPct val="0"/>
              </a:spcAft>
            </a:pPr>
            <a:r>
              <a:rPr lang="de-DE" altLang="de-DE" sz="2000" dirty="0" smtClean="0">
                <a:latin typeface="Arial" panose="020B0604020202020204" pitchFamily="34" charset="0"/>
              </a:rPr>
              <a:t>Weiter mit der Leertaste.</a:t>
            </a:r>
            <a:br>
              <a:rPr lang="de-DE" altLang="de-DE" sz="2000" dirty="0" smtClean="0">
                <a:latin typeface="Arial" panose="020B0604020202020204" pitchFamily="34" charset="0"/>
              </a:rPr>
            </a:br>
            <a:endParaRPr lang="de-DE" altLang="de-DE" sz="2000" dirty="0">
              <a:latin typeface="Arial" panose="020B0604020202020204" pitchFamily="34" charset="0"/>
            </a:endParaRPr>
          </a:p>
        </p:txBody>
      </p:sp>
    </p:spTree>
    <p:extLst>
      <p:ext uri="{BB962C8B-B14F-4D97-AF65-F5344CB8AC3E}">
        <p14:creationId xmlns:p14="http://schemas.microsoft.com/office/powerpoint/2010/main" val="2860674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91916" y="2096141"/>
            <a:ext cx="9144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b="1" i="0" u="none" strike="noStrike" cap="none" normalizeH="0" baseline="0" dirty="0" smtClean="0">
                <a:ln>
                  <a:noFill/>
                </a:ln>
                <a:solidFill>
                  <a:schemeClr val="tx1"/>
                </a:solidFill>
                <a:effectLst/>
                <a:latin typeface="Arial" panose="020B0604020202020204" pitchFamily="34" charset="0"/>
              </a:rPr>
              <a:t>Jetzt geht es los!</a:t>
            </a:r>
            <a:br>
              <a:rPr kumimoji="0" lang="de-DE" altLang="de-DE" sz="2000" b="1" i="0" u="none" strike="noStrike" cap="none" normalizeH="0" baseline="0" dirty="0" smtClean="0">
                <a:ln>
                  <a:noFill/>
                </a:ln>
                <a:solidFill>
                  <a:schemeClr val="tx1"/>
                </a:solidFill>
                <a:effectLst/>
                <a:latin typeface="Arial" panose="020B0604020202020204" pitchFamily="34" charset="0"/>
              </a:rPr>
            </a:br>
            <a:r>
              <a:rPr kumimoji="0" lang="de-DE" altLang="de-DE" sz="2000" b="1" i="0" u="none" strike="noStrike" cap="none" normalizeH="0" baseline="0" dirty="0" smtClean="0">
                <a:ln>
                  <a:noFill/>
                </a:ln>
                <a:solidFill>
                  <a:schemeClr val="tx1"/>
                </a:solidFill>
                <a:effectLst/>
                <a:latin typeface="Arial" panose="020B0604020202020204" pitchFamily="34" charset="0"/>
              </a:rPr>
              <a:t/>
            </a:r>
            <a:br>
              <a:rPr kumimoji="0" lang="de-DE" altLang="de-DE" sz="2000" b="1" i="0" u="none" strike="noStrike" cap="none" normalizeH="0" baseline="0" dirty="0" smtClean="0">
                <a:ln>
                  <a:noFill/>
                </a:ln>
                <a:solidFill>
                  <a:schemeClr val="tx1"/>
                </a:solidFill>
                <a:effectLst/>
                <a:latin typeface="Arial" panose="020B0604020202020204" pitchFamily="34" charset="0"/>
              </a:rPr>
            </a:br>
            <a:r>
              <a:rPr lang="de-DE" altLang="de-DE" sz="2000" b="1" dirty="0">
                <a:latin typeface="Arial" panose="020B0604020202020204" pitchFamily="34" charset="0"/>
              </a:rPr>
              <a:t/>
            </a:r>
            <a:br>
              <a:rPr lang="de-DE" altLang="de-DE" sz="2000" b="1" dirty="0">
                <a:latin typeface="Arial" panose="020B0604020202020204" pitchFamily="34" charset="0"/>
              </a:rPr>
            </a:br>
            <a:r>
              <a:rPr lang="de-DE" altLang="de-DE" sz="2000" b="1" dirty="0" smtClean="0">
                <a:latin typeface="Arial" panose="020B0604020202020204" pitchFamily="34" charset="0"/>
              </a:rPr>
              <a:t/>
            </a:r>
            <a:br>
              <a:rPr lang="de-DE" altLang="de-DE" sz="2000" b="1" dirty="0" smtClean="0">
                <a:latin typeface="Arial" panose="020B0604020202020204" pitchFamily="34" charset="0"/>
              </a:rPr>
            </a:br>
            <a:r>
              <a:rPr lang="de-DE" altLang="de-DE" sz="2000" b="1" dirty="0">
                <a:latin typeface="Arial" panose="020B0604020202020204" pitchFamily="34" charset="0"/>
              </a:rPr>
              <a:t/>
            </a:r>
            <a:br>
              <a:rPr lang="de-DE" altLang="de-DE" sz="2000" b="1" dirty="0">
                <a:latin typeface="Arial" panose="020B0604020202020204" pitchFamily="34" charset="0"/>
              </a:rPr>
            </a:br>
            <a:r>
              <a:rPr lang="de-DE" altLang="de-DE" sz="2000" dirty="0" smtClean="0">
                <a:latin typeface="Arial" panose="020B0604020202020204" pitchFamily="34" charset="0"/>
              </a:rPr>
              <a:t>Drücken Sie die </a:t>
            </a:r>
            <a:r>
              <a:rPr lang="de-DE" altLang="de-DE" sz="2000" b="1" dirty="0" smtClean="0">
                <a:latin typeface="Arial" panose="020B0604020202020204" pitchFamily="34" charset="0"/>
              </a:rPr>
              <a:t>Taste „1“</a:t>
            </a:r>
            <a:r>
              <a:rPr lang="de-DE" altLang="de-DE" sz="2000" dirty="0" smtClean="0">
                <a:latin typeface="Arial" panose="020B0604020202020204" pitchFamily="34" charset="0"/>
              </a:rPr>
              <a:t> zum starten der Aufgabe!</a:t>
            </a:r>
            <a:endParaRPr kumimoji="0" lang="de-DE" altLang="de-DE" sz="20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481693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Words>
  <Application>Microsoft Office PowerPoint</Application>
  <PresentationFormat>Breitbild</PresentationFormat>
  <Paragraphs>24</Paragraphs>
  <Slides>12</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12</vt:i4>
      </vt:variant>
    </vt:vector>
  </HeadingPairs>
  <TitlesOfParts>
    <vt:vector size="16" baseType="lpstr">
      <vt:lpstr>Arial</vt:lpstr>
      <vt:lpstr>Calibri</vt:lpstr>
      <vt:lpstr>Calibri Light</vt:lpstr>
      <vt:lpstr>Office</vt:lpstr>
      <vt:lpstr>Im Folgenden werden Sie die AUFGABE     „ERLENEN VON HÄUSER-POSITIONEN AUF EINEM STADTPLAN„    im Rahmen eines Trainingsprogramms wiederholt durchführen.                               Bitte drücken Sie eine Taste um fortzufahren</vt:lpstr>
      <vt:lpstr>Dafür werden Ihnen verschiedene Gebäude auf einem Stadtplan gezeigt.  der Stadtplan sieht so aus:</vt:lpstr>
      <vt:lpstr>Dasselbe Gebäude wird mehrmals an verschiedenen Plätzen auf diesem   Stadtplan gezeigt.</vt:lpstr>
      <vt:lpstr>ABER:   Jedes Gebäude hat einen „Lieblingsplatz“, an dem es besonders häufig vorkommt.   Diesen Platz sollen Sie herausfinden! </vt:lpstr>
      <vt:lpstr>Drücken Sie JA, wenn Sie meinen, dass der gezeigte Ort der Lieblingsplatz des Gebäudes ist und NEIN, wenn nicht.   Drücken Sie ab dem ersten Bild!    JA -&gt; Taste1 (Zeigefinger)  NEIN -&gt; Taste2 (Mittelfinger)</vt:lpstr>
      <vt:lpstr>Die Aufgabe besteht heute aus 5 Lern-Blöcken. Ein Lern-Block dauert etwa 6 min. Zwischen den Lern-Blöcken gibt es eine kurze Pause.  Die Aufgabe mag Ihnen zu Beginn sehr schwierig vorkommen. Das ist ganz normal, da Sie den Lieblingsplatz  eines Gebäudes über die Zeit erst herausfinden sollen.  Bitte versuchen Sie es trotzdem Wenn Sie es nicht wissen oder sich nicht sicher sind, raten Sie bitte!</vt:lpstr>
      <vt:lpstr>Um Sie mit der Aufgabe etwas vertraut zu machen,  beginnen wir mit einem kurzen Test-Block.    Jetzt geht es los!     </vt:lpstr>
      <vt:lpstr>Nun beginnen wir mit den Lern-Blöcken. Sie werden jetzt viel mehr Häuser sehen, als im  Test-Block.  Bitte drücken Sie ab dem ersten Haus!    Jetzt geht es los!     </vt:lpstr>
      <vt:lpstr>Abfrage:   „ERLENEN VON HÄUSER-POSITIONEN AUF EINEM STADTPLAN„    Bitte geben Sie die gelernten POSITIONEN für die Häuser  (Lieblingspositionen) auf dem Stadtplan wieder.                               Bitte drücken Sie die Leertaste um fortzufahren</vt:lpstr>
      <vt:lpstr>Ein Haus wurde Ihnen dabei mehrmals  an unterschiedlichen Plätzen gezeigt.  Jedes Haus hatte aber seinen „Lieblingsplatz“, an dem es besonders häufig vorkam.  Bitte versuchen Sie sich an die   „Lieblingsplätze“ der Häuser  auf dem Stadtplan zu erinnern.   Bitte drücken Sie Leertaste um fortzufahren</vt:lpstr>
      <vt:lpstr>Dazu werden Ihnen nun ein Haus und drei mögliche Positionen auf dem Stadtplan gezeigt. </vt:lpstr>
      <vt:lpstr>Jetzt geht es los!     Drücken Sie die Taste „1“ zum starten der Aufgabe!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 Folgenden werden Sie die AUFGABE     „ERLENEN VON HÄUSER-POSITIONEN AUF EINEM STADTPLAN„    im Rahmen eines Trainingsprogramms wiederholt durchführen.                                       Bitte drücken Sie eine Taste um fortzufahren</dc:title>
  <dc:creator>Malinowski, Robert</dc:creator>
  <cp:lastModifiedBy>Malinowski, Robert</cp:lastModifiedBy>
  <cp:revision>12</cp:revision>
  <dcterms:created xsi:type="dcterms:W3CDTF">2022-03-21T08:43:36Z</dcterms:created>
  <dcterms:modified xsi:type="dcterms:W3CDTF">2022-03-21T12:30:18Z</dcterms:modified>
</cp:coreProperties>
</file>