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sldIdLst>
    <p:sldId id="257" r:id="rId3"/>
    <p:sldId id="259" r:id="rId4"/>
    <p:sldId id="261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6" r:id="rId17"/>
    <p:sldId id="290" r:id="rId18"/>
    <p:sldId id="293" r:id="rId19"/>
    <p:sldId id="294" r:id="rId20"/>
    <p:sldId id="295" r:id="rId21"/>
    <p:sldId id="296" r:id="rId22"/>
    <p:sldId id="291" r:id="rId23"/>
    <p:sldId id="292" r:id="rId24"/>
    <p:sldId id="297" r:id="rId25"/>
    <p:sldId id="298" r:id="rId26"/>
    <p:sldId id="299" r:id="rId27"/>
    <p:sldId id="304" r:id="rId28"/>
    <p:sldId id="30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ßmann, Sven" initials="PS" lastIdx="1" clrIdx="0">
    <p:extLst>
      <p:ext uri="{19B8F6BF-5375-455C-9EA6-DF929625EA0E}">
        <p15:presenceInfo xmlns:p15="http://schemas.microsoft.com/office/powerpoint/2012/main" userId="S-1-5-21-11350593-1987465367-1023578015-667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28ED6-4574-41B9-8358-E0C7200475A2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C5027-DBF7-442C-9F4E-B1E856D147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4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C5027-DBF7-442C-9F4E-B1E856D147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57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C5027-DBF7-442C-9F4E-B1E856D147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42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Frau Fromm: diesen Text gegenlesen – verständlich?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C5027-DBF7-442C-9F4E-B1E856D147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2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A5C32-8377-D1B6-DB08-74C1DADE4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7D320-9B0C-AB8F-6EA7-56A1B52DC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6C586-2095-8638-DD01-D833DE32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C3FC2-A82D-1FEE-C2C0-53CEEEC5F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9AEB1-BC87-A7AB-59B8-BFBA2EC1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4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EF9C-F6A3-94C5-D8F2-13514880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4DEA3-82CD-D00F-BB87-B06387614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FBEF4-B265-152E-49C3-2EE26C6A8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224B1-7598-3BC2-5D7C-C680900C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2A0F0-CDDE-6BF3-38A5-528480FF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5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3024-34B0-0D73-06F7-D2A884E7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6D3C3-A22C-E04F-EB23-FB1A10593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50CC1-22F9-31BC-4886-DA373A3F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AE58F-DC71-7F7C-F332-D2E65F58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35E26-0915-4B67-AC3A-3D2AB9DF4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4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67738-C802-D657-FB01-1DA17D7D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1DCC1-ABBF-B990-F9F2-46211B924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8F814-2974-DBBF-AAA5-C1A891826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460CD-A665-5C66-1149-3B10D73A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6170B-0D8D-8DE8-32E2-6DF6AAC0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53DDB-839B-C3EE-1312-08FD8DB9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5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1273-1F3A-9344-2128-8539E267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E4605-B0D0-14EC-42A4-308C0B6FF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E83D5-6C16-4030-1713-9F8E4FBA3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C7267-D6BB-519E-0CDE-EE2169A80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12B28-A6E7-F348-5BFC-91D8A8116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4EDA0-A5B1-6C2D-D251-297FD2500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311A2-2CA3-8C61-C1AB-A63DDA99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422FE-9C45-4256-D5D0-BAE364D9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7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DB7D-A68C-BC54-53DD-5E7BEB08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47067-63E8-2B42-C51C-444D8893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A50EF-7DA8-E84B-C1A9-B1A2E601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F1404-68FD-CA30-B9BF-8E41C073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2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24079-E2F9-4D42-51E1-81B13230C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4CC2C-F434-41FC-4E7B-5F5AD348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F6F96-E7D4-5EB5-2319-DBAC94A9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7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1F32-3D99-B223-1A45-2F39C8D00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A0964-5DF4-8B1B-1629-5A2F1564B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928D4-1F60-B748-C289-339D6EEFE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7BEE3-275C-41D4-B79E-1275EE26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B169C-333B-57F1-302C-12999C7E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F9659-CBDD-A90D-9C2D-4F5AB282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81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2EF6-5966-A0D4-1F9A-ACFAE384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2612AE-1D30-F243-F951-970C5CD2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D1570-7470-0F4D-6780-568A563A7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82C45-2E35-F6FD-FCAE-EB771793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8DA19-63F8-52D3-2B62-254F6FBA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583AE-F7FE-8E25-A337-F935172E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5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2CFA-C2C5-1CE3-DED8-52D47945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88253-6EAA-18EF-EFA0-817E0CD32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F56F7-AA80-1E25-590E-5417B8E3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5DFA3-600A-44DC-65F5-3E18D363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133A9-CD54-4619-C385-F217AEA9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8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D1EF17-62F6-DAA5-BDC4-CB549E9E8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1E773-D94A-CF8A-7690-51AFA67ED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604C2-F845-0FB7-D7AE-9F992C915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D5020-730A-E14C-B94D-EA51A124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ECA22-5F72-22F1-3546-ACADBEBE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86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76D3DBB-5C36-4104-B305-228B6DEAFA5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379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CA46F0-D5CA-48F5-9888-3B8420A43D10}" type="slidenum">
              <a:t>‹Nr.›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9161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886BEA7-9F62-46CF-956F-6D741A5EB472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259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8FC2FEE-B72A-4A24-A2DF-E0C505D800DB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8104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D006FED-CC87-4E14-8834-EE118173A629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619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5A165A-3D77-4BB1-88D9-B4BBEFC9A68E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9785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721A2F3-D4BC-482C-9061-CE6DFAB932E6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9595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A8199EF-AE93-41BB-B395-6BF09E26F4B2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669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37B63F6-0CB7-43C1-A5C8-4D0180BE64B0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32035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407E62A-4CED-49C1-81B2-A48E0D6F7AF0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6192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EA9AAC-29FF-4939-89D9-1EE6A4AA04A5}" type="slidenum">
              <a:t>‹Nr.›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41516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CD09B28-649A-45AE-9F4D-64667398B452}" type="slidenum">
              <a:t>‹Nr.›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2925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174E-72A9-47D2-9A7A-A8656326455F}" type="datetimeFigureOut">
              <a:rPr lang="de-DE" smtClean="0"/>
              <a:t>14.07.2023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5B72-3B9E-4097-B1D8-9DEB1121E5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11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ADBDC-F808-DCEA-C56F-9E5D2D81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0D857-DE38-9889-D788-9237D86CB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21915-2F75-C502-580E-FBB80FAE9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D75EF-EFB4-4026-95B9-275770A67C68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0BC9B-6A93-6B07-A739-65347BF7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AF9BE-F37D-826F-E1FD-A674C31D0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8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de-DE" sz="6000" b="0" strike="noStrike" spc="-1">
                <a:solidFill>
                  <a:srgbClr val="000000"/>
                </a:solidFill>
                <a:latin typeface="Calibri Light"/>
              </a:rPr>
              <a:t>Titelmasterformat durch Klicken bearbeiten</a:t>
            </a:r>
            <a:endParaRPr lang="de-DE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20AEBC-57E8-46AF-9D60-731F5DBD7FEB}" type="slidenum">
              <a:rPr lang="de-DE" sz="1200" b="0" strike="noStrike" spc="-1">
                <a:solidFill>
                  <a:srgbClr val="8B8B8B"/>
                </a:solidFill>
                <a:latin typeface="Calibri"/>
              </a:rPr>
              <a:t>‹Nr.›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63949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62CC4-C4BA-13E3-CE95-28732A5B4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432"/>
            <a:ext cx="10515600" cy="59767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Während des Experiments bitten wir Sie, 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zwei Aufgaben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zu bearbeiten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1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Aufgabe 1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br>
              <a:rPr kumimoji="0" lang="de-DE" sz="20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In dieser Aufgabe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müssen Sie entscheiden, </a:t>
            </a:r>
            <a:r>
              <a:rPr lang="de-DE" sz="2000" spc="-1" dirty="0">
                <a:solidFill>
                  <a:srgbClr val="000000"/>
                </a:solidFill>
                <a:latin typeface="Arial"/>
              </a:rPr>
              <a:t>                                                                         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ob die Lage eines Hauses auf einer Karte </a:t>
            </a:r>
            <a:r>
              <a:rPr kumimoji="0" lang="de-DE" sz="200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„richtig“ oder „falsch“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ist.</a:t>
            </a:r>
          </a:p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Was in diesem Fall „richtig“ oder „falsch“ bedeutet,                                                           erklären wir Ihnen auf den nächsten Folien. 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1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Aufgabe 2</a:t>
            </a:r>
            <a:br>
              <a:rPr kumimoji="0" lang="de-DE" sz="2000" b="1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Hier müssen Sie entscheiden,                                                                                                ob sich ein Haus „rechts“ oder „links“ auf einer Karte befindet.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</a:br>
            <a:endParaRPr kumimoji="0" lang="de-DE" sz="2000" b="0" i="0" u="none" strike="noStrike" kern="1200" cap="none" spc="-1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</a:endParaRPr>
          </a:p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1 wird insgesamt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zweimal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durchgeführt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2 wird insgesamt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</a:t>
            </a:r>
            <a:r>
              <a:rPr lang="de-DE" sz="2000" b="1" spc="-1" dirty="0">
                <a:latin typeface="Arial"/>
              </a:rPr>
              <a:t>ein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mal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durchgeführt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915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476660"/>
            <a:ext cx="9144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Aufgabe 1 </a:t>
            </a:r>
            <a:r>
              <a:rPr kumimoji="0" lang="de-DE" altLang="de-DE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Dafür werden Ihnen verschiedene Häuser auf einem Stadtplan gezeigt.</a:t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 Stadtplan sieht so aus: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420" y="1984764"/>
            <a:ext cx="6093994" cy="4310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175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1005712"/>
            <a:ext cx="9144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Dasselbe H</a:t>
            </a:r>
            <a:r>
              <a:rPr lang="de-DE" altLang="de-DE" sz="2000" dirty="0">
                <a:latin typeface="Arial" panose="020B0604020202020204" pitchFamily="34" charset="0"/>
              </a:rPr>
              <a:t>aus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wird mehrmals an verschiedenen</a:t>
            </a:r>
            <a:r>
              <a:rPr kumimoji="0" lang="de-DE" alt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Plätzen                                 auf diesem Stadtplan gezeigt.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22" y="2154601"/>
            <a:ext cx="4603174" cy="3436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1" y="2156417"/>
            <a:ext cx="4600574" cy="34344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feld 6"/>
          <p:cNvSpPr txBox="1"/>
          <p:nvPr/>
        </p:nvSpPr>
        <p:spPr>
          <a:xfrm>
            <a:off x="3269515" y="1754491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So: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7908686" y="1754491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Oder so:</a:t>
            </a:r>
          </a:p>
        </p:txBody>
      </p:sp>
    </p:spTree>
    <p:extLst>
      <p:ext uri="{BB962C8B-B14F-4D97-AF65-F5344CB8AC3E}">
        <p14:creationId xmlns:p14="http://schemas.microsoft.com/office/powerpoint/2010/main" val="166986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1714134"/>
            <a:ext cx="9144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ABER: </a:t>
            </a:r>
            <a:b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Jedes Haus hat einen „Lieblingsplatz“, an dem es besonders häufig</a:t>
            </a:r>
            <a:r>
              <a:rPr kumimoji="0" lang="de-DE" alt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vorkommt.</a:t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Diesen Platz sollen Sie herausfinden! </a:t>
            </a:r>
          </a:p>
        </p:txBody>
      </p:sp>
    </p:spTree>
    <p:extLst>
      <p:ext uri="{BB962C8B-B14F-4D97-AF65-F5344CB8AC3E}">
        <p14:creationId xmlns:p14="http://schemas.microsoft.com/office/powerpoint/2010/main" val="148032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203569" y="1661624"/>
            <a:ext cx="9144000" cy="238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Drücken Sie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                                                                                                      wenn Sie meinen, dass der gezeigte Ort der Lieblingsplatz des </a:t>
            </a:r>
            <a:r>
              <a:rPr lang="de-DE" altLang="de-DE" sz="2000" dirty="0">
                <a:latin typeface="Arial" panose="020B0604020202020204" pitchFamily="34" charset="0"/>
              </a:rPr>
              <a:t>Hauses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ist,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NEIN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wenn nicht. 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Drücken Sie immer eine Taste</a:t>
            </a:r>
            <a:r>
              <a:rPr lang="de-DE" altLang="de-DE" sz="2000" dirty="0">
                <a:latin typeface="Arial" panose="020B0604020202020204" pitchFamily="34" charset="0"/>
              </a:rPr>
              <a:t>, 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dem ersten Bild!	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Taste1 (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Zeigefinger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NEIN 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 Taste2 (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Daumen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de-DE" altLang="de-D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140441" y="3486516"/>
            <a:ext cx="4845538" cy="128172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609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45E4E932-9489-A6D5-65E8-5021B8041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272" y="1086936"/>
            <a:ext cx="103189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Auf einer Karte wird Ihnen ein Haus gezeigt und Sie werden gefragt, ob sich dieses Haus, von Ihnen aus gesehen, „rechts“ oder „links“ der Karte befindet 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Beispiel: Ist das Haus „rechts“ auf der Karte?</a:t>
            </a:r>
            <a:endParaRPr lang="de-DE" altLang="de-DE" sz="2000" b="1" dirty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4DAFB5-078E-03FE-3533-A6774C24C8A7}"/>
              </a:ext>
            </a:extLst>
          </p:cNvPr>
          <p:cNvSpPr txBox="1"/>
          <p:nvPr/>
        </p:nvSpPr>
        <p:spPr>
          <a:xfrm>
            <a:off x="599767" y="108031"/>
            <a:ext cx="10215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de-DE" altLang="de-D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Aufgabe 2</a:t>
            </a:r>
            <a:br>
              <a:rPr kumimoji="0" lang="de-DE" altLang="de-D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EA2C6-61EA-D397-431C-4E836751D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11" y="2250507"/>
            <a:ext cx="5781978" cy="401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2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74E6-06EE-6D5D-073A-217C1F0D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de-DE" sz="2400" b="1" u="sng" dirty="0">
                <a:latin typeface="Arial" panose="020B0604020202020204" pitchFamily="34" charset="0"/>
                <a:ea typeface="+mn-ea"/>
                <a:cs typeface="+mn-cs"/>
              </a:rPr>
              <a:t>In dieser Aufgabe</a:t>
            </a:r>
            <a:endParaRPr lang="en-US" sz="2400" b="1" u="sng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956A8B-BD84-CA49-D4E9-A3FF7813A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24234"/>
            <a:ext cx="1027910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Drücken Sie </a:t>
            </a:r>
            <a:r>
              <a:rPr lang="de-DE" altLang="de-DE" sz="2000" b="1" dirty="0">
                <a:latin typeface="Arial" panose="020B0604020202020204" pitchFamily="34" charset="0"/>
              </a:rPr>
              <a:t>JA</a:t>
            </a:r>
            <a:r>
              <a:rPr lang="de-DE" altLang="de-DE" sz="2000" dirty="0">
                <a:latin typeface="Arial" panose="020B0604020202020204" pitchFamily="34" charset="0"/>
              </a:rPr>
              <a:t>, wenn Sie meinen,                                                                                        dass sich das Haus auf der rechten Seite der Karte befindet.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Drücken Sie </a:t>
            </a:r>
            <a:r>
              <a:rPr lang="de-DE" altLang="de-DE" sz="2000" b="1" dirty="0">
                <a:latin typeface="Arial" panose="020B0604020202020204" pitchFamily="34" charset="0"/>
              </a:rPr>
              <a:t>NEIN</a:t>
            </a:r>
            <a:r>
              <a:rPr lang="de-DE" altLang="de-DE" sz="2000" dirty="0">
                <a:latin typeface="Arial" panose="020B0604020202020204" pitchFamily="34" charset="0"/>
              </a:rPr>
              <a:t>, wenn Sie meinen,                                                                              dass sich das Haus auf der linken Seite der Karte befindet.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587" y="2519593"/>
            <a:ext cx="594033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61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7EA0-6791-BBE9-DC36-3C7E6B98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2400" b="1" u="sng" dirty="0">
                <a:latin typeface="Arial" panose="020B0604020202020204" pitchFamily="34" charset="0"/>
                <a:ea typeface="+mn-ea"/>
                <a:cs typeface="+mn-cs"/>
              </a:rPr>
              <a:t>Ablauf der Aufgaben</a:t>
            </a:r>
            <a:endParaRPr lang="en-US" sz="2400" b="1" u="sng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65C8-DDC2-007F-53A1-3A7CD1CAE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22" y="1786296"/>
            <a:ext cx="10515600" cy="4351338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Der Ablauf der Aufgaben wird Ihnen </a:t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an jeweils einem Beispiel präsentiert.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737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B41EA1-8021-9D36-88B3-CD3D8907D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96"/>
            <a:ext cx="10515600" cy="5673213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Das Bild des Hauses erscheint 2,5 Sekunden lang auf dem Bildschirm.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Während dieser Zeit sollen Sie per Knopfdruck entscheiden, ob der Standort des angezeigten Hauses richtig oder falsch ist.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In den ersten Runden müssen Sie zwangsläufig raten.</a:t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" name="Pfeil nach rechts 14">
            <a:extLst>
              <a:ext uri="{FF2B5EF4-FFF2-40B4-BE49-F238E27FC236}">
                <a16:creationId xmlns:a16="http://schemas.microsoft.com/office/drawing/2014/main" id="{31FC4024-306A-E021-4EDB-44C98B3DD118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6" name="Textfeld 1">
            <a:extLst>
              <a:ext uri="{FF2B5EF4-FFF2-40B4-BE49-F238E27FC236}">
                <a16:creationId xmlns:a16="http://schemas.microsoft.com/office/drawing/2014/main" id="{AD4E99A0-B91D-38A2-D234-703E50DBC13D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Textfeld 16">
            <a:extLst>
              <a:ext uri="{FF2B5EF4-FFF2-40B4-BE49-F238E27FC236}">
                <a16:creationId xmlns:a16="http://schemas.microsoft.com/office/drawing/2014/main" id="{F2B6C996-8196-49EC-2E67-C8208DFFADA7}"/>
              </a:ext>
            </a:extLst>
          </p:cNvPr>
          <p:cNvSpPr/>
          <p:nvPr/>
        </p:nvSpPr>
        <p:spPr>
          <a:xfrm>
            <a:off x="2235809" y="4541412"/>
            <a:ext cx="7733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4	 5    (Sekunden)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feld 23">
            <a:extLst>
              <a:ext uri="{FF2B5EF4-FFF2-40B4-BE49-F238E27FC236}">
                <a16:creationId xmlns:a16="http://schemas.microsoft.com/office/drawing/2014/main" id="{3DBF6D1C-954B-039B-2FC6-B35A2E71B08C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Textfeld 23">
            <a:extLst>
              <a:ext uri="{FF2B5EF4-FFF2-40B4-BE49-F238E27FC236}">
                <a16:creationId xmlns:a16="http://schemas.microsoft.com/office/drawing/2014/main" id="{35C2C1CA-F2E3-6CC3-27F3-5E786FD0A4F8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F4F53B-0F7B-C38F-F110-2CBD4025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146" y="2871032"/>
            <a:ext cx="1481464" cy="1105942"/>
          </a:xfrm>
          <a:prstGeom prst="rect">
            <a:avLst/>
          </a:prstGeom>
        </p:spPr>
      </p:pic>
      <p:pic>
        <p:nvPicPr>
          <p:cNvPr id="12" name="Picture 2" descr="👈🏿 Backhand Index Pointing Left: Dark Skin Tone Emoj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7088">
            <a:off x="2810999" y="5012142"/>
            <a:ext cx="1538121" cy="153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59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3AA927-3E1E-3CC0-BDE7-F8A0472FB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703"/>
            <a:ext cx="10515600" cy="5353447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Unmittelbar nach jedem Bild eines Hauses erhalten Sie automatisch eine Rückmeldung,    ob Ihre Antwort richtig oder falsch war.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Hier ist ein Beispiel für die Rückmeldung nach einer richtigen Antwort.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7" name="Pfeil nach rechts 14">
            <a:extLst>
              <a:ext uri="{FF2B5EF4-FFF2-40B4-BE49-F238E27FC236}">
                <a16:creationId xmlns:a16="http://schemas.microsoft.com/office/drawing/2014/main" id="{740E2BB9-5AC5-EE55-FCD2-13686FD8F100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8" name="Textfeld 1">
            <a:extLst>
              <a:ext uri="{FF2B5EF4-FFF2-40B4-BE49-F238E27FC236}">
                <a16:creationId xmlns:a16="http://schemas.microsoft.com/office/drawing/2014/main" id="{3259948A-D645-AB76-3B1B-6EFCE066C791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Textfeld 23">
            <a:extLst>
              <a:ext uri="{FF2B5EF4-FFF2-40B4-BE49-F238E27FC236}">
                <a16:creationId xmlns:a16="http://schemas.microsoft.com/office/drawing/2014/main" id="{4E70D3B9-4429-D517-0B63-4D89962098A5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 w="5715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Textfeld 23">
            <a:extLst>
              <a:ext uri="{FF2B5EF4-FFF2-40B4-BE49-F238E27FC236}">
                <a16:creationId xmlns:a16="http://schemas.microsoft.com/office/drawing/2014/main" id="{14736315-1954-427F-052C-9789E4B4A23E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6" name="Textfeld 16">
            <a:extLst>
              <a:ext uri="{FF2B5EF4-FFF2-40B4-BE49-F238E27FC236}">
                <a16:creationId xmlns:a16="http://schemas.microsoft.com/office/drawing/2014/main" id="{B2EAD88C-1847-4C5F-9286-76C45A1A7952}"/>
              </a:ext>
            </a:extLst>
          </p:cNvPr>
          <p:cNvSpPr/>
          <p:nvPr/>
        </p:nvSpPr>
        <p:spPr>
          <a:xfrm>
            <a:off x="2235809" y="4541412"/>
            <a:ext cx="77335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A47C9-16A6-1FF1-B3D4-7114DB45E302}"/>
              </a:ext>
            </a:extLst>
          </p:cNvPr>
          <p:cNvSpPr txBox="1"/>
          <p:nvPr/>
        </p:nvSpPr>
        <p:spPr>
          <a:xfrm>
            <a:off x="2518990" y="32727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Richtig!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1" name="Textfeld 1">
            <a:extLst>
              <a:ext uri="{FF2B5EF4-FFF2-40B4-BE49-F238E27FC236}">
                <a16:creationId xmlns:a16="http://schemas.microsoft.com/office/drawing/2014/main" id="{02AA67D1-DF34-08BE-4821-7CD7F9078985}"/>
              </a:ext>
            </a:extLst>
          </p:cNvPr>
          <p:cNvSpPr/>
          <p:nvPr/>
        </p:nvSpPr>
        <p:spPr>
          <a:xfrm>
            <a:off x="473175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6ACC5A-1356-85BA-0EE4-C9DAA756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58" y="2897075"/>
            <a:ext cx="1481464" cy="1105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C031AC-2386-B642-2E65-CE72AFA82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719" y="2867114"/>
            <a:ext cx="1481464" cy="1105942"/>
          </a:xfrm>
          <a:prstGeom prst="rect">
            <a:avLst/>
          </a:prstGeom>
        </p:spPr>
      </p:pic>
      <p:pic>
        <p:nvPicPr>
          <p:cNvPr id="1026" name="Picture 2" descr="👈🏿 Backhand Index Pointing Left: Dark Skin Tone Emoj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7088">
            <a:off x="2810999" y="5012142"/>
            <a:ext cx="1538121" cy="153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028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523EAB-75FF-DFEE-6AF3-4304AE4F7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240"/>
            <a:ext cx="10515600" cy="5742038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Wenn Ihre Antwort falsch war, erhalten Sie ebenfalls eine Rückmeldung.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Und die korrekte Lage des Hauses wird angezeigt.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7" name="Pfeil nach rechts 14">
            <a:extLst>
              <a:ext uri="{FF2B5EF4-FFF2-40B4-BE49-F238E27FC236}">
                <a16:creationId xmlns:a16="http://schemas.microsoft.com/office/drawing/2014/main" id="{0C42B9B0-3CDF-FEDA-8547-9F6052A273CA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9" name="Textfeld 1">
            <a:extLst>
              <a:ext uri="{FF2B5EF4-FFF2-40B4-BE49-F238E27FC236}">
                <a16:creationId xmlns:a16="http://schemas.microsoft.com/office/drawing/2014/main" id="{16F6939B-4B26-932A-0CA0-CA59739D85CE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feld 1">
            <a:extLst>
              <a:ext uri="{FF2B5EF4-FFF2-40B4-BE49-F238E27FC236}">
                <a16:creationId xmlns:a16="http://schemas.microsoft.com/office/drawing/2014/main" id="{046E618A-D9F3-D853-8596-09128780BABE}"/>
              </a:ext>
            </a:extLst>
          </p:cNvPr>
          <p:cNvSpPr/>
          <p:nvPr/>
        </p:nvSpPr>
        <p:spPr>
          <a:xfrm>
            <a:off x="473175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Textfeld 23">
            <a:extLst>
              <a:ext uri="{FF2B5EF4-FFF2-40B4-BE49-F238E27FC236}">
                <a16:creationId xmlns:a16="http://schemas.microsoft.com/office/drawing/2014/main" id="{56F0BBC4-622E-46A8-1BAE-9C8B9E630B10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 w="5715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feld 23">
            <a:extLst>
              <a:ext uri="{FF2B5EF4-FFF2-40B4-BE49-F238E27FC236}">
                <a16:creationId xmlns:a16="http://schemas.microsoft.com/office/drawing/2014/main" id="{43DD0DAD-E785-887E-5680-771F9593396F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Textfeld 16">
            <a:extLst>
              <a:ext uri="{FF2B5EF4-FFF2-40B4-BE49-F238E27FC236}">
                <a16:creationId xmlns:a16="http://schemas.microsoft.com/office/drawing/2014/main" id="{5157F54B-3AE5-F293-6120-C7A328AA413F}"/>
              </a:ext>
            </a:extLst>
          </p:cNvPr>
          <p:cNvSpPr/>
          <p:nvPr/>
        </p:nvSpPr>
        <p:spPr>
          <a:xfrm>
            <a:off x="2235809" y="4541412"/>
            <a:ext cx="77335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E1406E-E884-EF90-02F9-431D918F5FFB}"/>
              </a:ext>
            </a:extLst>
          </p:cNvPr>
          <p:cNvSpPr txBox="1"/>
          <p:nvPr/>
        </p:nvSpPr>
        <p:spPr>
          <a:xfrm>
            <a:off x="2527150" y="3246202"/>
            <a:ext cx="5956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b="1" spc="-1" dirty="0">
                <a:solidFill>
                  <a:srgbClr val="FF0000"/>
                </a:solidFill>
                <a:latin typeface="Arial"/>
              </a:rPr>
              <a:t>Falsch</a:t>
            </a: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BB7EF-1043-F490-2773-07DC9DB8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206" y="3021346"/>
            <a:ext cx="1227326" cy="9162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8FA0FD-CC0D-DF6A-D8E7-3D4DFEB99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658" y="3021346"/>
            <a:ext cx="1227326" cy="916223"/>
          </a:xfrm>
          <a:prstGeom prst="rect">
            <a:avLst/>
          </a:prstGeom>
        </p:spPr>
      </p:pic>
      <p:pic>
        <p:nvPicPr>
          <p:cNvPr id="15" name="Picture 2" descr="👈🏿 Backhand Index Pointing Left: Dark Skin Tone Emoj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7088">
            <a:off x="2810999" y="5012142"/>
            <a:ext cx="1538121" cy="153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768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6DCA73-8354-15B5-5350-B5898597B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761"/>
            <a:ext cx="10515600" cy="5948517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Es ist wichtig, innerhalb von 2,5 Sekunden zu antworten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Wenn Sie zu spät drücken, wird Ihre Antwort nicht gezählt.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Auch in diesem Fall erhalten Sie eine Rückmeldung und es wird Ihnen der korrekte Standort des Hauses angezeigt.</a:t>
            </a:r>
          </a:p>
        </p:txBody>
      </p:sp>
      <p:sp>
        <p:nvSpPr>
          <p:cNvPr id="7" name="Pfeil nach rechts 4">
            <a:extLst>
              <a:ext uri="{FF2B5EF4-FFF2-40B4-BE49-F238E27FC236}">
                <a16:creationId xmlns:a16="http://schemas.microsoft.com/office/drawing/2014/main" id="{4CEF7592-742C-A853-8253-A83DABB26B32}"/>
              </a:ext>
            </a:extLst>
          </p:cNvPr>
          <p:cNvSpPr/>
          <p:nvPr/>
        </p:nvSpPr>
        <p:spPr>
          <a:xfrm>
            <a:off x="2291874" y="3811854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8" name="Textfeld 41">
            <a:extLst>
              <a:ext uri="{FF2B5EF4-FFF2-40B4-BE49-F238E27FC236}">
                <a16:creationId xmlns:a16="http://schemas.microsoft.com/office/drawing/2014/main" id="{3C2250DD-B0F1-9688-6094-96E7F9ED5CAD}"/>
              </a:ext>
            </a:extLst>
          </p:cNvPr>
          <p:cNvSpPr/>
          <p:nvPr/>
        </p:nvSpPr>
        <p:spPr>
          <a:xfrm>
            <a:off x="4763654" y="4190064"/>
            <a:ext cx="2215800" cy="363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E3AB9-A481-D945-6FCA-02A6F826E472}"/>
              </a:ext>
            </a:extLst>
          </p:cNvPr>
          <p:cNvSpPr txBox="1"/>
          <p:nvPr/>
        </p:nvSpPr>
        <p:spPr>
          <a:xfrm>
            <a:off x="2440076" y="33856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Zu spät!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Textfeld 23">
            <a:extLst>
              <a:ext uri="{FF2B5EF4-FFF2-40B4-BE49-F238E27FC236}">
                <a16:creationId xmlns:a16="http://schemas.microsoft.com/office/drawing/2014/main" id="{DF1B0FF2-04EB-5E06-CEDB-0D5863BD1EEF}"/>
              </a:ext>
            </a:extLst>
          </p:cNvPr>
          <p:cNvSpPr/>
          <p:nvPr/>
        </p:nvSpPr>
        <p:spPr>
          <a:xfrm>
            <a:off x="2291874" y="498337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Textfeld 23">
            <a:extLst>
              <a:ext uri="{FF2B5EF4-FFF2-40B4-BE49-F238E27FC236}">
                <a16:creationId xmlns:a16="http://schemas.microsoft.com/office/drawing/2014/main" id="{927E4257-1764-5F88-8553-B32FADF7AEC7}"/>
              </a:ext>
            </a:extLst>
          </p:cNvPr>
          <p:cNvSpPr/>
          <p:nvPr/>
        </p:nvSpPr>
        <p:spPr>
          <a:xfrm>
            <a:off x="3510493" y="498337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Textfeld 1">
            <a:extLst>
              <a:ext uri="{FF2B5EF4-FFF2-40B4-BE49-F238E27FC236}">
                <a16:creationId xmlns:a16="http://schemas.microsoft.com/office/drawing/2014/main" id="{E44DEEB4-FD0A-D82E-3DF8-EAA82F80BCAD}"/>
              </a:ext>
            </a:extLst>
          </p:cNvPr>
          <p:cNvSpPr/>
          <p:nvPr/>
        </p:nvSpPr>
        <p:spPr>
          <a:xfrm>
            <a:off x="2344856" y="4189599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5" name="Textfeld 16">
            <a:extLst>
              <a:ext uri="{FF2B5EF4-FFF2-40B4-BE49-F238E27FC236}">
                <a16:creationId xmlns:a16="http://schemas.microsoft.com/office/drawing/2014/main" id="{AACBE689-1119-03A3-F3F3-AFF31325094F}"/>
              </a:ext>
            </a:extLst>
          </p:cNvPr>
          <p:cNvSpPr/>
          <p:nvPr/>
        </p:nvSpPr>
        <p:spPr>
          <a:xfrm>
            <a:off x="2232128" y="4591025"/>
            <a:ext cx="76679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970296-B833-0859-1BAA-373947C9C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74" y="3139519"/>
            <a:ext cx="1218619" cy="9097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40FC36-5181-AEDC-E358-AD446AD39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961" y="3139519"/>
            <a:ext cx="1218619" cy="909723"/>
          </a:xfrm>
          <a:prstGeom prst="rect">
            <a:avLst/>
          </a:prstGeom>
        </p:spPr>
      </p:pic>
      <p:pic>
        <p:nvPicPr>
          <p:cNvPr id="13" name="Picture 2" descr="👈🏿 Backhand Index Pointing Left: Dark Skin Tone Emoj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7088">
            <a:off x="2783192" y="5008366"/>
            <a:ext cx="1538121" cy="153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879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AA6FC5-495F-0B5B-F8D9-D9920BC6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8594"/>
            <a:ext cx="10515600" cy="5938684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Es wird nur Ihre erste Antwort gezählt, auch wenn Sie sich korrigieren wollen, und innerhalb des Zeitrahmens die andere Taste drücken.</a:t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Sie sollten sich also innerhalb des Zeitrahmens auf eine einzelne Antwort konzentrieren!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3" name="Pfeil nach rechts 14">
            <a:extLst>
              <a:ext uri="{FF2B5EF4-FFF2-40B4-BE49-F238E27FC236}">
                <a16:creationId xmlns:a16="http://schemas.microsoft.com/office/drawing/2014/main" id="{07CE2272-8388-010A-6E27-4D9AE65FD1D0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15" name="Textfeld 1">
            <a:extLst>
              <a:ext uri="{FF2B5EF4-FFF2-40B4-BE49-F238E27FC236}">
                <a16:creationId xmlns:a16="http://schemas.microsoft.com/office/drawing/2014/main" id="{A330DA8B-BA67-9CEB-04D8-EF6704BFC65B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Textfeld 23">
            <a:extLst>
              <a:ext uri="{FF2B5EF4-FFF2-40B4-BE49-F238E27FC236}">
                <a16:creationId xmlns:a16="http://schemas.microsoft.com/office/drawing/2014/main" id="{577BB109-486D-CA9A-F2AD-9773A06FA1E8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feld 23">
            <a:extLst>
              <a:ext uri="{FF2B5EF4-FFF2-40B4-BE49-F238E27FC236}">
                <a16:creationId xmlns:a16="http://schemas.microsoft.com/office/drawing/2014/main" id="{6C02A42E-BC13-A762-0D25-0C2AA808E386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42606DB-003B-C83E-CEF5-3892100E8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671" y="3013657"/>
            <a:ext cx="1218619" cy="909723"/>
          </a:xfrm>
          <a:prstGeom prst="rect">
            <a:avLst/>
          </a:prstGeom>
        </p:spPr>
      </p:pic>
      <p:pic>
        <p:nvPicPr>
          <p:cNvPr id="9" name="Picture 4" descr="👈🏿 Backhand Index Pointing Left: Dark Skin Tone Emoji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74840">
            <a:off x="2940408" y="5055092"/>
            <a:ext cx="1274084" cy="127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760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DDBBF9-6A18-D045-213A-9BC4397AB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48"/>
            <a:ext cx="10515600" cy="4916130"/>
          </a:xfrm>
        </p:spPr>
        <p:txBody>
          <a:bodyPr>
            <a:norm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</a:rPr>
              <a:t>Beide Aufgaben werden in kurzen Blöcken wiederholt, wie am Anfang schon erklärt:</a:t>
            </a:r>
            <a:br>
              <a:rPr lang="de-DE" sz="2000" dirty="0">
                <a:latin typeface="Arial" panose="020B0604020202020204" pitchFamily="34" charset="0"/>
              </a:rPr>
            </a:br>
            <a:r>
              <a:rPr lang="de-DE" sz="2000" dirty="0">
                <a:latin typeface="Arial" panose="020B0604020202020204" pitchFamily="34" charset="0"/>
              </a:rPr>
              <a:t>2 x Lage des Hauses auf einer Karte, und 1 x Rechts-Links-Aufgabe.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</a:rPr>
              <a:t>Die Reihenfolge der Aufgaben ist zufällig und wird jeweils vor einem Block durch eine Sprechblase angekündigt.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</a:rPr>
              <a:t>Zwischen den Aufgaben gibt es kurze Pausen, in denen wir Sie bitten,                                auf ein Kreuz zu schauen (ca. 15 Sekunden).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630B103-FA66-9E0E-2417-802E81CA9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19" y="871756"/>
            <a:ext cx="9413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400" b="1" dirty="0">
                <a:latin typeface="Arial" panose="020B0604020202020204" pitchFamily="34" charset="0"/>
              </a:rPr>
              <a:t>Ablauf des Gesamtversuchs</a:t>
            </a:r>
          </a:p>
        </p:txBody>
      </p:sp>
      <p:sp>
        <p:nvSpPr>
          <p:cNvPr id="12" name="Rechteck 1">
            <a:extLst>
              <a:ext uri="{FF2B5EF4-FFF2-40B4-BE49-F238E27FC236}">
                <a16:creationId xmlns:a16="http://schemas.microsoft.com/office/drawing/2014/main" id="{777F074A-59FE-988C-3E43-FE28EB50DFCF}"/>
              </a:ext>
            </a:extLst>
          </p:cNvPr>
          <p:cNvSpPr/>
          <p:nvPr/>
        </p:nvSpPr>
        <p:spPr>
          <a:xfrm>
            <a:off x="2945819" y="5420244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Rechteck 5">
            <a:extLst>
              <a:ext uri="{FF2B5EF4-FFF2-40B4-BE49-F238E27FC236}">
                <a16:creationId xmlns:a16="http://schemas.microsoft.com/office/drawing/2014/main" id="{AD3B2315-9606-CEDF-E9C0-BD268EA3E496}"/>
              </a:ext>
            </a:extLst>
          </p:cNvPr>
          <p:cNvSpPr/>
          <p:nvPr/>
        </p:nvSpPr>
        <p:spPr>
          <a:xfrm>
            <a:off x="5001599" y="5392130"/>
            <a:ext cx="1506426" cy="736618"/>
          </a:xfrm>
          <a:prstGeom prst="rect">
            <a:avLst/>
          </a:prstGeom>
          <a:gradFill rotWithShape="0">
            <a:gsLst>
              <a:gs pos="0">
                <a:srgbClr val="B5D4A7"/>
              </a:gs>
              <a:gs pos="100000">
                <a:srgbClr val="A9CD99"/>
              </a:gs>
            </a:gsLst>
            <a:lin ang="5400000"/>
          </a:gra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2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Rechteck 8">
            <a:extLst>
              <a:ext uri="{FF2B5EF4-FFF2-40B4-BE49-F238E27FC236}">
                <a16:creationId xmlns:a16="http://schemas.microsoft.com/office/drawing/2014/main" id="{B732C47B-A4EC-D28C-C0E1-F509BE9D583E}"/>
              </a:ext>
            </a:extLst>
          </p:cNvPr>
          <p:cNvSpPr/>
          <p:nvPr/>
        </p:nvSpPr>
        <p:spPr>
          <a:xfrm>
            <a:off x="7212170" y="5392130"/>
            <a:ext cx="1506425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feld 9">
            <a:extLst>
              <a:ext uri="{FF2B5EF4-FFF2-40B4-BE49-F238E27FC236}">
                <a16:creationId xmlns:a16="http://schemas.microsoft.com/office/drawing/2014/main" id="{2FEBB9C9-F544-3AF1-199E-3AFC770C2105}"/>
              </a:ext>
            </a:extLst>
          </p:cNvPr>
          <p:cNvSpPr/>
          <p:nvPr/>
        </p:nvSpPr>
        <p:spPr>
          <a:xfrm>
            <a:off x="4458909" y="5547020"/>
            <a:ext cx="280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8" name="Textfeld 9">
            <a:extLst>
              <a:ext uri="{FF2B5EF4-FFF2-40B4-BE49-F238E27FC236}">
                <a16:creationId xmlns:a16="http://schemas.microsoft.com/office/drawing/2014/main" id="{44642C83-F12D-9DCD-019B-D86E598779F3}"/>
              </a:ext>
            </a:extLst>
          </p:cNvPr>
          <p:cNvSpPr/>
          <p:nvPr/>
        </p:nvSpPr>
        <p:spPr>
          <a:xfrm>
            <a:off x="6741576" y="5583442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3" name="Speech Bubble: Oval 32">
            <a:extLst>
              <a:ext uri="{FF2B5EF4-FFF2-40B4-BE49-F238E27FC236}">
                <a16:creationId xmlns:a16="http://schemas.microsoft.com/office/drawing/2014/main" id="{D626D055-132E-4C5A-0645-8309A017FE78}"/>
              </a:ext>
            </a:extLst>
          </p:cNvPr>
          <p:cNvSpPr/>
          <p:nvPr/>
        </p:nvSpPr>
        <p:spPr>
          <a:xfrm>
            <a:off x="1904355" y="4541111"/>
            <a:ext cx="1533833" cy="791366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4" name="Speech Bubble: Oval 33">
            <a:extLst>
              <a:ext uri="{FF2B5EF4-FFF2-40B4-BE49-F238E27FC236}">
                <a16:creationId xmlns:a16="http://schemas.microsoft.com/office/drawing/2014/main" id="{0E334569-B531-54AF-AA5D-5FA6DBC8C55E}"/>
              </a:ext>
            </a:extLst>
          </p:cNvPr>
          <p:cNvSpPr/>
          <p:nvPr/>
        </p:nvSpPr>
        <p:spPr>
          <a:xfrm>
            <a:off x="6382893" y="4489098"/>
            <a:ext cx="1533833" cy="791366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8" name="Speech Bubble: Oval 37">
            <a:extLst>
              <a:ext uri="{FF2B5EF4-FFF2-40B4-BE49-F238E27FC236}">
                <a16:creationId xmlns:a16="http://schemas.microsoft.com/office/drawing/2014/main" id="{296C7E49-39F2-390F-15D4-46170212FBB1}"/>
              </a:ext>
            </a:extLst>
          </p:cNvPr>
          <p:cNvSpPr/>
          <p:nvPr/>
        </p:nvSpPr>
        <p:spPr>
          <a:xfrm>
            <a:off x="4227418" y="4541111"/>
            <a:ext cx="1506427" cy="736617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Aufgabe2 (Rechts-Links-Position)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E1FEBF5-9E80-4361-ABE4-3863331B7B3A}"/>
              </a:ext>
            </a:extLst>
          </p:cNvPr>
          <p:cNvSpPr txBox="1"/>
          <p:nvPr/>
        </p:nvSpPr>
        <p:spPr>
          <a:xfrm>
            <a:off x="8032152" y="6438001"/>
            <a:ext cx="4238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 smtClean="0"/>
              <a:t>Die angegebene Reihenfolge </a:t>
            </a:r>
            <a:r>
              <a:rPr lang="de-DE" sz="1600" i="1" dirty="0"/>
              <a:t>ist nur ein </a:t>
            </a:r>
            <a:r>
              <a:rPr lang="de-DE" sz="1600" i="1" dirty="0" smtClean="0"/>
              <a:t>Beispiel</a:t>
            </a:r>
            <a:endParaRPr lang="de-DE" sz="1600" i="1" dirty="0"/>
          </a:p>
        </p:txBody>
      </p:sp>
    </p:spTree>
    <p:extLst>
      <p:ext uri="{BB962C8B-B14F-4D97-AF65-F5344CB8AC3E}">
        <p14:creationId xmlns:p14="http://schemas.microsoft.com/office/powerpoint/2010/main" val="3985688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469910" y="1838924"/>
            <a:ext cx="9144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Sie mit den Aufgaben etwas vertraut zu machen, 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beginnen wir mit einem kurzen Test-Block.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>Jetzt geht es los!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574169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peech Bubble: Oval 32">
            <a:extLst>
              <a:ext uri="{FF2B5EF4-FFF2-40B4-BE49-F238E27FC236}">
                <a16:creationId xmlns:a16="http://schemas.microsoft.com/office/drawing/2014/main" id="{D626D055-132E-4C5A-0645-8309A017FE78}"/>
              </a:ext>
            </a:extLst>
          </p:cNvPr>
          <p:cNvSpPr/>
          <p:nvPr/>
        </p:nvSpPr>
        <p:spPr>
          <a:xfrm>
            <a:off x="3532554" y="1883506"/>
            <a:ext cx="4947138" cy="2649417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Aufgabe 1 </a:t>
            </a:r>
            <a:br>
              <a:rPr lang="en-US" sz="2800" b="1" dirty="0"/>
            </a:br>
            <a:r>
              <a:rPr lang="en-US" sz="2800" b="1" dirty="0"/>
              <a:t>(Lage des Hauses auf einer Karte)</a:t>
            </a:r>
          </a:p>
        </p:txBody>
      </p:sp>
    </p:spTree>
    <p:extLst>
      <p:ext uri="{BB962C8B-B14F-4D97-AF65-F5344CB8AC3E}">
        <p14:creationId xmlns:p14="http://schemas.microsoft.com/office/powerpoint/2010/main" val="148269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323838"/>
            <a:ext cx="6360660" cy="47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02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Richtig, die</a:t>
            </a:r>
            <a:r>
              <a:rPr kumimoji="0" lang="de-DE" sz="3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korrekte Position ist: </a:t>
            </a:r>
            <a:endParaRPr kumimoji="0" lang="de-D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323838"/>
            <a:ext cx="6360660" cy="47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8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289518"/>
            <a:ext cx="6420287" cy="479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6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8" y="1289518"/>
            <a:ext cx="6435878" cy="480451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Falsch, die</a:t>
            </a:r>
            <a:r>
              <a:rPr kumimoji="0" lang="de-DE" sz="3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korrekte Position ist: </a:t>
            </a:r>
            <a:endParaRPr kumimoji="0" lang="de-D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6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37" y="1323838"/>
            <a:ext cx="6420287" cy="47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0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Zu spät, die</a:t>
            </a:r>
            <a:r>
              <a:rPr kumimoji="0" lang="de-DE" sz="3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korrekte Position ist: </a:t>
            </a:r>
            <a:endParaRPr kumimoji="0" lang="de-D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37" y="1323838"/>
            <a:ext cx="6420287" cy="47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9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peech Bubble: Oval 32">
            <a:extLst>
              <a:ext uri="{FF2B5EF4-FFF2-40B4-BE49-F238E27FC236}">
                <a16:creationId xmlns:a16="http://schemas.microsoft.com/office/drawing/2014/main" id="{D626D055-132E-4C5A-0645-8309A017FE78}"/>
              </a:ext>
            </a:extLst>
          </p:cNvPr>
          <p:cNvSpPr/>
          <p:nvPr/>
        </p:nvSpPr>
        <p:spPr>
          <a:xfrm>
            <a:off x="3532554" y="1883506"/>
            <a:ext cx="4947138" cy="2649417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Aufgabe 2 (</a:t>
            </a:r>
            <a:r>
              <a:rPr lang="en-US" sz="2800" b="1" dirty="0" err="1"/>
              <a:t>Rechts</a:t>
            </a:r>
            <a:r>
              <a:rPr lang="en-US" sz="2800" b="1" dirty="0"/>
              <a:t>-Links-Position)</a:t>
            </a:r>
          </a:p>
        </p:txBody>
      </p:sp>
    </p:spTree>
    <p:extLst>
      <p:ext uri="{BB962C8B-B14F-4D97-AF65-F5344CB8AC3E}">
        <p14:creationId xmlns:p14="http://schemas.microsoft.com/office/powerpoint/2010/main" val="99926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133600" y="484555"/>
            <a:ext cx="751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150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 das Haus auf der rechten Seite?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51" y="1270441"/>
            <a:ext cx="6157612" cy="487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1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2133600" y="484555"/>
            <a:ext cx="751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150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 das Haus auf der </a:t>
            </a:r>
            <a:r>
              <a:rPr lang="de-DE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150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inken Seite?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52" y="1297354"/>
            <a:ext cx="6063826" cy="482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6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5752DC4-76D6-2BEE-F81C-FBCB953457B6}"/>
              </a:ext>
            </a:extLst>
          </p:cNvPr>
          <p:cNvSpPr txBox="1"/>
          <p:nvPr/>
        </p:nvSpPr>
        <p:spPr>
          <a:xfrm>
            <a:off x="4227226" y="2724150"/>
            <a:ext cx="4704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Und so weiter...</a:t>
            </a:r>
          </a:p>
        </p:txBody>
      </p:sp>
    </p:spTree>
    <p:extLst>
      <p:ext uri="{BB962C8B-B14F-4D97-AF65-F5344CB8AC3E}">
        <p14:creationId xmlns:p14="http://schemas.microsoft.com/office/powerpoint/2010/main" val="401831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5752DC4-76D6-2BEE-F81C-FBCB953457B6}"/>
              </a:ext>
            </a:extLst>
          </p:cNvPr>
          <p:cNvSpPr txBox="1"/>
          <p:nvPr/>
        </p:nvSpPr>
        <p:spPr>
          <a:xfrm>
            <a:off x="1148863" y="2915140"/>
            <a:ext cx="9792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de-DE" sz="36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Sie haben vor Beginn der eigentlichen Aufgabe noch Fragen?</a:t>
            </a:r>
            <a:endParaRPr lang="de-DE" sz="36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10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Breitbild</PresentationFormat>
  <Paragraphs>92</Paragraphs>
  <Slides>27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DejaVu Sans</vt:lpstr>
      <vt:lpstr>Symbol</vt:lpstr>
      <vt:lpstr>Times New Roman</vt:lpstr>
      <vt:lpstr>Wingdings</vt:lpstr>
      <vt:lpstr>Office Theme</vt:lpstr>
      <vt:lpstr>1_Office Theme</vt:lpstr>
      <vt:lpstr>PowerPoint-Präsentation</vt:lpstr>
      <vt:lpstr>Aufgabe 1   Dafür werden Ihnen verschiedene Häuser auf einem Stadtplan gezeigt. Der Stadtplan sieht so aus:</vt:lpstr>
      <vt:lpstr>Dasselbe Haus wird mehrmals an verschiedenen Plätzen                                 auf diesem Stadtplan gezeigt.</vt:lpstr>
      <vt:lpstr>ABER:   Jedes Haus hat einen „Lieblingsplatz“, an dem es besonders häufig vorkommt.   Diesen Platz sollen Sie herausfinden! </vt:lpstr>
      <vt:lpstr>Drücken Sie JA,                                                                                                       wenn Sie meinen, dass der gezeigte Ort der Lieblingsplatz des Hauses ist,  und NEIN, wenn nicht.   Drücken Sie immer eine Taste, ab dem ersten Bild!    JA -&gt; Taste1 (Zeigefinger)  NEIN -&gt; Taste2 (Daumen)</vt:lpstr>
      <vt:lpstr>PowerPoint-Präsentation</vt:lpstr>
      <vt:lpstr>In dieser Aufgabe</vt:lpstr>
      <vt:lpstr>Ablauf der Aufgaben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Um Sie mit den Aufgaben etwas vertraut zu machen,  beginnen wir mit einem kurzen Test-Block.   Jetzt geht es los!  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marihan sherif</dc:creator>
  <cp:lastModifiedBy>Fromm, Anna</cp:lastModifiedBy>
  <cp:revision>78</cp:revision>
  <dcterms:created xsi:type="dcterms:W3CDTF">2023-06-27T18:07:07Z</dcterms:created>
  <dcterms:modified xsi:type="dcterms:W3CDTF">2023-07-14T12:42:04Z</dcterms:modified>
</cp:coreProperties>
</file>