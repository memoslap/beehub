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comment1.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95" r:id="rId2"/>
    <p:sldId id="294" r:id="rId3"/>
    <p:sldId id="257" r:id="rId4"/>
    <p:sldId id="258" r:id="rId5"/>
    <p:sldId id="300" r:id="rId6"/>
    <p:sldId id="299" r:id="rId7"/>
    <p:sldId id="261" r:id="rId8"/>
    <p:sldId id="262" r:id="rId9"/>
    <p:sldId id="263" r:id="rId10"/>
    <p:sldId id="264" r:id="rId11"/>
    <p:sldId id="265" r:id="rId12"/>
    <p:sldId id="266" r:id="rId13"/>
    <p:sldId id="268" r:id="rId14"/>
    <p:sldId id="301" r:id="rId15"/>
    <p:sldId id="282" r:id="rId16"/>
    <p:sldId id="291" r:id="rId17"/>
    <p:sldId id="276" r:id="rId18"/>
    <p:sldId id="283" r:id="rId19"/>
    <p:sldId id="278" r:id="rId20"/>
    <p:sldId id="279" r:id="rId21"/>
    <p:sldId id="280" r:id="rId22"/>
    <p:sldId id="281" r:id="rId23"/>
    <p:sldId id="290" r:id="rId24"/>
    <p:sldId id="287" r:id="rId25"/>
    <p:sldId id="286" r:id="rId26"/>
    <p:sldId id="288" r:id="rId27"/>
    <p:sldId id="284" r:id="rId28"/>
    <p:sldId id="289" r:id="rId29"/>
    <p:sldId id="285" r:id="rId30"/>
    <p:sldId id="277" r:id="rId31"/>
    <p:sldId id="270" r:id="rId32"/>
    <p:sldId id="298" r:id="rId3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catas, Harun" initials="KH" lastIdx="1" clrIdx="0">
    <p:extLst>
      <p:ext uri="{19B8F6BF-5375-455C-9EA6-DF929625EA0E}">
        <p15:presenceInfo xmlns:p15="http://schemas.microsoft.com/office/powerpoint/2012/main" userId="S-1-5-21-11350593-1987465367-1023578015-65819" providerId="AD"/>
      </p:ext>
    </p:extLst>
  </p:cmAuthor>
  <p:cmAuthor id="2" name="Marcus Meinzer" initials="MM" lastIdx="4" clrIdx="1">
    <p:extLst>
      <p:ext uri="{19B8F6BF-5375-455C-9EA6-DF929625EA0E}">
        <p15:presenceInfo xmlns:p15="http://schemas.microsoft.com/office/powerpoint/2012/main" userId="Marcus Meinz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0" d="100"/>
          <a:sy n="120" d="100"/>
        </p:scale>
        <p:origin x="198"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7-11T14:24:07.722" idx="4">
    <p:pos x="10" y="10"/>
    <p:text>delete "bitte drücken Sie..."</p:text>
    <p:extLst>
      <p:ext uri="{C676402C-5697-4E1C-873F-D02D1690AC5C}">
        <p15:threadingInfo xmlns:p15="http://schemas.microsoft.com/office/powerpoint/2012/main" timeZoneBias="-1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1"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de-DE" sz="1800" b="0" strike="noStrike" spc="-1">
                <a:solidFill>
                  <a:srgbClr val="000000"/>
                </a:solidFill>
                <a:latin typeface="Calibri"/>
              </a:rPr>
              <a:t>Click to move the slide</a:t>
            </a: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US" sz="2000" b="0" strike="noStrike" spc="-1">
                <a:latin typeface="Arial"/>
              </a:rPr>
              <a:t>Click to edit the notes format</a:t>
            </a:r>
          </a:p>
        </p:txBody>
      </p:sp>
      <p:sp>
        <p:nvSpPr>
          <p:cNvPr id="4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US" sz="1400" b="0" strike="noStrike" spc="-1">
                <a:latin typeface="Times New Roman"/>
              </a:rPr>
              <a:t>&lt;header&gt;</a:t>
            </a:r>
          </a:p>
        </p:txBody>
      </p:sp>
      <p:sp>
        <p:nvSpPr>
          <p:cNvPr id="44" name="PlaceHolder 4"/>
          <p:cNvSpPr>
            <a:spLocks noGrp="1"/>
          </p:cNvSpPr>
          <p:nvPr>
            <p:ph type="dt" idx="4"/>
          </p:nvPr>
        </p:nvSpPr>
        <p:spPr>
          <a:xfrm>
            <a:off x="4278960" y="0"/>
            <a:ext cx="3280680" cy="534240"/>
          </a:xfrm>
          <a:prstGeom prst="rect">
            <a:avLst/>
          </a:prstGeom>
          <a:noFill/>
          <a:ln w="0">
            <a:noFill/>
          </a:ln>
        </p:spPr>
        <p:txBody>
          <a:bodyPr lIns="0" tIns="0" rIns="0" bIns="0" anchor="t">
            <a:noAutofit/>
          </a:bodyPr>
          <a:lstStyle>
            <a:lvl1pPr algn="r">
              <a:buNone/>
              <a:defRPr lang="en-US" sz="1400" b="0" strike="noStrike" spc="-1">
                <a:latin typeface="Times New Roman"/>
              </a:defRPr>
            </a:lvl1pPr>
          </a:lstStyle>
          <a:p>
            <a:pPr algn="r">
              <a:buNone/>
            </a:pPr>
            <a:r>
              <a:rPr lang="en-US" sz="1400" b="0" strike="noStrike" spc="-1">
                <a:latin typeface="Times New Roman"/>
              </a:rPr>
              <a:t>&lt;date/time&gt;</a:t>
            </a: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a:defRPr lang="en-US" sz="1400" b="0" strike="noStrike" spc="-1">
                <a:latin typeface="Times New Roman"/>
              </a:defRPr>
            </a:lvl1pPr>
          </a:lstStyle>
          <a:p>
            <a:r>
              <a:rPr lang="en-US" sz="1400" b="0" strike="noStrike" spc="-1">
                <a:latin typeface="Times New Roman"/>
              </a:rPr>
              <a:t>&lt;footer&gt;</a:t>
            </a: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algn="r">
              <a:buNone/>
              <a:defRPr lang="en-US" sz="1400" b="0" strike="noStrike" spc="-1">
                <a:latin typeface="Times New Roman"/>
              </a:defRPr>
            </a:lvl1pPr>
          </a:lstStyle>
          <a:p>
            <a:pPr algn="r">
              <a:buNone/>
            </a:pPr>
            <a:fld id="{FF3A229C-F424-4593-BDDC-A9878C126C3D}" type="slidenum">
              <a:rPr lang="en-US" sz="1400" b="0" strike="noStrike" spc="-1">
                <a:latin typeface="Times New Roman"/>
              </a:rPr>
              <a:t>‹Nr.›</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7488" y="812800"/>
            <a:ext cx="7124700" cy="4008438"/>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DC0E653-B200-42D6-B295-9EB1AA01AC85}" type="slidenum">
              <a:rPr lang="de-DE" smtClean="0"/>
              <a:t>1</a:t>
            </a:fld>
            <a:endParaRPr lang="de-DE"/>
          </a:p>
        </p:txBody>
      </p:sp>
    </p:spTree>
    <p:extLst>
      <p:ext uri="{BB962C8B-B14F-4D97-AF65-F5344CB8AC3E}">
        <p14:creationId xmlns:p14="http://schemas.microsoft.com/office/powerpoint/2010/main" val="1416418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noRot="1" noChangeAspect="1"/>
          </p:cNvSpPr>
          <p:nvPr>
            <p:ph type="sldImg"/>
          </p:nvPr>
        </p:nvSpPr>
        <p:spPr>
          <a:xfrm>
            <a:off x="685800" y="1143000"/>
            <a:ext cx="5486400" cy="3086100"/>
          </a:xfrm>
          <a:prstGeom prst="rect">
            <a:avLst/>
          </a:prstGeom>
          <a:ln w="0">
            <a:noFill/>
          </a:ln>
        </p:spPr>
      </p:sp>
      <p:sp>
        <p:nvSpPr>
          <p:cNvPr id="18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85"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0418BF17-1D4D-4863-BB73-6A553816E0FA}" type="slidenum">
              <a:rPr lang="de-DE" sz="1200" b="0" strike="noStrike" spc="-1">
                <a:solidFill>
                  <a:srgbClr val="000000"/>
                </a:solidFill>
                <a:latin typeface="+mn-lt"/>
                <a:ea typeface="+mn-ea"/>
              </a:rPr>
              <a:t>2</a:t>
            </a:fld>
            <a:endParaRPr lang="en-US" sz="1200" b="0" strike="noStrike" spc="-1">
              <a:latin typeface="Times New Roman"/>
            </a:endParaRPr>
          </a:p>
        </p:txBody>
      </p:sp>
    </p:spTree>
    <p:extLst>
      <p:ext uri="{BB962C8B-B14F-4D97-AF65-F5344CB8AC3E}">
        <p14:creationId xmlns:p14="http://schemas.microsoft.com/office/powerpoint/2010/main" val="3351255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noRot="1" noChangeAspect="1"/>
          </p:cNvSpPr>
          <p:nvPr>
            <p:ph type="sldImg"/>
          </p:nvPr>
        </p:nvSpPr>
        <p:spPr>
          <a:xfrm>
            <a:off x="685800" y="1143000"/>
            <a:ext cx="5486400" cy="3086100"/>
          </a:xfrm>
          <a:prstGeom prst="rect">
            <a:avLst/>
          </a:prstGeom>
          <a:ln w="0">
            <a:noFill/>
          </a:ln>
        </p:spPr>
      </p:sp>
      <p:sp>
        <p:nvSpPr>
          <p:cNvPr id="187"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88"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E1AC143F-CE07-4837-A50A-B0E0063DB6EF}" type="slidenum">
              <a:rPr lang="de-DE" sz="1200" b="0" strike="noStrike" spc="-1">
                <a:solidFill>
                  <a:srgbClr val="000000"/>
                </a:solidFill>
                <a:latin typeface="+mn-lt"/>
                <a:ea typeface="+mn-ea"/>
              </a:rPr>
              <a:t>3</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noRot="1" noChangeAspect="1"/>
          </p:cNvSpPr>
          <p:nvPr>
            <p:ph type="sldImg"/>
          </p:nvPr>
        </p:nvSpPr>
        <p:spPr>
          <a:xfrm>
            <a:off x="685800" y="1143000"/>
            <a:ext cx="5486400" cy="3086100"/>
          </a:xfrm>
          <a:prstGeom prst="rect">
            <a:avLst/>
          </a:prstGeom>
          <a:ln w="0">
            <a:noFill/>
          </a:ln>
        </p:spPr>
      </p:sp>
      <p:sp>
        <p:nvSpPr>
          <p:cNvPr id="19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91"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A8D7E948-2EA6-496A-BA8C-B08AF420B16E}" type="slidenum">
              <a:rPr lang="de-DE" sz="1200" b="0" strike="noStrike" spc="-1">
                <a:solidFill>
                  <a:srgbClr val="000000"/>
                </a:solidFill>
                <a:latin typeface="+mn-lt"/>
                <a:ea typeface="+mn-ea"/>
              </a:rPr>
              <a:t>4</a:t>
            </a:fld>
            <a:endParaRPr lang="en-US" sz="1200" b="0" strike="noStrike" spc="-1">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noRot="1" noChangeAspect="1"/>
          </p:cNvSpPr>
          <p:nvPr>
            <p:ph type="sldImg"/>
          </p:nvPr>
        </p:nvSpPr>
        <p:spPr>
          <a:xfrm>
            <a:off x="685800" y="1143000"/>
            <a:ext cx="5486400" cy="3086100"/>
          </a:xfrm>
          <a:prstGeom prst="rect">
            <a:avLst/>
          </a:prstGeom>
          <a:ln w="0">
            <a:noFill/>
          </a:ln>
        </p:spPr>
      </p:sp>
      <p:sp>
        <p:nvSpPr>
          <p:cNvPr id="193"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94"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80A1ABCD-7980-4C2A-8A62-B25C33ED64B2}" type="slidenum">
              <a:rPr lang="de-DE" sz="1200" b="0" strike="noStrike" spc="-1">
                <a:solidFill>
                  <a:srgbClr val="000000"/>
                </a:solidFill>
                <a:latin typeface="+mn-lt"/>
                <a:ea typeface="+mn-ea"/>
              </a:rPr>
              <a:t>5</a:t>
            </a:fld>
            <a:endParaRPr lang="en-US" sz="1200" b="0" strike="noStrike" spc="-1">
              <a:latin typeface="Times New Roman"/>
            </a:endParaRPr>
          </a:p>
        </p:txBody>
      </p:sp>
    </p:spTree>
    <p:extLst>
      <p:ext uri="{BB962C8B-B14F-4D97-AF65-F5344CB8AC3E}">
        <p14:creationId xmlns:p14="http://schemas.microsoft.com/office/powerpoint/2010/main" val="2966513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laceHolder 1"/>
          <p:cNvSpPr>
            <a:spLocks noGrp="1" noRot="1" noChangeAspect="1"/>
          </p:cNvSpPr>
          <p:nvPr>
            <p:ph type="sldImg"/>
          </p:nvPr>
        </p:nvSpPr>
        <p:spPr>
          <a:xfrm>
            <a:off x="685800" y="1143000"/>
            <a:ext cx="5486400" cy="3086100"/>
          </a:xfrm>
          <a:prstGeom prst="rect">
            <a:avLst/>
          </a:prstGeom>
          <a:ln w="0">
            <a:noFill/>
          </a:ln>
        </p:spPr>
      </p:sp>
      <p:sp>
        <p:nvSpPr>
          <p:cNvPr id="196"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197"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5916610E-8333-4807-B914-E3F3D474274B}" type="slidenum">
              <a:rPr lang="de-DE" sz="1200" b="0" strike="noStrike" spc="-1">
                <a:solidFill>
                  <a:srgbClr val="000000"/>
                </a:solidFill>
                <a:latin typeface="+mn-lt"/>
                <a:ea typeface="+mn-ea"/>
              </a:rPr>
              <a:t>6</a:t>
            </a:fld>
            <a:endParaRPr lang="en-US" sz="1200" b="0" strike="noStrike" spc="-1">
              <a:latin typeface="Times New Roman"/>
            </a:endParaRPr>
          </a:p>
        </p:txBody>
      </p:sp>
    </p:spTree>
    <p:extLst>
      <p:ext uri="{BB962C8B-B14F-4D97-AF65-F5344CB8AC3E}">
        <p14:creationId xmlns:p14="http://schemas.microsoft.com/office/powerpoint/2010/main" val="3800748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noRot="1" noChangeAspect="1"/>
          </p:cNvSpPr>
          <p:nvPr>
            <p:ph type="sldImg"/>
          </p:nvPr>
        </p:nvSpPr>
        <p:spPr>
          <a:xfrm>
            <a:off x="685800" y="1143000"/>
            <a:ext cx="5486400" cy="3086100"/>
          </a:xfrm>
          <a:prstGeom prst="rect">
            <a:avLst/>
          </a:prstGeom>
          <a:ln w="0">
            <a:noFill/>
          </a:ln>
        </p:spPr>
      </p:sp>
      <p:sp>
        <p:nvSpPr>
          <p:cNvPr id="199"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0"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909B5714-0C60-436C-9A6F-053943F5E615}" type="slidenum">
              <a:rPr lang="de-DE" sz="1200" b="0" strike="noStrike" spc="-1">
                <a:solidFill>
                  <a:srgbClr val="000000"/>
                </a:solidFill>
                <a:latin typeface="+mn-lt"/>
                <a:ea typeface="+mn-ea"/>
              </a:rPr>
              <a:t>7</a:t>
            </a:fld>
            <a:endParaRPr lang="en-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PlaceHolder 1"/>
          <p:cNvSpPr>
            <a:spLocks noGrp="1" noRot="1" noChangeAspect="1"/>
          </p:cNvSpPr>
          <p:nvPr>
            <p:ph type="sldImg"/>
          </p:nvPr>
        </p:nvSpPr>
        <p:spPr>
          <a:xfrm>
            <a:off x="685800" y="1143000"/>
            <a:ext cx="5486400" cy="3086100"/>
          </a:xfrm>
          <a:prstGeom prst="rect">
            <a:avLst/>
          </a:prstGeom>
          <a:ln w="0">
            <a:noFill/>
          </a:ln>
        </p:spPr>
      </p:sp>
      <p:sp>
        <p:nvSpPr>
          <p:cNvPr id="202"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3"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725A4BF1-CAC1-4801-BB0E-6952CD755BAC}" type="slidenum">
              <a:rPr lang="de-DE" sz="1200" b="0" strike="noStrike" spc="-1">
                <a:solidFill>
                  <a:srgbClr val="000000"/>
                </a:solidFill>
                <a:latin typeface="+mn-lt"/>
                <a:ea typeface="+mn-ea"/>
              </a:rPr>
              <a:t>8</a:t>
            </a:fld>
            <a:endParaRPr lang="en-US" sz="1200" b="0" strike="noStrike" spc="-1">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noRot="1" noChangeAspect="1"/>
          </p:cNvSpPr>
          <p:nvPr>
            <p:ph type="sldImg"/>
          </p:nvPr>
        </p:nvSpPr>
        <p:spPr>
          <a:xfrm>
            <a:off x="685800" y="1143000"/>
            <a:ext cx="5486400" cy="3086100"/>
          </a:xfrm>
          <a:prstGeom prst="rect">
            <a:avLst/>
          </a:prstGeom>
          <a:ln w="0">
            <a:noFill/>
          </a:ln>
        </p:spPr>
      </p:sp>
      <p:sp>
        <p:nvSpPr>
          <p:cNvPr id="205"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6"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3A8F0A0E-D723-4EDD-BC12-940B28B14008}" type="slidenum">
              <a:rPr lang="de-DE" sz="1200" b="0" strike="noStrike" spc="-1">
                <a:solidFill>
                  <a:srgbClr val="000000"/>
                </a:solidFill>
                <a:latin typeface="+mn-lt"/>
                <a:ea typeface="+mn-ea"/>
              </a:rPr>
              <a:t>9</a:t>
            </a:fld>
            <a:endParaRPr lang="en-U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noRot="1" noChangeAspect="1"/>
          </p:cNvSpPr>
          <p:nvPr>
            <p:ph type="sldImg"/>
          </p:nvPr>
        </p:nvSpPr>
        <p:spPr>
          <a:xfrm>
            <a:off x="685800" y="1143000"/>
            <a:ext cx="5486400" cy="3086100"/>
          </a:xfrm>
          <a:prstGeom prst="rect">
            <a:avLst/>
          </a:prstGeom>
          <a:ln w="0">
            <a:noFill/>
          </a:ln>
        </p:spPr>
      </p:sp>
      <p:sp>
        <p:nvSpPr>
          <p:cNvPr id="208"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09"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360E9EDA-D2C6-4EC1-9DB5-A333FA1FA42E}" type="slidenum">
              <a:rPr lang="de-DE" sz="1200" b="0" strike="noStrike" spc="-1">
                <a:solidFill>
                  <a:srgbClr val="000000"/>
                </a:solidFill>
                <a:latin typeface="+mn-lt"/>
                <a:ea typeface="+mn-ea"/>
              </a:rPr>
              <a:t>10</a:t>
            </a:fld>
            <a:endParaRPr lang="en-US" sz="1200" b="0" strike="noStrike" spc="-1">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PlaceHolder 1"/>
          <p:cNvSpPr>
            <a:spLocks noGrp="1" noRot="1" noChangeAspect="1"/>
          </p:cNvSpPr>
          <p:nvPr>
            <p:ph type="sldImg"/>
          </p:nvPr>
        </p:nvSpPr>
        <p:spPr>
          <a:xfrm>
            <a:off x="685800" y="1143000"/>
            <a:ext cx="5486400" cy="3086100"/>
          </a:xfrm>
          <a:prstGeom prst="rect">
            <a:avLst/>
          </a:prstGeom>
          <a:ln w="0">
            <a:noFill/>
          </a:ln>
        </p:spPr>
      </p:sp>
      <p:sp>
        <p:nvSpPr>
          <p:cNvPr id="211"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12"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DBCC8FA1-84E1-4325-AC60-C4377EB5EE30}" type="slidenum">
              <a:rPr lang="de-DE" sz="1200" b="0" strike="noStrike" spc="-1">
                <a:solidFill>
                  <a:srgbClr val="000000"/>
                </a:solidFill>
                <a:latin typeface="+mn-lt"/>
                <a:ea typeface="+mn-ea"/>
              </a:rPr>
              <a:t>11</a:t>
            </a:fld>
            <a:endParaRPr lang="en-US" sz="1200" b="0" strike="noStrike" spc="-1">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PlaceHolder 1"/>
          <p:cNvSpPr>
            <a:spLocks noGrp="1" noRot="1" noChangeAspect="1"/>
          </p:cNvSpPr>
          <p:nvPr>
            <p:ph type="sldImg"/>
          </p:nvPr>
        </p:nvSpPr>
        <p:spPr>
          <a:xfrm>
            <a:off x="685800" y="1143000"/>
            <a:ext cx="5486400" cy="3086100"/>
          </a:xfrm>
          <a:prstGeom prst="rect">
            <a:avLst/>
          </a:prstGeom>
          <a:ln w="0">
            <a:noFill/>
          </a:ln>
        </p:spPr>
      </p:sp>
      <p:sp>
        <p:nvSpPr>
          <p:cNvPr id="214"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15"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94F1C190-4257-4C34-9417-C918C2C7B6E2}" type="slidenum">
              <a:rPr lang="de-DE" sz="1200" b="0" strike="noStrike" spc="-1">
                <a:solidFill>
                  <a:srgbClr val="000000"/>
                </a:solidFill>
                <a:latin typeface="+mn-lt"/>
                <a:ea typeface="+mn-ea"/>
              </a:rPr>
              <a:t>12</a:t>
            </a:fld>
            <a:endParaRPr lang="en-US" sz="1200" b="0" strike="noStrike" spc="-1">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noRot="1" noChangeAspect="1"/>
          </p:cNvSpPr>
          <p:nvPr>
            <p:ph type="sldImg"/>
          </p:nvPr>
        </p:nvSpPr>
        <p:spPr>
          <a:xfrm>
            <a:off x="685800" y="1143000"/>
            <a:ext cx="5486400" cy="3086100"/>
          </a:xfrm>
          <a:prstGeom prst="rect">
            <a:avLst/>
          </a:prstGeom>
          <a:ln w="0">
            <a:noFill/>
          </a:ln>
        </p:spPr>
      </p:sp>
      <p:sp>
        <p:nvSpPr>
          <p:cNvPr id="220"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21"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7A8AF51A-DB5A-4110-A291-7D4179D4B852}" type="slidenum">
              <a:rPr lang="de-DE" sz="1200" b="0" strike="noStrike" spc="-1">
                <a:solidFill>
                  <a:srgbClr val="000000"/>
                </a:solidFill>
                <a:latin typeface="+mn-lt"/>
                <a:ea typeface="+mn-ea"/>
              </a:rPr>
              <a:t>13</a:t>
            </a:fld>
            <a:endParaRPr lang="en-US" sz="1200" b="0" strike="noStrike" spc="-1">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217488" y="812800"/>
            <a:ext cx="7124700" cy="4008438"/>
          </a:xfrm>
        </p:spPr>
      </p:sp>
      <p:sp>
        <p:nvSpPr>
          <p:cNvPr id="3" name="Notizenplatzhalter 2"/>
          <p:cNvSpPr>
            <a:spLocks noGrp="1"/>
          </p:cNvSpPr>
          <p:nvPr>
            <p:ph type="body" idx="1"/>
          </p:nvPr>
        </p:nvSpPr>
        <p:spPr/>
        <p:txBody>
          <a:bodyPr/>
          <a:lstStyle/>
          <a:p>
            <a:r>
              <a:rPr lang="en-US" dirty="0"/>
              <a:t>To familiarize you with the task, let's start with a short test block.</a:t>
            </a:r>
            <a:endParaRPr lang="de-DE" dirty="0"/>
          </a:p>
        </p:txBody>
      </p:sp>
      <p:sp>
        <p:nvSpPr>
          <p:cNvPr id="4" name="Foliennummernplatzhalter 3"/>
          <p:cNvSpPr>
            <a:spLocks noGrp="1"/>
          </p:cNvSpPr>
          <p:nvPr>
            <p:ph type="sldNum" sz="quarter" idx="10"/>
          </p:nvPr>
        </p:nvSpPr>
        <p:spPr/>
        <p:txBody>
          <a:bodyPr/>
          <a:lstStyle/>
          <a:p>
            <a:fld id="{8DC0E653-B200-42D6-B295-9EB1AA01AC85}" type="slidenum">
              <a:rPr lang="de-DE" smtClean="0"/>
              <a:t>14</a:t>
            </a:fld>
            <a:endParaRPr lang="de-DE"/>
          </a:p>
        </p:txBody>
      </p:sp>
    </p:spTree>
    <p:extLst>
      <p:ext uri="{BB962C8B-B14F-4D97-AF65-F5344CB8AC3E}">
        <p14:creationId xmlns:p14="http://schemas.microsoft.com/office/powerpoint/2010/main" val="671865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noRot="1" noChangeAspect="1"/>
          </p:cNvSpPr>
          <p:nvPr>
            <p:ph type="sldImg"/>
          </p:nvPr>
        </p:nvSpPr>
        <p:spPr>
          <a:xfrm>
            <a:off x="685800" y="1143000"/>
            <a:ext cx="5486400" cy="3086100"/>
          </a:xfrm>
          <a:prstGeom prst="rect">
            <a:avLst/>
          </a:prstGeom>
          <a:ln w="0">
            <a:noFill/>
          </a:ln>
        </p:spPr>
      </p:sp>
      <p:sp>
        <p:nvSpPr>
          <p:cNvPr id="226" name="PlaceHolder 2"/>
          <p:cNvSpPr>
            <a:spLocks noGrp="1"/>
          </p:cNvSpPr>
          <p:nvPr>
            <p:ph type="body"/>
          </p:nvPr>
        </p:nvSpPr>
        <p:spPr>
          <a:xfrm>
            <a:off x="685800" y="4400640"/>
            <a:ext cx="5486040" cy="3600000"/>
          </a:xfrm>
          <a:prstGeom prst="rect">
            <a:avLst/>
          </a:prstGeom>
          <a:noFill/>
          <a:ln w="0">
            <a:noFill/>
          </a:ln>
        </p:spPr>
        <p:txBody>
          <a:bodyPr anchor="t">
            <a:noAutofit/>
          </a:bodyPr>
          <a:lstStyle/>
          <a:p>
            <a:endParaRPr lang="en-US" sz="2000" b="0" strike="noStrike" spc="-1">
              <a:latin typeface="Arial"/>
            </a:endParaRPr>
          </a:p>
        </p:txBody>
      </p:sp>
      <p:sp>
        <p:nvSpPr>
          <p:cNvPr id="227"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lang="de-DE" sz="1200" b="0" strike="noStrike" spc="-1">
                <a:solidFill>
                  <a:srgbClr val="000000"/>
                </a:solidFill>
                <a:latin typeface="+mn-lt"/>
                <a:ea typeface="+mn-ea"/>
              </a:defRPr>
            </a:lvl1pPr>
          </a:lstStyle>
          <a:p>
            <a:pPr algn="r">
              <a:lnSpc>
                <a:spcPct val="100000"/>
              </a:lnSpc>
              <a:buNone/>
            </a:pPr>
            <a:fld id="{79B698CD-67E3-406A-BFA3-B4BDBC317DD9}" type="slidenum">
              <a:rPr lang="de-DE" sz="1200" b="0" strike="noStrike" spc="-1">
                <a:solidFill>
                  <a:srgbClr val="000000"/>
                </a:solidFill>
                <a:latin typeface="+mn-lt"/>
                <a:ea typeface="+mn-ea"/>
              </a:rPr>
              <a:t>31</a:t>
            </a:fld>
            <a:endParaRPr lang="en-US" sz="1200" b="0" strike="noStrike" spc="-1">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7488" y="812800"/>
            <a:ext cx="7124700" cy="4008438"/>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7C5027-DBF7-442C-9F4E-B1E856D1474E}" type="slidenum">
              <a:rPr lang="en-US" smtClean="0"/>
              <a:t>32</a:t>
            </a:fld>
            <a:endParaRPr lang="en-US"/>
          </a:p>
        </p:txBody>
      </p:sp>
    </p:spTree>
    <p:extLst>
      <p:ext uri="{BB962C8B-B14F-4D97-AF65-F5344CB8AC3E}">
        <p14:creationId xmlns:p14="http://schemas.microsoft.com/office/powerpoint/2010/main" val="37327316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276D3DBB-5C36-4104-B305-228B6DEAFA57}" type="slidenum">
              <a:t>‹Nr.›</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F0CA46F0-D5CA-48F5-9888-3B8420A43D10}" type="slidenum">
              <a:t>‹Nr.›</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9886BEA7-9F62-46CF-956F-6D741A5EB472}" type="slidenum">
              <a:t>‹Nr.›</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78FC2FEE-B72A-4A24-A2DF-E0C505D800DB}" type="slidenum">
              <a:t>‹Nr.›</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FD006FED-CC87-4E14-8834-EE118173A629}" type="slidenum">
              <a:t>‹Nr.›</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3640" cy="110667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285A165A-3D77-4BB1-88D9-B4BBEFC9A68E}" type="slidenum">
              <a:t>‹Nr.›</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B721A2F3-D4BC-482C-9061-CE6DFAB932E6}" type="slidenum">
              <a:t>‹Nr.›</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FA8199EF-AE93-41BB-B395-6BF09E26F4B2}" type="slidenum">
              <a:t>‹Nr.›</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C37B63F6-0CB7-43C1-A5C8-4D0180BE64B0}" type="slidenum">
              <a:t>‹Nr.›</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8407E62A-4CED-49C1-81B2-A48E0D6F7AF0}" type="slidenum">
              <a:t>‹Nr.›</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88EA9AAC-29FF-4939-89D9-1EE6A4AA04A5}" type="slidenum">
              <a:t>‹Nr.›</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640" cy="2387160"/>
          </a:xfrm>
          <a:prstGeom prst="rect">
            <a:avLst/>
          </a:prstGeom>
          <a:noFill/>
          <a:ln w="0">
            <a:noFill/>
          </a:ln>
        </p:spPr>
        <p:txBody>
          <a:bodyPr lIns="0" tIns="0" rIns="0" bIns="0" anchor="ctr">
            <a:noAutofit/>
          </a:bodyPr>
          <a:lstStyle/>
          <a:p>
            <a:endParaRPr lang="de-DE" sz="1800" b="0" strike="noStrike" spc="-1">
              <a:solidFill>
                <a:srgbClr val="000000"/>
              </a:solidFill>
              <a:latin typeface="Calibri"/>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a:lnSpc>
                <a:spcPct val="90000"/>
              </a:lnSpc>
              <a:spcBef>
                <a:spcPts val="1417"/>
              </a:spcBef>
              <a:buNone/>
            </a:pPr>
            <a:endParaRPr lang="de-DE" sz="28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9CD09B28-649A-45AE-9F4D-64667398B452}" type="slidenum">
              <a:t>‹Nr.›</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EEBF174E-72A9-47D2-9A7A-A8656326455F}" type="datetimeFigureOut">
              <a:rPr lang="de-DE" smtClean="0"/>
              <a:t>10.04.2024</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144E5B72-3B9E-4097-B1D8-9DEB1121E522}" type="slidenum">
              <a:rPr lang="de-DE" smtClean="0"/>
              <a:t>‹Nr.›</a:t>
            </a:fld>
            <a:endParaRPr lang="de-DE"/>
          </a:p>
        </p:txBody>
      </p:sp>
    </p:spTree>
    <p:extLst>
      <p:ext uri="{BB962C8B-B14F-4D97-AF65-F5344CB8AC3E}">
        <p14:creationId xmlns:p14="http://schemas.microsoft.com/office/powerpoint/2010/main" val="33785223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DEF9C-F6A3-94C5-D8F2-1351488069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D4DEA3-82CD-D00F-BB87-B063876146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8FBEF4-B265-152E-49C3-2EE26C6A8A11}"/>
              </a:ext>
            </a:extLst>
          </p:cNvPr>
          <p:cNvSpPr>
            <a:spLocks noGrp="1"/>
          </p:cNvSpPr>
          <p:nvPr>
            <p:ph type="dt" sz="half" idx="10"/>
          </p:nvPr>
        </p:nvSpPr>
        <p:spPr/>
        <p:txBody>
          <a:bodyPr/>
          <a:lstStyle/>
          <a:p>
            <a:fld id="{52CD75EF-EFB4-4026-95B9-275770A67C68}" type="datetimeFigureOut">
              <a:rPr lang="en-US" smtClean="0"/>
              <a:t>4/10/2024</a:t>
            </a:fld>
            <a:endParaRPr lang="en-US"/>
          </a:p>
        </p:txBody>
      </p:sp>
      <p:sp>
        <p:nvSpPr>
          <p:cNvPr id="5" name="Footer Placeholder 4">
            <a:extLst>
              <a:ext uri="{FF2B5EF4-FFF2-40B4-BE49-F238E27FC236}">
                <a16:creationId xmlns:a16="http://schemas.microsoft.com/office/drawing/2014/main" id="{DB9224B1-7598-3BC2-5D7C-C680900C4A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2A0F0-CDDE-6BF3-38A5-528480FF8CEE}"/>
              </a:ext>
            </a:extLst>
          </p:cNvPr>
          <p:cNvSpPr>
            <a:spLocks noGrp="1"/>
          </p:cNvSpPr>
          <p:nvPr>
            <p:ph type="sldNum" sz="quarter" idx="12"/>
          </p:nvPr>
        </p:nvSpPr>
        <p:spPr/>
        <p:txBody>
          <a:bodyPr/>
          <a:lstStyle/>
          <a:p>
            <a:fld id="{1F3045C0-F0A1-4009-811B-97EA5C040DD0}" type="slidenum">
              <a:rPr lang="en-US" smtClean="0"/>
              <a:t>‹Nr.›</a:t>
            </a:fld>
            <a:endParaRPr lang="en-US"/>
          </a:p>
        </p:txBody>
      </p:sp>
    </p:spTree>
    <p:extLst>
      <p:ext uri="{BB962C8B-B14F-4D97-AF65-F5344CB8AC3E}">
        <p14:creationId xmlns:p14="http://schemas.microsoft.com/office/powerpoint/2010/main" val="635547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anchor="b">
            <a:noAutofit/>
          </a:bodyPr>
          <a:lstStyle/>
          <a:p>
            <a:pPr algn="ctr">
              <a:lnSpc>
                <a:spcPct val="90000"/>
              </a:lnSpc>
              <a:buNone/>
            </a:pPr>
            <a:r>
              <a:rPr lang="de-DE" sz="6000" b="0" strike="noStrike" spc="-1">
                <a:solidFill>
                  <a:srgbClr val="000000"/>
                </a:solidFill>
                <a:latin typeface="Calibri Light"/>
              </a:rPr>
              <a:t>Titelmasterformat durch Klicken bearbeiten</a:t>
            </a:r>
            <a:endParaRPr lang="de-DE" sz="6000" b="0" strike="noStrike" spc="-1">
              <a:solidFill>
                <a:srgbClr val="000000"/>
              </a:solidFill>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lang="de-DE" sz="1200" b="0" strike="noStrike" spc="-1">
                <a:solidFill>
                  <a:srgbClr val="8B8B8B"/>
                </a:solidFill>
                <a:latin typeface="Calibri"/>
              </a:defRPr>
            </a:lvl1pPr>
          </a:lstStyle>
          <a:p>
            <a:pPr>
              <a:lnSpc>
                <a:spcPct val="100000"/>
              </a:lnSpc>
              <a:buNone/>
            </a:pPr>
            <a:r>
              <a:rPr lang="de-DE" sz="1200" b="0" strike="noStrike" spc="-1">
                <a:solidFill>
                  <a:srgbClr val="8B8B8B"/>
                </a:solidFill>
                <a:latin typeface="Calibri"/>
              </a:rPr>
              <a:t>&lt;date/time&gt;</a:t>
            </a:r>
            <a:endParaRPr lang="en-US" sz="1200" b="0" strike="noStrike" spc="-1">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lang="en-US" sz="1400" b="0" strike="noStrike" spc="-1">
                <a:latin typeface="Times New Roman"/>
              </a:defRPr>
            </a:lvl1pPr>
          </a:lstStyle>
          <a:p>
            <a:pPr algn="ctr">
              <a:buNone/>
            </a:pPr>
            <a:r>
              <a:rPr lang="en-US" sz="1400" b="0" strike="noStrike" spc="-1">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lang="de-DE" sz="1200" b="0" strike="noStrike" spc="-1">
                <a:solidFill>
                  <a:srgbClr val="8B8B8B"/>
                </a:solidFill>
                <a:latin typeface="Calibri"/>
              </a:defRPr>
            </a:lvl1pPr>
          </a:lstStyle>
          <a:p>
            <a:pPr algn="r">
              <a:lnSpc>
                <a:spcPct val="100000"/>
              </a:lnSpc>
              <a:buNone/>
            </a:pPr>
            <a:fld id="{BD20AEBC-57E8-46AF-9D60-731F5DBD7FEB}" type="slidenum">
              <a:rPr lang="de-DE" sz="1200" b="0" strike="noStrike" spc="-1">
                <a:solidFill>
                  <a:srgbClr val="8B8B8B"/>
                </a:solidFill>
                <a:latin typeface="Calibri"/>
              </a:rPr>
              <a:t>‹Nr.›</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strike="noStrike" spc="-1">
                <a:solidFill>
                  <a:srgbClr val="000000"/>
                </a:solidFill>
                <a:latin typeface="Calibri"/>
              </a:rPr>
              <a:t>Click to edit the outline text format</a:t>
            </a:r>
          </a:p>
          <a:p>
            <a:pPr marL="864000" lvl="1" indent="-324000">
              <a:lnSpc>
                <a:spcPct val="90000"/>
              </a:lnSpc>
              <a:spcBef>
                <a:spcPts val="1134"/>
              </a:spcBef>
              <a:buClr>
                <a:srgbClr val="000000"/>
              </a:buClr>
              <a:buSzPct val="75000"/>
              <a:buFont typeface="Symbol" charset="2"/>
              <a:buChar char=""/>
            </a:pPr>
            <a:r>
              <a:rPr lang="de-DE" sz="2000" b="0" strike="noStrike" spc="-1">
                <a:solidFill>
                  <a:srgbClr val="000000"/>
                </a:solidFill>
                <a:latin typeface="Calibri"/>
              </a:rPr>
              <a:t>Second Outline Level</a:t>
            </a:r>
          </a:p>
          <a:p>
            <a:pPr marL="1296000" lvl="2" indent="-288000">
              <a:lnSpc>
                <a:spcPct val="90000"/>
              </a:lnSpc>
              <a:spcBef>
                <a:spcPts val="850"/>
              </a:spcBef>
              <a:buClr>
                <a:srgbClr val="000000"/>
              </a:buClr>
              <a:buSzPct val="45000"/>
              <a:buFont typeface="Wingdings" charset="2"/>
              <a:buChar char=""/>
            </a:pPr>
            <a:r>
              <a:rPr lang="de-DE" sz="1800" b="0" strike="noStrike" spc="-1">
                <a:solidFill>
                  <a:srgbClr val="000000"/>
                </a:solidFill>
                <a:latin typeface="Calibri"/>
              </a:rPr>
              <a:t>Third Outline Level</a:t>
            </a:r>
          </a:p>
          <a:p>
            <a:pPr marL="1728000" lvl="3" indent="-216000">
              <a:lnSpc>
                <a:spcPct val="90000"/>
              </a:lnSpc>
              <a:spcBef>
                <a:spcPts val="567"/>
              </a:spcBef>
              <a:buClr>
                <a:srgbClr val="000000"/>
              </a:buClr>
              <a:buSzPct val="75000"/>
              <a:buFont typeface="Symbol" charset="2"/>
              <a:buChar char=""/>
            </a:pPr>
            <a:r>
              <a:rPr lang="de-DE" sz="1800" b="0" strike="noStrike" spc="-1">
                <a:solidFill>
                  <a:srgbClr val="000000"/>
                </a:solidFill>
                <a:latin typeface="Calibri"/>
              </a:rPr>
              <a:t>Fourth Outline Level</a:t>
            </a:r>
          </a:p>
          <a:p>
            <a:pPr marL="2160000" lvl="4" indent="-216000">
              <a:lnSpc>
                <a:spcPct val="90000"/>
              </a:lnSpc>
              <a:spcBef>
                <a:spcPts val="283"/>
              </a:spcBef>
              <a:buClr>
                <a:srgbClr val="000000"/>
              </a:buClr>
              <a:buSzPct val="45000"/>
              <a:buFont typeface="Wingdings" charset="2"/>
              <a:buChar char=""/>
            </a:pPr>
            <a:r>
              <a:rPr lang="de-DE" sz="2000" b="0" strike="noStrike" spc="-1">
                <a:solidFill>
                  <a:srgbClr val="000000"/>
                </a:solidFill>
                <a:latin typeface="Calibri"/>
              </a:rPr>
              <a:t>Fifth Outline Level</a:t>
            </a:r>
          </a:p>
          <a:p>
            <a:pPr marL="2592000" lvl="5" indent="-216000">
              <a:lnSpc>
                <a:spcPct val="90000"/>
              </a:lnSpc>
              <a:spcBef>
                <a:spcPts val="283"/>
              </a:spcBef>
              <a:buClr>
                <a:srgbClr val="000000"/>
              </a:buClr>
              <a:buSzPct val="45000"/>
              <a:buFont typeface="Wingdings" charset="2"/>
              <a:buChar char=""/>
            </a:pPr>
            <a:r>
              <a:rPr lang="de-DE" sz="2000" b="0" strike="noStrike" spc="-1">
                <a:solidFill>
                  <a:srgbClr val="000000"/>
                </a:solidFill>
                <a:latin typeface="Calibri"/>
              </a:rPr>
              <a:t>Sixth Outline Level</a:t>
            </a:r>
          </a:p>
          <a:p>
            <a:pPr marL="3024000" lvl="6" indent="-216000">
              <a:lnSpc>
                <a:spcPct val="90000"/>
              </a:lnSpc>
              <a:spcBef>
                <a:spcPts val="283"/>
              </a:spcBef>
              <a:buClr>
                <a:srgbClr val="000000"/>
              </a:buClr>
              <a:buSzPct val="45000"/>
              <a:buFont typeface="Wingdings" charset="2"/>
              <a:buChar char=""/>
            </a:pPr>
            <a:r>
              <a:rPr lang="de-DE"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468625" y="2303055"/>
            <a:ext cx="9144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Aft>
                <a:spcPct val="0"/>
              </a:spcAft>
            </a:pPr>
            <a:r>
              <a:rPr lang="de-DE" altLang="de-DE" sz="2000" b="1" dirty="0">
                <a:latin typeface="Arial" panose="020B0604020202020204" pitchFamily="34" charset="0"/>
              </a:rPr>
              <a:t>Projekt 3 der Forschungsgruppe 5429</a:t>
            </a:r>
            <a:br>
              <a:rPr kumimoji="0" lang="de-DE" altLang="de-DE" sz="2000" b="0" i="0" u="none" strike="noStrike" cap="none" normalizeH="0" baseline="0" dirty="0">
                <a:ln>
                  <a:noFill/>
                </a:ln>
                <a:effectLst/>
                <a:latin typeface="Arial" panose="020B0604020202020204" pitchFamily="34" charset="0"/>
              </a:rPr>
            </a:br>
            <a:br>
              <a:rPr lang="de-DE" altLang="de-DE" sz="2000" dirty="0">
                <a:latin typeface="Arial" panose="020B0604020202020204" pitchFamily="34" charset="0"/>
              </a:rPr>
            </a:br>
            <a:r>
              <a:rPr lang="de-DE" altLang="de-DE" sz="2800" dirty="0">
                <a:latin typeface="Arial" panose="020B0604020202020204" pitchFamily="34" charset="0"/>
              </a:rPr>
              <a:t>Effekte von fokaler Gleichstromstimulation auf Sprachlernen </a:t>
            </a:r>
            <a:endParaRPr kumimoji="0" lang="de-DE" altLang="de-DE" sz="2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023267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1569856" y="753406"/>
            <a:ext cx="9143640" cy="5823720"/>
          </a:xfrm>
          <a:prstGeom prst="rect">
            <a:avLst/>
          </a:prstGeom>
          <a:noFill/>
          <a:ln w="0">
            <a:noFill/>
          </a:ln>
        </p:spPr>
        <p:txBody>
          <a:bodyPr numCol="1" spcCol="0" anchor="ctr">
            <a:noAutofit/>
          </a:bodyPr>
          <a:lstStyle/>
          <a:p>
            <a:pPr>
              <a:lnSpc>
                <a:spcPct val="100000"/>
              </a:lnSpc>
              <a:buNone/>
            </a:pPr>
            <a:r>
              <a:rPr lang="de-DE" sz="2800" b="0" strike="noStrike" spc="-1" dirty="0">
                <a:solidFill>
                  <a:srgbClr val="000000"/>
                </a:solidFill>
                <a:latin typeface="Arial"/>
              </a:rPr>
              <a:t>Während des Experiments bitten wir Sie </a:t>
            </a:r>
            <a:br>
              <a:rPr sz="2800" dirty="0"/>
            </a:br>
            <a:r>
              <a:rPr lang="de-DE" sz="2800" b="1" strike="noStrike" spc="-1" dirty="0">
                <a:solidFill>
                  <a:srgbClr val="000000"/>
                </a:solidFill>
                <a:latin typeface="Arial"/>
              </a:rPr>
              <a:t>zwei Aufgaben </a:t>
            </a:r>
            <a:r>
              <a:rPr lang="de-DE" sz="2800" b="0" strike="noStrike" spc="-1" dirty="0">
                <a:solidFill>
                  <a:srgbClr val="000000"/>
                </a:solidFill>
                <a:latin typeface="Arial"/>
              </a:rPr>
              <a:t>zu bearbeiten</a:t>
            </a:r>
            <a:br>
              <a:rPr sz="2800" dirty="0"/>
            </a:br>
            <a:br>
              <a:rPr sz="2000" dirty="0"/>
            </a:br>
            <a:r>
              <a:rPr lang="de-DE" sz="2000" b="1" u="sng" strike="noStrike" spc="-1" dirty="0">
                <a:solidFill>
                  <a:srgbClr val="000000"/>
                </a:solidFill>
                <a:uFillTx/>
                <a:latin typeface="Arial"/>
              </a:rPr>
              <a:t>Aufgabe 1</a:t>
            </a:r>
            <a:r>
              <a:rPr lang="de-DE" sz="2000" b="1" strike="noStrike" spc="-1" dirty="0">
                <a:solidFill>
                  <a:srgbClr val="000000"/>
                </a:solidFill>
                <a:latin typeface="Arial"/>
              </a:rPr>
              <a:t> </a:t>
            </a:r>
            <a:br>
              <a:rPr sz="2000" dirty="0"/>
            </a:br>
            <a:r>
              <a:rPr lang="de-DE" sz="2000" b="0" strike="noStrike" spc="-1" dirty="0">
                <a:solidFill>
                  <a:srgbClr val="000000"/>
                </a:solidFill>
                <a:latin typeface="Arial"/>
              </a:rPr>
              <a:t>Entscheidung ob </a:t>
            </a:r>
            <a:r>
              <a:rPr lang="de-DE" sz="2000" b="1" strike="noStrike" spc="-1" dirty="0">
                <a:solidFill>
                  <a:srgbClr val="000000"/>
                </a:solidFill>
                <a:latin typeface="Arial"/>
              </a:rPr>
              <a:t>BILDER</a:t>
            </a:r>
            <a:r>
              <a:rPr lang="de-DE" sz="2000" b="0" strike="noStrike" spc="-1" dirty="0">
                <a:solidFill>
                  <a:srgbClr val="000000"/>
                </a:solidFill>
                <a:latin typeface="Arial"/>
              </a:rPr>
              <a:t> und </a:t>
            </a:r>
            <a:r>
              <a:rPr lang="de-DE" sz="2000" b="1" strike="noStrike" spc="-1" dirty="0">
                <a:solidFill>
                  <a:srgbClr val="000000"/>
                </a:solidFill>
                <a:latin typeface="Arial"/>
              </a:rPr>
              <a:t>WORTE</a:t>
            </a:r>
            <a:r>
              <a:rPr lang="de-DE" sz="2000" b="0" strike="noStrike" spc="-1" dirty="0">
                <a:solidFill>
                  <a:srgbClr val="000000"/>
                </a:solidFill>
                <a:latin typeface="Arial"/>
              </a:rPr>
              <a:t> übereinstimmen</a:t>
            </a:r>
            <a:br>
              <a:rPr sz="2000" dirty="0"/>
            </a:br>
            <a:br>
              <a:rPr sz="2000" dirty="0"/>
            </a:br>
            <a:r>
              <a:rPr lang="de-DE" sz="2000" b="1" u="sng" strike="noStrike" spc="-1" dirty="0">
                <a:solidFill>
                  <a:srgbClr val="000000"/>
                </a:solidFill>
                <a:uFillTx/>
                <a:latin typeface="Arial"/>
              </a:rPr>
              <a:t>Aufgabe 2</a:t>
            </a:r>
            <a:br>
              <a:rPr sz="2000" dirty="0"/>
            </a:br>
            <a:r>
              <a:rPr lang="de-DE" sz="2000" b="0" strike="noStrike" spc="-1" dirty="0">
                <a:solidFill>
                  <a:srgbClr val="000000"/>
                </a:solidFill>
                <a:latin typeface="Arial"/>
              </a:rPr>
              <a:t>Erlernen von </a:t>
            </a:r>
            <a:r>
              <a:rPr lang="en-US" sz="2000" b="1" strike="noStrike" spc="-1" dirty="0">
                <a:solidFill>
                  <a:srgbClr val="000000"/>
                </a:solidFill>
                <a:latin typeface="Arial"/>
              </a:rPr>
              <a:t>BILD </a:t>
            </a:r>
            <a:r>
              <a:rPr lang="en-US" sz="2000" b="0" strike="noStrike" spc="-1" dirty="0">
                <a:solidFill>
                  <a:srgbClr val="000000"/>
                </a:solidFill>
                <a:latin typeface="Arial"/>
              </a:rPr>
              <a:t>und</a:t>
            </a:r>
            <a:r>
              <a:rPr lang="en-US" sz="2000" b="1" strike="noStrike" spc="-1" dirty="0">
                <a:solidFill>
                  <a:srgbClr val="000000"/>
                </a:solidFill>
                <a:latin typeface="Arial"/>
              </a:rPr>
              <a:t> PSEUDOWORT </a:t>
            </a:r>
            <a:r>
              <a:rPr lang="en-US" sz="2000" b="0" strike="noStrike" spc="-1" dirty="0" err="1">
                <a:solidFill>
                  <a:srgbClr val="000000"/>
                </a:solidFill>
                <a:latin typeface="Arial"/>
              </a:rPr>
              <a:t>Paaren</a:t>
            </a:r>
            <a:br>
              <a:rPr sz="2000" dirty="0"/>
            </a:br>
            <a:br>
              <a:rPr sz="2000" dirty="0"/>
            </a:br>
            <a:br>
              <a:rPr sz="2000" dirty="0"/>
            </a:br>
            <a:r>
              <a:rPr lang="de-DE" sz="2000" b="0" strike="noStrike" spc="-1" dirty="0">
                <a:solidFill>
                  <a:srgbClr val="000000"/>
                </a:solidFill>
                <a:latin typeface="Arial"/>
              </a:rPr>
              <a:t>Aufgabe 1 wird insgesamt </a:t>
            </a:r>
            <a:r>
              <a:rPr lang="de-DE" sz="2000" b="1" strike="noStrike" spc="-1" dirty="0">
                <a:latin typeface="Arial"/>
              </a:rPr>
              <a:t>einmal</a:t>
            </a:r>
            <a:r>
              <a:rPr lang="de-DE" sz="2000" b="0" strike="noStrike" spc="-1" dirty="0">
                <a:solidFill>
                  <a:srgbClr val="000000"/>
                </a:solidFill>
                <a:latin typeface="Arial"/>
              </a:rPr>
              <a:t> durchgeführt.</a:t>
            </a:r>
            <a:br>
              <a:rPr sz="2000" dirty="0"/>
            </a:br>
            <a:br>
              <a:rPr sz="2000" dirty="0"/>
            </a:br>
            <a:r>
              <a:rPr lang="de-DE" sz="2000" b="0" strike="noStrike" spc="-1" dirty="0">
                <a:solidFill>
                  <a:srgbClr val="000000"/>
                </a:solidFill>
                <a:latin typeface="Arial"/>
              </a:rPr>
              <a:t>Aufgabe 2 wird insgesamt </a:t>
            </a:r>
            <a:r>
              <a:rPr lang="de-DE" sz="2000" b="1" strike="noStrike" spc="-1" dirty="0">
                <a:latin typeface="Arial"/>
              </a:rPr>
              <a:t>zweimal</a:t>
            </a:r>
            <a:r>
              <a:rPr lang="de-DE" sz="2000" b="0" strike="noStrike" spc="-1" dirty="0">
                <a:solidFill>
                  <a:srgbClr val="000000"/>
                </a:solidFill>
                <a:latin typeface="Arial"/>
              </a:rPr>
              <a:t> durchgeführt.</a:t>
            </a:r>
            <a:br>
              <a:rPr sz="2000" dirty="0"/>
            </a:br>
            <a:br>
              <a:rPr sz="2000" dirty="0"/>
            </a:br>
            <a:r>
              <a:rPr lang="de-DE" sz="2000" b="0" strike="noStrike" spc="-1" dirty="0">
                <a:solidFill>
                  <a:srgbClr val="000000"/>
                </a:solidFill>
                <a:latin typeface="Arial"/>
              </a:rPr>
              <a:t>									</a:t>
            </a:r>
            <a:br>
              <a:rPr sz="2000" dirty="0"/>
            </a:br>
            <a:r>
              <a:rPr lang="de-DE" sz="2000" b="0" strike="noStrike" spc="-1" dirty="0">
                <a:solidFill>
                  <a:srgbClr val="000000"/>
                </a:solidFill>
                <a:latin typeface="Arial"/>
              </a:rPr>
              <a:t>																		</a:t>
            </a:r>
            <a:br>
              <a:rPr sz="2000" dirty="0"/>
            </a:br>
            <a:endParaRPr lang="de-DE" sz="2000" b="0" strike="noStrike" spc="-1" dirty="0">
              <a:solidFill>
                <a:srgbClr val="000000"/>
              </a:solidFill>
              <a:latin typeface="Calibri"/>
            </a:endParaRPr>
          </a:p>
        </p:txBody>
      </p:sp>
    </p:spTree>
    <p:extLst>
      <p:ext uri="{BB962C8B-B14F-4D97-AF65-F5344CB8AC3E}">
        <p14:creationId xmlns:p14="http://schemas.microsoft.com/office/powerpoint/2010/main" val="275900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1126440" y="789120"/>
            <a:ext cx="9427320" cy="1738080"/>
          </a:xfrm>
          <a:prstGeom prst="rect">
            <a:avLst/>
          </a:prstGeom>
          <a:noFill/>
          <a:ln w="0">
            <a:noFill/>
          </a:ln>
        </p:spPr>
        <p:txBody>
          <a:bodyPr numCol="1" spcCol="0" anchor="ctr">
            <a:noAutofit/>
          </a:bodyPr>
          <a:lstStyle/>
          <a:p>
            <a:pPr>
              <a:lnSpc>
                <a:spcPct val="100000"/>
              </a:lnSpc>
              <a:buNone/>
            </a:pPr>
            <a:r>
              <a:rPr lang="de-DE" sz="2800" b="1" u="sng" strike="noStrike" spc="-1" dirty="0">
                <a:solidFill>
                  <a:srgbClr val="000000"/>
                </a:solidFill>
                <a:uFillTx/>
                <a:latin typeface="Arial"/>
              </a:rPr>
              <a:t>Aufgabe 1</a:t>
            </a:r>
            <a:br>
              <a:rPr sz="2800" dirty="0"/>
            </a:br>
            <a:br>
              <a:rPr sz="2000" dirty="0"/>
            </a:br>
            <a:r>
              <a:rPr lang="de-DE" sz="2000" b="0" strike="noStrike" spc="-1" dirty="0">
                <a:solidFill>
                  <a:srgbClr val="000000"/>
                </a:solidFill>
                <a:latin typeface="Arial"/>
              </a:rPr>
              <a:t>Bitte entscheiden Sie durch Tastendruck, ob </a:t>
            </a:r>
            <a:r>
              <a:rPr lang="de-DE" sz="2000" b="1" strike="noStrike" spc="-1" dirty="0">
                <a:solidFill>
                  <a:srgbClr val="000000"/>
                </a:solidFill>
                <a:latin typeface="Arial"/>
              </a:rPr>
              <a:t>Bilder </a:t>
            </a:r>
            <a:r>
              <a:rPr lang="de-DE" sz="2000" strike="noStrike" spc="-1" dirty="0">
                <a:solidFill>
                  <a:srgbClr val="000000"/>
                </a:solidFill>
                <a:latin typeface="Arial"/>
              </a:rPr>
              <a:t>und</a:t>
            </a:r>
            <a:r>
              <a:rPr lang="de-DE" sz="2000" b="1" strike="noStrike" spc="-1" dirty="0">
                <a:solidFill>
                  <a:srgbClr val="000000"/>
                </a:solidFill>
                <a:latin typeface="Arial"/>
              </a:rPr>
              <a:t> Worte übereinstimmen.</a:t>
            </a:r>
            <a:br>
              <a:rPr sz="2000" dirty="0"/>
            </a:br>
            <a:br>
              <a:rPr sz="2000" dirty="0"/>
            </a:br>
            <a:endParaRPr lang="de-DE" sz="2000" b="0" strike="noStrike" spc="-1" dirty="0">
              <a:solidFill>
                <a:srgbClr val="000000"/>
              </a:solidFill>
              <a:latin typeface="Calibri"/>
            </a:endParaRPr>
          </a:p>
        </p:txBody>
      </p:sp>
      <p:pic>
        <p:nvPicPr>
          <p:cNvPr id="49" name="Grafik 13"/>
          <p:cNvPicPr/>
          <p:nvPr/>
        </p:nvPicPr>
        <p:blipFill>
          <a:blip r:embed="rId3"/>
          <a:stretch/>
        </p:blipFill>
        <p:spPr>
          <a:xfrm>
            <a:off x="1264680" y="2144880"/>
            <a:ext cx="1859400" cy="1303560"/>
          </a:xfrm>
          <a:prstGeom prst="rect">
            <a:avLst/>
          </a:prstGeom>
          <a:ln w="22225">
            <a:solidFill>
              <a:srgbClr val="000000"/>
            </a:solidFill>
            <a:round/>
          </a:ln>
        </p:spPr>
      </p:pic>
      <p:pic>
        <p:nvPicPr>
          <p:cNvPr id="50" name="Grafik 14"/>
          <p:cNvPicPr/>
          <p:nvPr/>
        </p:nvPicPr>
        <p:blipFill>
          <a:blip r:embed="rId3"/>
          <a:stretch/>
        </p:blipFill>
        <p:spPr>
          <a:xfrm>
            <a:off x="4164480" y="2147400"/>
            <a:ext cx="1859400" cy="1303560"/>
          </a:xfrm>
          <a:prstGeom prst="rect">
            <a:avLst/>
          </a:prstGeom>
          <a:ln w="22225">
            <a:solidFill>
              <a:srgbClr val="000000"/>
            </a:solidFill>
            <a:round/>
          </a:ln>
        </p:spPr>
      </p:pic>
      <p:pic>
        <p:nvPicPr>
          <p:cNvPr id="51" name="Grafik 15"/>
          <p:cNvPicPr/>
          <p:nvPr/>
        </p:nvPicPr>
        <p:blipFill>
          <a:blip r:embed="rId4"/>
          <a:stretch/>
        </p:blipFill>
        <p:spPr>
          <a:xfrm flipH="1">
            <a:off x="948960" y="4357800"/>
            <a:ext cx="1002960" cy="995400"/>
          </a:xfrm>
          <a:prstGeom prst="rect">
            <a:avLst/>
          </a:prstGeom>
          <a:ln w="0">
            <a:noFill/>
          </a:ln>
        </p:spPr>
      </p:pic>
      <p:sp>
        <p:nvSpPr>
          <p:cNvPr id="52" name="Textfeld 16"/>
          <p:cNvSpPr/>
          <p:nvPr/>
        </p:nvSpPr>
        <p:spPr>
          <a:xfrm>
            <a:off x="1302480" y="3942720"/>
            <a:ext cx="80964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a:solidFill>
                  <a:srgbClr val="FFFFFF"/>
                </a:solidFill>
                <a:latin typeface="Calibri"/>
              </a:rPr>
              <a:t>richtig</a:t>
            </a:r>
            <a:endParaRPr lang="en-US" sz="1800" b="0" strike="noStrike" spc="-1">
              <a:latin typeface="Arial"/>
            </a:endParaRPr>
          </a:p>
        </p:txBody>
      </p:sp>
      <p:sp>
        <p:nvSpPr>
          <p:cNvPr id="53" name="Textfeld 17"/>
          <p:cNvSpPr/>
          <p:nvPr/>
        </p:nvSpPr>
        <p:spPr>
          <a:xfrm>
            <a:off x="2262600" y="394272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
        <p:nvSpPr>
          <p:cNvPr id="54" name="Textfeld 18"/>
          <p:cNvSpPr/>
          <p:nvPr/>
        </p:nvSpPr>
        <p:spPr>
          <a:xfrm>
            <a:off x="1496880" y="3448800"/>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a:solidFill>
                  <a:srgbClr val="000000"/>
                </a:solidFill>
                <a:latin typeface="Calibri"/>
              </a:rPr>
              <a:t>Sonne</a:t>
            </a:r>
            <a:endParaRPr lang="en-US" sz="2400" b="0" strike="noStrike" spc="-1">
              <a:latin typeface="Arial"/>
            </a:endParaRPr>
          </a:p>
        </p:txBody>
      </p:sp>
      <p:sp>
        <p:nvSpPr>
          <p:cNvPr id="55" name="Textfeld 19"/>
          <p:cNvSpPr/>
          <p:nvPr/>
        </p:nvSpPr>
        <p:spPr>
          <a:xfrm>
            <a:off x="4364280" y="3448800"/>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a:solidFill>
                  <a:srgbClr val="000000"/>
                </a:solidFill>
                <a:latin typeface="Calibri"/>
              </a:rPr>
              <a:t>Mond</a:t>
            </a:r>
            <a:endParaRPr lang="en-US" sz="2400" b="0" strike="noStrike" spc="-1">
              <a:latin typeface="Arial"/>
            </a:endParaRPr>
          </a:p>
        </p:txBody>
      </p:sp>
      <p:pic>
        <p:nvPicPr>
          <p:cNvPr id="56" name="Grafik 20"/>
          <p:cNvPicPr/>
          <p:nvPr/>
        </p:nvPicPr>
        <p:blipFill>
          <a:blip r:embed="rId4"/>
          <a:stretch/>
        </p:blipFill>
        <p:spPr>
          <a:xfrm>
            <a:off x="5323320" y="4408560"/>
            <a:ext cx="1002960" cy="995400"/>
          </a:xfrm>
          <a:prstGeom prst="rect">
            <a:avLst/>
          </a:prstGeom>
          <a:ln w="0">
            <a:noFill/>
          </a:ln>
        </p:spPr>
      </p:pic>
      <p:sp>
        <p:nvSpPr>
          <p:cNvPr id="57" name="Textfeld 21"/>
          <p:cNvSpPr/>
          <p:nvPr/>
        </p:nvSpPr>
        <p:spPr>
          <a:xfrm>
            <a:off x="4177440" y="394956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58" name="Textfeld 22"/>
          <p:cNvSpPr/>
          <p:nvPr/>
        </p:nvSpPr>
        <p:spPr>
          <a:xfrm>
            <a:off x="5137560" y="3949560"/>
            <a:ext cx="80964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a:solidFill>
                  <a:srgbClr val="FFFFFF"/>
                </a:solidFill>
                <a:latin typeface="Calibri"/>
              </a:rPr>
              <a:t>falsch</a:t>
            </a:r>
            <a:endParaRPr lang="en-US" sz="1800" b="0" strike="noStrike" spc="-1">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055554" y="494018"/>
            <a:ext cx="9875160" cy="3689280"/>
          </a:xfrm>
          <a:prstGeom prst="rect">
            <a:avLst/>
          </a:prstGeom>
          <a:noFill/>
          <a:ln w="0">
            <a:noFill/>
          </a:ln>
        </p:spPr>
        <p:txBody>
          <a:bodyPr numCol="1" spcCol="0" anchor="ctr">
            <a:noAutofit/>
          </a:bodyPr>
          <a:lstStyle/>
          <a:p>
            <a:pPr>
              <a:lnSpc>
                <a:spcPct val="100000"/>
              </a:lnSpc>
            </a:pPr>
            <a:br>
              <a:rPr sz="2800" dirty="0"/>
            </a:br>
            <a:r>
              <a:rPr lang="en-US" sz="2800" b="1" u="sng" strike="noStrike" spc="-1" dirty="0" err="1">
                <a:solidFill>
                  <a:srgbClr val="000000"/>
                </a:solidFill>
                <a:uFillTx/>
                <a:latin typeface="Arial"/>
              </a:rPr>
              <a:t>Aufgabe</a:t>
            </a:r>
            <a:r>
              <a:rPr lang="en-US" sz="2800" b="1" u="sng" strike="noStrike" spc="-1" dirty="0">
                <a:solidFill>
                  <a:srgbClr val="000000"/>
                </a:solidFill>
                <a:uFillTx/>
                <a:latin typeface="Arial"/>
              </a:rPr>
              <a:t> 2</a:t>
            </a:r>
            <a:br>
              <a:rPr sz="2800" dirty="0"/>
            </a:br>
            <a:br>
              <a:rPr sz="2000" dirty="0"/>
            </a:br>
            <a:r>
              <a:rPr lang="en-US" sz="2000" b="0" strike="noStrike" spc="-1" dirty="0" err="1">
                <a:solidFill>
                  <a:srgbClr val="000000"/>
                </a:solidFill>
                <a:latin typeface="Arial"/>
              </a:rPr>
              <a:t>Ihnen</a:t>
            </a:r>
            <a:r>
              <a:rPr lang="en-US" sz="2000" b="0" strike="noStrike" spc="-1" dirty="0">
                <a:solidFill>
                  <a:srgbClr val="000000"/>
                </a:solidFill>
                <a:latin typeface="Arial"/>
              </a:rPr>
              <a:t> </a:t>
            </a:r>
            <a:r>
              <a:rPr lang="en-US" sz="2000" b="0" strike="noStrike" spc="-1" dirty="0" err="1">
                <a:solidFill>
                  <a:srgbClr val="000000"/>
                </a:solidFill>
                <a:latin typeface="Arial"/>
              </a:rPr>
              <a:t>werden</a:t>
            </a:r>
            <a:r>
              <a:rPr lang="en-US" sz="2000" b="0" strike="noStrike" spc="-1" dirty="0">
                <a:solidFill>
                  <a:srgbClr val="000000"/>
                </a:solidFill>
                <a:latin typeface="Arial"/>
              </a:rPr>
              <a:t> </a:t>
            </a:r>
            <a:r>
              <a:rPr lang="en-US" sz="2000" b="0" strike="noStrike" spc="-1" dirty="0" err="1">
                <a:solidFill>
                  <a:srgbClr val="000000"/>
                </a:solidFill>
                <a:latin typeface="Arial"/>
              </a:rPr>
              <a:t>Paare</a:t>
            </a:r>
            <a:r>
              <a:rPr lang="en-US" sz="2000" b="1" strike="noStrike" spc="-1" dirty="0">
                <a:solidFill>
                  <a:srgbClr val="000000"/>
                </a:solidFill>
                <a:latin typeface="Arial"/>
              </a:rPr>
              <a:t> </a:t>
            </a:r>
            <a:r>
              <a:rPr lang="en-US" sz="2000" b="0" strike="noStrike" spc="-1" dirty="0">
                <a:solidFill>
                  <a:srgbClr val="000000"/>
                </a:solidFill>
                <a:latin typeface="Arial"/>
              </a:rPr>
              <a:t>von</a:t>
            </a:r>
            <a:r>
              <a:rPr lang="en-US" sz="2000" b="1" strike="noStrike" spc="-1" dirty="0">
                <a:solidFill>
                  <a:srgbClr val="000000"/>
                </a:solidFill>
                <a:latin typeface="Arial"/>
              </a:rPr>
              <a:t> </a:t>
            </a:r>
            <a:r>
              <a:rPr lang="en-US" sz="2000" b="1" strike="noStrike" spc="-1" dirty="0" err="1">
                <a:solidFill>
                  <a:srgbClr val="000000"/>
                </a:solidFill>
                <a:latin typeface="Arial"/>
              </a:rPr>
              <a:t>Bilder</a:t>
            </a:r>
            <a:r>
              <a:rPr lang="en-US" sz="2000" b="1" strike="noStrike" spc="-1" dirty="0">
                <a:solidFill>
                  <a:srgbClr val="000000"/>
                </a:solidFill>
                <a:latin typeface="Arial"/>
              </a:rPr>
              <a:t> </a:t>
            </a:r>
            <a:r>
              <a:rPr lang="en-US" sz="2000" b="0" strike="noStrike" spc="-1" dirty="0">
                <a:solidFill>
                  <a:srgbClr val="000000"/>
                </a:solidFill>
                <a:latin typeface="Arial"/>
              </a:rPr>
              <a:t>und </a:t>
            </a:r>
            <a:r>
              <a:rPr lang="en-US" sz="2000" b="1" strike="noStrike" spc="-1" dirty="0" err="1">
                <a:solidFill>
                  <a:srgbClr val="000000"/>
                </a:solidFill>
                <a:latin typeface="Arial"/>
              </a:rPr>
              <a:t>Pseudowörtern</a:t>
            </a:r>
            <a:r>
              <a:rPr lang="en-US" sz="2000" b="1" strike="noStrike" spc="-1" dirty="0">
                <a:solidFill>
                  <a:srgbClr val="000000"/>
                </a:solidFill>
                <a:latin typeface="Arial"/>
              </a:rPr>
              <a:t> </a:t>
            </a:r>
            <a:r>
              <a:rPr lang="en-US" sz="2000" b="0" strike="noStrike" spc="-1" dirty="0" err="1">
                <a:solidFill>
                  <a:srgbClr val="000000"/>
                </a:solidFill>
                <a:latin typeface="Arial"/>
              </a:rPr>
              <a:t>präsentiert</a:t>
            </a:r>
            <a:r>
              <a:rPr lang="en-US" sz="2000" b="0" strike="noStrike" spc="-1" dirty="0">
                <a:solidFill>
                  <a:srgbClr val="000000"/>
                </a:solidFill>
                <a:latin typeface="Arial"/>
              </a:rPr>
              <a:t>. </a:t>
            </a:r>
            <a:br>
              <a:rPr sz="2000" dirty="0"/>
            </a:br>
            <a:r>
              <a:rPr lang="en-US" sz="2000" b="0" strike="noStrike" spc="-1" dirty="0" err="1">
                <a:solidFill>
                  <a:srgbClr val="000000"/>
                </a:solidFill>
                <a:latin typeface="Arial"/>
              </a:rPr>
              <a:t>Diese</a:t>
            </a:r>
            <a:r>
              <a:rPr lang="en-US" sz="2000" b="0" strike="noStrike" spc="-1" dirty="0">
                <a:solidFill>
                  <a:srgbClr val="000000"/>
                </a:solidFill>
                <a:latin typeface="Arial"/>
              </a:rPr>
              <a:t> </a:t>
            </a:r>
            <a:r>
              <a:rPr lang="en-US" sz="2000" b="0" strike="noStrike" spc="-1" dirty="0" err="1">
                <a:solidFill>
                  <a:srgbClr val="000000"/>
                </a:solidFill>
                <a:latin typeface="Arial"/>
              </a:rPr>
              <a:t>Paare</a:t>
            </a:r>
            <a:r>
              <a:rPr lang="en-US" sz="2000" b="0" strike="noStrike" spc="-1" dirty="0">
                <a:solidFill>
                  <a:srgbClr val="000000"/>
                </a:solidFill>
                <a:latin typeface="Arial"/>
              </a:rPr>
              <a:t> </a:t>
            </a:r>
            <a:r>
              <a:rPr lang="en-US" sz="2000" b="0" strike="noStrike" spc="-1" dirty="0" err="1">
                <a:solidFill>
                  <a:srgbClr val="000000"/>
                </a:solidFill>
                <a:latin typeface="Arial"/>
              </a:rPr>
              <a:t>können</a:t>
            </a:r>
            <a:r>
              <a:rPr lang="en-US" sz="2000" b="0" strike="noStrike" spc="-1" dirty="0">
                <a:solidFill>
                  <a:srgbClr val="000000"/>
                </a:solidFill>
                <a:latin typeface="Arial"/>
              </a:rPr>
              <a:t> </a:t>
            </a:r>
            <a:r>
              <a:rPr lang="en-US" sz="2000" b="0" strike="noStrike" spc="-1" dirty="0" err="1">
                <a:solidFill>
                  <a:srgbClr val="000000"/>
                </a:solidFill>
                <a:latin typeface="Arial"/>
              </a:rPr>
              <a:t>entweder</a:t>
            </a:r>
            <a:r>
              <a:rPr lang="en-US" sz="2000" b="0" strike="noStrike" spc="-1" dirty="0">
                <a:solidFill>
                  <a:srgbClr val="000000"/>
                </a:solidFill>
                <a:latin typeface="Arial"/>
              </a:rPr>
              <a:t> </a:t>
            </a:r>
            <a:r>
              <a:rPr lang="en-US" sz="2000" b="1" strike="noStrike" spc="-1" dirty="0" err="1">
                <a:solidFill>
                  <a:srgbClr val="000000"/>
                </a:solidFill>
                <a:latin typeface="Arial"/>
              </a:rPr>
              <a:t>richtig</a:t>
            </a:r>
            <a:r>
              <a:rPr lang="en-US" sz="2000" b="1" strike="noStrike" spc="-1" dirty="0">
                <a:solidFill>
                  <a:srgbClr val="000000"/>
                </a:solidFill>
                <a:latin typeface="Arial"/>
              </a:rPr>
              <a:t> </a:t>
            </a:r>
            <a:r>
              <a:rPr lang="en-US" sz="2000" b="1" strike="noStrike" spc="-1" dirty="0" err="1">
                <a:solidFill>
                  <a:srgbClr val="000000"/>
                </a:solidFill>
                <a:latin typeface="Arial"/>
              </a:rPr>
              <a:t>oder</a:t>
            </a:r>
            <a:r>
              <a:rPr lang="en-US" sz="2000" b="1" strike="noStrike" spc="-1" dirty="0">
                <a:solidFill>
                  <a:srgbClr val="000000"/>
                </a:solidFill>
                <a:latin typeface="Arial"/>
              </a:rPr>
              <a:t> </a:t>
            </a:r>
            <a:r>
              <a:rPr lang="en-US" sz="2000" b="1" strike="noStrike" spc="-1" dirty="0" err="1">
                <a:solidFill>
                  <a:srgbClr val="000000"/>
                </a:solidFill>
                <a:latin typeface="Arial"/>
              </a:rPr>
              <a:t>falsch</a:t>
            </a:r>
            <a:r>
              <a:rPr lang="en-US" sz="2000" b="1" strike="noStrike" spc="-1" dirty="0">
                <a:solidFill>
                  <a:srgbClr val="000000"/>
                </a:solidFill>
                <a:latin typeface="Arial"/>
              </a:rPr>
              <a:t> </a:t>
            </a:r>
            <a:r>
              <a:rPr lang="en-US" sz="2000" b="0" strike="noStrike" spc="-1" dirty="0">
                <a:solidFill>
                  <a:srgbClr val="000000"/>
                </a:solidFill>
                <a:latin typeface="Arial"/>
              </a:rPr>
              <a:t>sein.</a:t>
            </a:r>
            <a:br>
              <a:rPr sz="2000" dirty="0"/>
            </a:br>
            <a:br>
              <a:rPr sz="2000" dirty="0"/>
            </a:br>
            <a:r>
              <a:rPr lang="en-US" sz="2000" b="0" strike="noStrike" spc="-1" dirty="0" err="1">
                <a:solidFill>
                  <a:srgbClr val="000000"/>
                </a:solidFill>
                <a:latin typeface="Arial"/>
              </a:rPr>
              <a:t>Ihre</a:t>
            </a:r>
            <a:r>
              <a:rPr lang="en-US" sz="2000" b="0" strike="noStrike" spc="-1" dirty="0">
                <a:solidFill>
                  <a:srgbClr val="000000"/>
                </a:solidFill>
                <a:latin typeface="Arial"/>
              </a:rPr>
              <a:t> </a:t>
            </a:r>
            <a:r>
              <a:rPr lang="en-US" sz="2000" b="0" strike="noStrike" spc="-1" dirty="0" err="1">
                <a:solidFill>
                  <a:srgbClr val="000000"/>
                </a:solidFill>
                <a:latin typeface="Arial"/>
              </a:rPr>
              <a:t>Aufgabe</a:t>
            </a:r>
            <a:r>
              <a:rPr lang="en-US" sz="2000" b="0" strike="noStrike" spc="-1" dirty="0">
                <a:solidFill>
                  <a:srgbClr val="000000"/>
                </a:solidFill>
                <a:latin typeface="Arial"/>
              </a:rPr>
              <a:t> </a:t>
            </a:r>
            <a:r>
              <a:rPr lang="en-US" sz="2000" b="0" strike="noStrike" spc="-1" dirty="0" err="1">
                <a:solidFill>
                  <a:srgbClr val="000000"/>
                </a:solidFill>
                <a:latin typeface="Arial"/>
              </a:rPr>
              <a:t>besteht</a:t>
            </a:r>
            <a:r>
              <a:rPr lang="en-US" sz="2000" b="0" strike="noStrike" spc="-1" dirty="0">
                <a:solidFill>
                  <a:srgbClr val="000000"/>
                </a:solidFill>
                <a:latin typeface="Arial"/>
              </a:rPr>
              <a:t> </a:t>
            </a:r>
            <a:r>
              <a:rPr lang="en-US" sz="2000" b="0" strike="noStrike" spc="-1" dirty="0" err="1">
                <a:solidFill>
                  <a:srgbClr val="000000"/>
                </a:solidFill>
                <a:latin typeface="Arial"/>
              </a:rPr>
              <a:t>darin</a:t>
            </a:r>
            <a:r>
              <a:rPr lang="en-US" sz="2000" b="0" strike="noStrike" spc="-1" dirty="0">
                <a:solidFill>
                  <a:srgbClr val="000000"/>
                </a:solidFill>
                <a:latin typeface="Arial"/>
              </a:rPr>
              <a:t> </a:t>
            </a:r>
            <a:r>
              <a:rPr lang="en-US" sz="2000" b="0" strike="noStrike" spc="-1" dirty="0" err="1">
                <a:solidFill>
                  <a:srgbClr val="000000"/>
                </a:solidFill>
                <a:latin typeface="Arial"/>
              </a:rPr>
              <a:t>zu</a:t>
            </a:r>
            <a:r>
              <a:rPr lang="en-US" sz="2000" b="0" strike="noStrike" spc="-1" dirty="0">
                <a:solidFill>
                  <a:srgbClr val="000000"/>
                </a:solidFill>
                <a:latin typeface="Arial"/>
              </a:rPr>
              <a:t> </a:t>
            </a:r>
            <a:r>
              <a:rPr lang="en-US" sz="2000" b="1" strike="noStrike" spc="-1" dirty="0" err="1">
                <a:solidFill>
                  <a:srgbClr val="000000"/>
                </a:solidFill>
                <a:latin typeface="Arial"/>
              </a:rPr>
              <a:t>lernen</a:t>
            </a:r>
            <a:r>
              <a:rPr lang="en-US" sz="2000" b="1" strike="noStrike" spc="-1" dirty="0">
                <a:solidFill>
                  <a:srgbClr val="000000"/>
                </a:solidFill>
                <a:latin typeface="Arial"/>
              </a:rPr>
              <a:t>, </a:t>
            </a:r>
            <a:r>
              <a:rPr lang="en-US" sz="2000" b="0" strike="noStrike" spc="-1" dirty="0" err="1">
                <a:solidFill>
                  <a:srgbClr val="000000"/>
                </a:solidFill>
                <a:latin typeface="Arial"/>
              </a:rPr>
              <a:t>welche</a:t>
            </a:r>
            <a:r>
              <a:rPr lang="en-US" sz="2000" b="0" strike="noStrike" spc="-1" dirty="0">
                <a:solidFill>
                  <a:srgbClr val="000000"/>
                </a:solidFill>
                <a:latin typeface="Arial"/>
              </a:rPr>
              <a:t> </a:t>
            </a:r>
            <a:r>
              <a:rPr lang="en-US" sz="2000" b="0" strike="noStrike" spc="-1" dirty="0" err="1">
                <a:solidFill>
                  <a:srgbClr val="000000"/>
                </a:solidFill>
                <a:latin typeface="Arial"/>
              </a:rPr>
              <a:t>Paare</a:t>
            </a:r>
            <a:r>
              <a:rPr lang="en-US" sz="2000" b="0" strike="noStrike" spc="-1" dirty="0">
                <a:solidFill>
                  <a:srgbClr val="000000"/>
                </a:solidFill>
                <a:latin typeface="Arial"/>
              </a:rPr>
              <a:t> </a:t>
            </a:r>
            <a:r>
              <a:rPr lang="en-US" sz="2000" b="1" strike="noStrike" spc="-1" dirty="0" err="1">
                <a:solidFill>
                  <a:srgbClr val="000000"/>
                </a:solidFill>
                <a:latin typeface="Arial"/>
              </a:rPr>
              <a:t>richtig</a:t>
            </a:r>
            <a:r>
              <a:rPr lang="en-US" sz="2000" b="1" strike="noStrike" spc="-1" dirty="0">
                <a:solidFill>
                  <a:srgbClr val="000000"/>
                </a:solidFill>
                <a:latin typeface="Arial"/>
              </a:rPr>
              <a:t> </a:t>
            </a:r>
            <a:r>
              <a:rPr lang="en-US" sz="2000" b="0" strike="noStrike" spc="-1" dirty="0" err="1">
                <a:solidFill>
                  <a:srgbClr val="000000"/>
                </a:solidFill>
                <a:latin typeface="Arial"/>
              </a:rPr>
              <a:t>sind</a:t>
            </a:r>
            <a:r>
              <a:rPr lang="en-US" sz="2000" b="0" strike="noStrike" spc="-1" dirty="0">
                <a:solidFill>
                  <a:srgbClr val="000000"/>
                </a:solidFill>
                <a:latin typeface="Arial"/>
              </a:rPr>
              <a:t>.</a:t>
            </a:r>
            <a:br>
              <a:rPr lang="en-US" sz="2000" b="0" strike="noStrike" spc="-1" dirty="0">
                <a:solidFill>
                  <a:srgbClr val="000000"/>
                </a:solidFill>
                <a:latin typeface="Arial"/>
              </a:rPr>
            </a:br>
            <a:br>
              <a:rPr lang="en-US" sz="2000" spc="-1" dirty="0">
                <a:solidFill>
                  <a:srgbClr val="000000"/>
                </a:solidFill>
                <a:latin typeface="Arial"/>
              </a:rPr>
            </a:br>
            <a:r>
              <a:rPr lang="en-US" sz="2000" b="1" strike="noStrike" spc="-1" dirty="0" err="1">
                <a:solidFill>
                  <a:srgbClr val="000000"/>
                </a:solidFill>
                <a:latin typeface="Arial"/>
              </a:rPr>
              <a:t>Wichtig</a:t>
            </a:r>
            <a:r>
              <a:rPr lang="en-US" sz="2000" b="1" strike="noStrike" spc="-1" dirty="0">
                <a:solidFill>
                  <a:srgbClr val="000000"/>
                </a:solidFill>
                <a:latin typeface="Arial"/>
              </a:rPr>
              <a:t>:</a:t>
            </a:r>
            <a:r>
              <a:rPr lang="en-US" sz="2000" b="0" strike="noStrike" spc="-1" dirty="0">
                <a:solidFill>
                  <a:srgbClr val="000000"/>
                </a:solidFill>
                <a:latin typeface="Arial"/>
              </a:rPr>
              <a:t> </a:t>
            </a:r>
            <a:r>
              <a:rPr lang="en-US" sz="2000" b="0" strike="noStrike" spc="-1" dirty="0" err="1">
                <a:solidFill>
                  <a:srgbClr val="000000"/>
                </a:solidFill>
                <a:latin typeface="Arial"/>
              </a:rPr>
              <a:t>Es</a:t>
            </a:r>
            <a:r>
              <a:rPr lang="en-US" sz="2000" b="0" strike="noStrike" spc="-1" dirty="0">
                <a:solidFill>
                  <a:srgbClr val="000000"/>
                </a:solidFill>
                <a:latin typeface="Arial"/>
              </a:rPr>
              <a:t> </a:t>
            </a:r>
            <a:r>
              <a:rPr lang="en-US" sz="2000" b="0" strike="noStrike" spc="-1" dirty="0" err="1">
                <a:solidFill>
                  <a:srgbClr val="000000"/>
                </a:solidFill>
                <a:latin typeface="Arial"/>
              </a:rPr>
              <a:t>gibt</a:t>
            </a:r>
            <a:r>
              <a:rPr lang="en-US" sz="2000" b="0" strike="noStrike" spc="-1" dirty="0">
                <a:solidFill>
                  <a:srgbClr val="000000"/>
                </a:solidFill>
                <a:latin typeface="Arial"/>
              </a:rPr>
              <a:t> </a:t>
            </a:r>
            <a:r>
              <a:rPr lang="en-US" sz="2000" b="0" strike="noStrike" spc="-1" dirty="0" err="1">
                <a:solidFill>
                  <a:srgbClr val="000000"/>
                </a:solidFill>
                <a:latin typeface="Arial"/>
              </a:rPr>
              <a:t>jeweils</a:t>
            </a:r>
            <a:r>
              <a:rPr lang="en-US" sz="2000" b="0" strike="noStrike" spc="-1" dirty="0">
                <a:solidFill>
                  <a:srgbClr val="000000"/>
                </a:solidFill>
                <a:latin typeface="Arial"/>
              </a:rPr>
              <a:t> </a:t>
            </a:r>
            <a:r>
              <a:rPr lang="en-US" sz="2000" b="0" strike="noStrike" spc="-1" dirty="0" err="1">
                <a:solidFill>
                  <a:srgbClr val="000000"/>
                </a:solidFill>
                <a:latin typeface="Arial"/>
              </a:rPr>
              <a:t>nur</a:t>
            </a:r>
            <a:r>
              <a:rPr lang="en-US" sz="2000" b="0" strike="noStrike" spc="-1" dirty="0">
                <a:solidFill>
                  <a:srgbClr val="000000"/>
                </a:solidFill>
                <a:latin typeface="Arial"/>
              </a:rPr>
              <a:t> </a:t>
            </a:r>
            <a:r>
              <a:rPr lang="en-US" sz="2000" b="0" strike="noStrike" spc="-1" dirty="0" err="1">
                <a:solidFill>
                  <a:srgbClr val="000000"/>
                </a:solidFill>
                <a:latin typeface="Arial"/>
              </a:rPr>
              <a:t>eine</a:t>
            </a:r>
            <a:r>
              <a:rPr lang="en-US" sz="2000" b="0" strike="noStrike" spc="-1" dirty="0">
                <a:solidFill>
                  <a:srgbClr val="000000"/>
                </a:solidFill>
                <a:latin typeface="Arial"/>
              </a:rPr>
              <a:t> </a:t>
            </a:r>
            <a:r>
              <a:rPr lang="en-US" sz="2000" b="0" strike="noStrike" spc="-1" dirty="0" err="1">
                <a:solidFill>
                  <a:srgbClr val="000000"/>
                </a:solidFill>
                <a:latin typeface="Arial"/>
              </a:rPr>
              <a:t>richtige</a:t>
            </a:r>
            <a:r>
              <a:rPr lang="en-US" sz="2000" b="0" strike="noStrike" spc="-1" dirty="0">
                <a:solidFill>
                  <a:srgbClr val="000000"/>
                </a:solidFill>
                <a:latin typeface="Arial"/>
              </a:rPr>
              <a:t> </a:t>
            </a:r>
            <a:r>
              <a:rPr lang="en-US" sz="2000" b="0" strike="noStrike" spc="-1" dirty="0" err="1">
                <a:solidFill>
                  <a:srgbClr val="000000"/>
                </a:solidFill>
                <a:latin typeface="Arial"/>
              </a:rPr>
              <a:t>Paarung</a:t>
            </a:r>
            <a:r>
              <a:rPr lang="en-US" sz="2000" b="0" strike="noStrike" spc="-1" dirty="0">
                <a:solidFill>
                  <a:srgbClr val="000000"/>
                </a:solidFill>
                <a:latin typeface="Arial"/>
              </a:rPr>
              <a:t> </a:t>
            </a:r>
            <a:r>
              <a:rPr lang="en-US" sz="2000" b="0" strike="noStrike" spc="-1" dirty="0" err="1">
                <a:solidFill>
                  <a:srgbClr val="000000"/>
                </a:solidFill>
                <a:latin typeface="Arial"/>
              </a:rPr>
              <a:t>zwischen</a:t>
            </a:r>
            <a:r>
              <a:rPr lang="en-US" sz="2000" b="0" strike="noStrike" spc="-1" dirty="0">
                <a:solidFill>
                  <a:srgbClr val="000000"/>
                </a:solidFill>
                <a:latin typeface="Arial"/>
              </a:rPr>
              <a:t> </a:t>
            </a:r>
            <a:r>
              <a:rPr lang="en-US" sz="2000" b="0" strike="noStrike" spc="-1" dirty="0" err="1">
                <a:solidFill>
                  <a:srgbClr val="000000"/>
                </a:solidFill>
                <a:latin typeface="Arial"/>
              </a:rPr>
              <a:t>Bild</a:t>
            </a:r>
            <a:r>
              <a:rPr lang="en-US" sz="2000" b="0" strike="noStrike" spc="-1" dirty="0">
                <a:solidFill>
                  <a:srgbClr val="000000"/>
                </a:solidFill>
                <a:latin typeface="Arial"/>
              </a:rPr>
              <a:t> und </a:t>
            </a:r>
            <a:r>
              <a:rPr lang="en-US" sz="2000" b="0" strike="noStrike" spc="-1" dirty="0" err="1">
                <a:solidFill>
                  <a:srgbClr val="000000"/>
                </a:solidFill>
                <a:latin typeface="Arial"/>
              </a:rPr>
              <a:t>Pseudowort</a:t>
            </a:r>
            <a:r>
              <a:rPr lang="en-US" sz="2000" b="0" strike="noStrike" spc="-1" dirty="0">
                <a:solidFill>
                  <a:srgbClr val="000000"/>
                </a:solidFill>
                <a:latin typeface="Arial"/>
              </a:rPr>
              <a:t>.</a:t>
            </a:r>
            <a:br>
              <a:rPr sz="2000" dirty="0"/>
            </a:br>
            <a:br>
              <a:rPr sz="2000" dirty="0"/>
            </a:br>
            <a:endParaRPr lang="de-DE" sz="2000" b="0" strike="noStrike" spc="-1" dirty="0">
              <a:solidFill>
                <a:srgbClr val="000000"/>
              </a:solidFill>
              <a:latin typeface="Calibri"/>
            </a:endParaRPr>
          </a:p>
        </p:txBody>
      </p:sp>
      <p:pic>
        <p:nvPicPr>
          <p:cNvPr id="60" name="Grafik 11"/>
          <p:cNvPicPr/>
          <p:nvPr/>
        </p:nvPicPr>
        <p:blipFill>
          <a:blip r:embed="rId3"/>
          <a:stretch/>
        </p:blipFill>
        <p:spPr>
          <a:xfrm>
            <a:off x="1146994" y="4183298"/>
            <a:ext cx="1859400" cy="1303560"/>
          </a:xfrm>
          <a:prstGeom prst="rect">
            <a:avLst/>
          </a:prstGeom>
          <a:ln w="22225">
            <a:solidFill>
              <a:srgbClr val="000000"/>
            </a:solidFill>
            <a:round/>
          </a:ln>
        </p:spPr>
      </p:pic>
      <p:pic>
        <p:nvPicPr>
          <p:cNvPr id="61" name="Grafik 12"/>
          <p:cNvPicPr/>
          <p:nvPr/>
        </p:nvPicPr>
        <p:blipFill>
          <a:blip r:embed="rId3"/>
          <a:stretch/>
        </p:blipFill>
        <p:spPr>
          <a:xfrm>
            <a:off x="4046794" y="4183298"/>
            <a:ext cx="1859400" cy="1303560"/>
          </a:xfrm>
          <a:prstGeom prst="rect">
            <a:avLst/>
          </a:prstGeom>
          <a:ln w="22225">
            <a:solidFill>
              <a:srgbClr val="000000"/>
            </a:solidFill>
            <a:round/>
          </a:ln>
        </p:spPr>
      </p:pic>
      <p:sp>
        <p:nvSpPr>
          <p:cNvPr id="62" name="Textfeld 13"/>
          <p:cNvSpPr/>
          <p:nvPr/>
        </p:nvSpPr>
        <p:spPr>
          <a:xfrm>
            <a:off x="1146994" y="5926778"/>
            <a:ext cx="809640" cy="363960"/>
          </a:xfrm>
          <a:prstGeom prst="rect">
            <a:avLst/>
          </a:prstGeom>
          <a:solidFill>
            <a:srgbClr val="5B9BD5"/>
          </a:solidFill>
          <a:ln>
            <a:solidFill>
              <a:srgbClr val="FF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dirty="0">
                <a:solidFill>
                  <a:srgbClr val="FFFFFF"/>
                </a:solidFill>
                <a:latin typeface="Calibri"/>
              </a:rPr>
              <a:t>richtig</a:t>
            </a:r>
            <a:endParaRPr lang="en-US" sz="1800" b="0" strike="noStrike" spc="-1" dirty="0">
              <a:latin typeface="Arial"/>
            </a:endParaRPr>
          </a:p>
        </p:txBody>
      </p:sp>
      <p:sp>
        <p:nvSpPr>
          <p:cNvPr id="63" name="Textfeld 14"/>
          <p:cNvSpPr/>
          <p:nvPr/>
        </p:nvSpPr>
        <p:spPr>
          <a:xfrm>
            <a:off x="2107114" y="5926778"/>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
        <p:nvSpPr>
          <p:cNvPr id="64" name="Textfeld 15"/>
          <p:cNvSpPr/>
          <p:nvPr/>
        </p:nvSpPr>
        <p:spPr>
          <a:xfrm>
            <a:off x="1346614" y="5465313"/>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dirty="0" err="1">
                <a:solidFill>
                  <a:srgbClr val="000000"/>
                </a:solidFill>
                <a:latin typeface="Calibri"/>
              </a:rPr>
              <a:t>Gesor</a:t>
            </a:r>
            <a:endParaRPr lang="en-US" sz="2400" b="0" strike="noStrike" spc="-1" dirty="0">
              <a:latin typeface="Arial"/>
            </a:endParaRPr>
          </a:p>
        </p:txBody>
      </p:sp>
      <p:sp>
        <p:nvSpPr>
          <p:cNvPr id="65" name="Textfeld 16"/>
          <p:cNvSpPr/>
          <p:nvPr/>
        </p:nvSpPr>
        <p:spPr>
          <a:xfrm>
            <a:off x="4246414" y="5465313"/>
            <a:ext cx="146016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2400" b="1" strike="noStrike" spc="-1" dirty="0" err="1">
                <a:solidFill>
                  <a:srgbClr val="000000"/>
                </a:solidFill>
                <a:latin typeface="Calibri"/>
              </a:rPr>
              <a:t>Kulat</a:t>
            </a:r>
            <a:endParaRPr lang="en-US" sz="2400" b="0" strike="noStrike" spc="-1" dirty="0">
              <a:latin typeface="Arial"/>
            </a:endParaRPr>
          </a:p>
        </p:txBody>
      </p:sp>
      <p:sp>
        <p:nvSpPr>
          <p:cNvPr id="66" name="Textfeld 17"/>
          <p:cNvSpPr/>
          <p:nvPr/>
        </p:nvSpPr>
        <p:spPr>
          <a:xfrm>
            <a:off x="4046794" y="5926778"/>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dirty="0">
                <a:solidFill>
                  <a:srgbClr val="000000"/>
                </a:solidFill>
                <a:latin typeface="Calibri"/>
              </a:rPr>
              <a:t>richtig</a:t>
            </a:r>
            <a:endParaRPr lang="en-US" sz="1800" b="0" strike="noStrike" spc="-1" dirty="0">
              <a:latin typeface="Arial"/>
            </a:endParaRPr>
          </a:p>
        </p:txBody>
      </p:sp>
      <p:sp>
        <p:nvSpPr>
          <p:cNvPr id="67" name="Textfeld 18"/>
          <p:cNvSpPr/>
          <p:nvPr/>
        </p:nvSpPr>
        <p:spPr>
          <a:xfrm>
            <a:off x="5096554" y="5926778"/>
            <a:ext cx="809640" cy="363960"/>
          </a:xfrm>
          <a:prstGeom prst="rect">
            <a:avLst/>
          </a:prstGeom>
          <a:solidFill>
            <a:srgbClr val="5B9BD5"/>
          </a:solidFill>
          <a:ln>
            <a:solidFill>
              <a:srgbClr val="FF0000"/>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0" strike="noStrike" spc="-1">
                <a:solidFill>
                  <a:srgbClr val="FFFFFF"/>
                </a:solidFill>
                <a:latin typeface="Calibri"/>
              </a:rPr>
              <a:t>falsch</a:t>
            </a:r>
            <a:endParaRPr lang="en-US" sz="1800" b="0" strike="noStrike" spc="-1">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1032120" y="1276560"/>
            <a:ext cx="9875160" cy="2164680"/>
          </a:xfrm>
          <a:prstGeom prst="rect">
            <a:avLst/>
          </a:prstGeom>
          <a:solidFill>
            <a:schemeClr val="bg1"/>
          </a:solidFill>
          <a:ln w="0">
            <a:solidFill>
              <a:schemeClr val="bg1"/>
            </a:solidFill>
          </a:ln>
        </p:spPr>
        <p:txBody>
          <a:bodyPr numCol="1" spcCol="0" anchor="ctr">
            <a:noAutofit/>
          </a:bodyPr>
          <a:lstStyle/>
          <a:p>
            <a:pPr>
              <a:lnSpc>
                <a:spcPct val="100000"/>
              </a:lnSpc>
            </a:pPr>
            <a:br>
              <a:rPr sz="2800" dirty="0"/>
            </a:br>
            <a:r>
              <a:rPr lang="en-US" sz="2800" b="1" u="sng" strike="noStrike" spc="-1" dirty="0" err="1">
                <a:solidFill>
                  <a:srgbClr val="000000"/>
                </a:solidFill>
                <a:uFillTx/>
                <a:latin typeface="Arial"/>
              </a:rPr>
              <a:t>Ablauf</a:t>
            </a:r>
            <a:r>
              <a:rPr lang="en-US" sz="2800" b="1" u="sng" strike="noStrike" spc="-1" dirty="0">
                <a:solidFill>
                  <a:srgbClr val="000000"/>
                </a:solidFill>
                <a:uFillTx/>
                <a:latin typeface="Arial"/>
              </a:rPr>
              <a:t> der </a:t>
            </a:r>
            <a:r>
              <a:rPr lang="en-US" sz="2800" b="1" u="sng" strike="noStrike" spc="-1" dirty="0" err="1">
                <a:solidFill>
                  <a:srgbClr val="000000"/>
                </a:solidFill>
                <a:uFillTx/>
                <a:latin typeface="Arial"/>
              </a:rPr>
              <a:t>Aufgaben</a:t>
            </a:r>
            <a:br>
              <a:rPr sz="2800" dirty="0"/>
            </a:br>
            <a:br>
              <a:rPr sz="2000" dirty="0"/>
            </a:br>
            <a:r>
              <a:rPr lang="de-DE" sz="2000" dirty="0">
                <a:latin typeface="+mn-lt"/>
              </a:rPr>
              <a:t>Der generelle Ablauf der beiden Aufgaben ist identisch und wird auf den nächsten Folien anhand der beiden Aufgaben illustriert.</a:t>
            </a:r>
            <a:br>
              <a:rPr lang="de-DE" sz="2000" dirty="0">
                <a:latin typeface="+mn-lt"/>
              </a:rPr>
            </a:br>
            <a:br>
              <a:rPr lang="de-DE" sz="2000" dirty="0">
                <a:latin typeface="+mn-lt"/>
              </a:rPr>
            </a:br>
            <a:r>
              <a:rPr lang="de-DE" sz="2000" dirty="0">
                <a:latin typeface="+mn-lt"/>
              </a:rPr>
              <a:t>Zunächst wird Aufgabe 2 beschrieben (Lernaufgabe).</a:t>
            </a:r>
            <a:br>
              <a:rPr lang="en-US" dirty="0"/>
            </a:br>
            <a:br>
              <a:rPr sz="2000" dirty="0"/>
            </a:br>
            <a:endParaRPr lang="de-DE" sz="2000" b="0" strike="noStrike" spc="-1" dirty="0">
              <a:solidFill>
                <a:srgbClr val="000000"/>
              </a:solidFill>
              <a:latin typeface="Calibri"/>
            </a:endParaRPr>
          </a:p>
        </p:txBody>
      </p:sp>
    </p:spTree>
    <p:extLst>
      <p:ext uri="{BB962C8B-B14F-4D97-AF65-F5344CB8AC3E}">
        <p14:creationId xmlns:p14="http://schemas.microsoft.com/office/powerpoint/2010/main" val="3921941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1431720" y="434520"/>
            <a:ext cx="9370800" cy="1616400"/>
          </a:xfrm>
          <a:prstGeom prst="rect">
            <a:avLst/>
          </a:prstGeom>
          <a:noFill/>
          <a:ln w="0">
            <a:noFill/>
          </a:ln>
        </p:spPr>
        <p:txBody>
          <a:bodyPr numCol="1" spcCol="0" anchor="ctr">
            <a:noAutofit/>
          </a:bodyPr>
          <a:lstStyle/>
          <a:p>
            <a:pPr algn="ctr">
              <a:lnSpc>
                <a:spcPct val="100000"/>
              </a:lnSpc>
            </a:pPr>
            <a:r>
              <a:rPr lang="de-DE" sz="2000" dirty="0">
                <a:latin typeface="+mn-lt"/>
              </a:rPr>
              <a:t>Während der </a:t>
            </a:r>
            <a:r>
              <a:rPr lang="de-DE" sz="2000" b="1" dirty="0">
                <a:latin typeface="+mn-lt"/>
              </a:rPr>
              <a:t>Lernaufgabe</a:t>
            </a:r>
            <a:r>
              <a:rPr lang="de-DE" sz="2000" dirty="0">
                <a:latin typeface="+mn-lt"/>
              </a:rPr>
              <a:t>, </a:t>
            </a:r>
            <a:r>
              <a:rPr lang="en-US" sz="2000" b="0" strike="noStrike" spc="-1" dirty="0" err="1">
                <a:solidFill>
                  <a:srgbClr val="000000"/>
                </a:solidFill>
                <a:latin typeface="+mn-lt"/>
              </a:rPr>
              <a:t>erscheinen</a:t>
            </a:r>
            <a:r>
              <a:rPr lang="en-US" sz="2000" b="0" strike="noStrike" spc="-1" dirty="0">
                <a:solidFill>
                  <a:srgbClr val="000000"/>
                </a:solidFill>
                <a:latin typeface="+mn-lt"/>
              </a:rPr>
              <a:t> </a:t>
            </a:r>
            <a:r>
              <a:rPr lang="en-US" sz="2000" b="0" strike="noStrike" spc="-1" dirty="0" err="1">
                <a:solidFill>
                  <a:srgbClr val="000000"/>
                </a:solidFill>
                <a:latin typeface="+mn-lt"/>
              </a:rPr>
              <a:t>Bilder</a:t>
            </a:r>
            <a:r>
              <a:rPr lang="en-US" sz="2000" b="0" strike="noStrike" spc="-1" dirty="0">
                <a:solidFill>
                  <a:srgbClr val="000000"/>
                </a:solidFill>
                <a:latin typeface="+mn-lt"/>
              </a:rPr>
              <a:t> und </a:t>
            </a:r>
            <a:r>
              <a:rPr lang="en-US" sz="2000" b="0" strike="noStrike" spc="-1" dirty="0" err="1">
                <a:solidFill>
                  <a:srgbClr val="000000"/>
                </a:solidFill>
                <a:latin typeface="+mn-lt"/>
              </a:rPr>
              <a:t>Wörter</a:t>
            </a:r>
            <a:r>
              <a:rPr lang="en-US" sz="2000" b="0" spc="-1" dirty="0">
                <a:solidFill>
                  <a:srgbClr val="FF0000"/>
                </a:solidFill>
                <a:latin typeface="+mn-lt"/>
              </a:rPr>
              <a:t> </a:t>
            </a:r>
            <a:r>
              <a:rPr lang="en-US" sz="2000" b="0" strike="noStrike" spc="-1" dirty="0" err="1">
                <a:solidFill>
                  <a:srgbClr val="000000"/>
                </a:solidFill>
                <a:latin typeface="+mn-lt"/>
              </a:rPr>
              <a:t>jeweils</a:t>
            </a:r>
            <a:r>
              <a:rPr lang="en-US" sz="2000" b="0" strike="noStrike" spc="-1" dirty="0">
                <a:solidFill>
                  <a:srgbClr val="000000"/>
                </a:solidFill>
                <a:latin typeface="+mn-lt"/>
              </a:rPr>
              <a:t> für </a:t>
            </a:r>
            <a:r>
              <a:rPr lang="en-US" sz="2000" b="1" strike="noStrike" spc="-1" dirty="0">
                <a:solidFill>
                  <a:srgbClr val="FF0000"/>
                </a:solidFill>
                <a:latin typeface="+mn-lt"/>
              </a:rPr>
              <a:t>2,5 </a:t>
            </a:r>
            <a:r>
              <a:rPr lang="en-US" sz="2000" b="1" strike="noStrike" spc="-1" dirty="0" err="1">
                <a:solidFill>
                  <a:srgbClr val="FF0000"/>
                </a:solidFill>
                <a:latin typeface="+mn-lt"/>
              </a:rPr>
              <a:t>Sekunden</a:t>
            </a:r>
            <a:r>
              <a:rPr lang="en-US" sz="2000" b="1" strike="noStrike" spc="-1" dirty="0">
                <a:solidFill>
                  <a:srgbClr val="FF0000"/>
                </a:solidFill>
                <a:latin typeface="+mn-lt"/>
              </a:rPr>
              <a:t> </a:t>
            </a:r>
            <a:r>
              <a:rPr lang="en-US" sz="2000" b="0" strike="noStrike" spc="-1" dirty="0">
                <a:solidFill>
                  <a:srgbClr val="000000"/>
                </a:solidFill>
                <a:latin typeface="+mn-lt"/>
              </a:rPr>
              <a:t>auf dem </a:t>
            </a:r>
            <a:r>
              <a:rPr lang="en-US" sz="2000" b="0" strike="noStrike" spc="-1" dirty="0" err="1">
                <a:solidFill>
                  <a:srgbClr val="000000"/>
                </a:solidFill>
                <a:latin typeface="+mn-lt"/>
              </a:rPr>
              <a:t>Bildschirm</a:t>
            </a:r>
            <a:r>
              <a:rPr lang="en-US" sz="2000" b="0" strike="noStrike" spc="-1" dirty="0">
                <a:solidFill>
                  <a:srgbClr val="000000"/>
                </a:solidFill>
                <a:latin typeface="+mn-lt"/>
              </a:rPr>
              <a:t>. In </a:t>
            </a:r>
            <a:r>
              <a:rPr lang="en-US" sz="2000" b="0" strike="noStrike" spc="-1" dirty="0" err="1">
                <a:solidFill>
                  <a:srgbClr val="000000"/>
                </a:solidFill>
                <a:latin typeface="+mn-lt"/>
              </a:rPr>
              <a:t>dieser</a:t>
            </a:r>
            <a:r>
              <a:rPr lang="en-US" sz="2000" b="0" strike="noStrike" spc="-1" dirty="0">
                <a:solidFill>
                  <a:srgbClr val="000000"/>
                </a:solidFill>
                <a:latin typeface="+mn-lt"/>
              </a:rPr>
              <a:t> </a:t>
            </a:r>
            <a:r>
              <a:rPr lang="en-US" sz="2000" b="0" strike="noStrike" spc="-1" dirty="0">
                <a:solidFill>
                  <a:srgbClr val="000000"/>
                </a:solidFill>
                <a:latin typeface="Arial"/>
              </a:rPr>
              <a:t>Zeit </a:t>
            </a:r>
            <a:r>
              <a:rPr lang="en-US" sz="2000" b="0" strike="noStrike" spc="-1" dirty="0" err="1">
                <a:solidFill>
                  <a:srgbClr val="000000"/>
                </a:solidFill>
                <a:latin typeface="Arial"/>
              </a:rPr>
              <a:t>sollen</a:t>
            </a:r>
            <a:r>
              <a:rPr lang="en-US" sz="2000" b="0" strike="noStrike" spc="-1" dirty="0">
                <a:solidFill>
                  <a:srgbClr val="000000"/>
                </a:solidFill>
                <a:latin typeface="Arial"/>
              </a:rPr>
              <a:t> Sie </a:t>
            </a:r>
            <a:r>
              <a:rPr lang="en-US" sz="2000" b="0" strike="noStrike" spc="-1" dirty="0" err="1">
                <a:solidFill>
                  <a:srgbClr val="000000"/>
                </a:solidFill>
                <a:latin typeface="Arial"/>
              </a:rPr>
              <a:t>durch</a:t>
            </a:r>
            <a:r>
              <a:rPr lang="en-US" sz="2000" b="0" strike="noStrike" spc="-1" dirty="0">
                <a:solidFill>
                  <a:srgbClr val="000000"/>
                </a:solidFill>
                <a:latin typeface="Arial"/>
              </a:rPr>
              <a:t> </a:t>
            </a:r>
            <a:r>
              <a:rPr lang="en-US" sz="2000" b="0" strike="noStrike" spc="-1" dirty="0" err="1">
                <a:solidFill>
                  <a:srgbClr val="000000"/>
                </a:solidFill>
                <a:latin typeface="Arial"/>
              </a:rPr>
              <a:t>Tastendruck</a:t>
            </a:r>
            <a:r>
              <a:rPr lang="en-US" sz="2000" b="0" strike="noStrike" spc="-1" dirty="0">
                <a:solidFill>
                  <a:srgbClr val="000000"/>
                </a:solidFill>
                <a:latin typeface="Arial"/>
              </a:rPr>
              <a:t> </a:t>
            </a:r>
            <a:r>
              <a:rPr lang="en-US" sz="2000" b="0" strike="noStrike" spc="-1" dirty="0" err="1">
                <a:solidFill>
                  <a:srgbClr val="000000"/>
                </a:solidFill>
                <a:latin typeface="Arial"/>
              </a:rPr>
              <a:t>entscheiden</a:t>
            </a:r>
            <a:r>
              <a:rPr lang="en-US" sz="2000" b="0" strike="noStrike" spc="-1" dirty="0">
                <a:solidFill>
                  <a:srgbClr val="000000"/>
                </a:solidFill>
                <a:latin typeface="Arial"/>
              </a:rPr>
              <a:t>, </a:t>
            </a:r>
            <a:r>
              <a:rPr lang="en-US" sz="2000" b="0" strike="noStrike" spc="-1" dirty="0" err="1">
                <a:solidFill>
                  <a:srgbClr val="000000"/>
                </a:solidFill>
                <a:latin typeface="Arial"/>
              </a:rPr>
              <a:t>ob</a:t>
            </a:r>
            <a:r>
              <a:rPr lang="en-US" sz="2000" b="0" strike="noStrike" spc="-1" dirty="0">
                <a:solidFill>
                  <a:srgbClr val="000000"/>
                </a:solidFill>
                <a:latin typeface="Arial"/>
              </a:rPr>
              <a:t> die </a:t>
            </a:r>
            <a:r>
              <a:rPr lang="en-US" sz="2000" b="0" strike="noStrike" spc="-1" dirty="0" err="1">
                <a:solidFill>
                  <a:srgbClr val="000000"/>
                </a:solidFill>
                <a:latin typeface="Arial"/>
              </a:rPr>
              <a:t>präsentierte</a:t>
            </a:r>
            <a:r>
              <a:rPr lang="en-US" sz="2000" b="0" strike="noStrike" spc="-1" dirty="0">
                <a:solidFill>
                  <a:srgbClr val="000000"/>
                </a:solidFill>
                <a:latin typeface="Arial"/>
              </a:rPr>
              <a:t> </a:t>
            </a:r>
            <a:r>
              <a:rPr lang="en-US" sz="2000" b="0" strike="noStrike" spc="-1" dirty="0" err="1">
                <a:solidFill>
                  <a:srgbClr val="000000"/>
                </a:solidFill>
                <a:latin typeface="Arial"/>
              </a:rPr>
              <a:t>Paarung</a:t>
            </a:r>
            <a:r>
              <a:rPr lang="en-US" sz="2000" b="0" strike="noStrike" spc="-1" dirty="0">
                <a:solidFill>
                  <a:srgbClr val="000000"/>
                </a:solidFill>
                <a:latin typeface="Arial"/>
              </a:rPr>
              <a:t> </a:t>
            </a:r>
            <a:r>
              <a:rPr lang="en-US" sz="2000" b="1" strike="noStrike" spc="-1" dirty="0" err="1">
                <a:solidFill>
                  <a:srgbClr val="000000"/>
                </a:solidFill>
                <a:latin typeface="Arial"/>
              </a:rPr>
              <a:t>richtig</a:t>
            </a:r>
            <a:r>
              <a:rPr lang="en-US" sz="2000" b="0" strike="noStrike" spc="-1" dirty="0">
                <a:solidFill>
                  <a:srgbClr val="000000"/>
                </a:solidFill>
                <a:latin typeface="Arial"/>
              </a:rPr>
              <a:t> </a:t>
            </a:r>
            <a:r>
              <a:rPr lang="en-US" sz="2000" b="0" strike="noStrike" spc="-1" dirty="0" err="1">
                <a:solidFill>
                  <a:srgbClr val="000000"/>
                </a:solidFill>
                <a:latin typeface="Arial"/>
              </a:rPr>
              <a:t>oder</a:t>
            </a:r>
            <a:r>
              <a:rPr lang="en-US" sz="2000" b="0" strike="noStrike" spc="-1" dirty="0">
                <a:solidFill>
                  <a:srgbClr val="000000"/>
                </a:solidFill>
                <a:latin typeface="Arial"/>
              </a:rPr>
              <a:t> </a:t>
            </a:r>
            <a:r>
              <a:rPr lang="en-US" sz="2000" b="1" strike="noStrike" spc="-1" dirty="0" err="1">
                <a:solidFill>
                  <a:srgbClr val="000000"/>
                </a:solidFill>
                <a:latin typeface="Arial"/>
              </a:rPr>
              <a:t>falsch</a:t>
            </a:r>
            <a:r>
              <a:rPr lang="en-US" sz="2000" b="0" strike="noStrike" spc="-1" dirty="0">
                <a:solidFill>
                  <a:srgbClr val="000000"/>
                </a:solidFill>
                <a:latin typeface="Arial"/>
              </a:rPr>
              <a:t> </a:t>
            </a:r>
            <a:r>
              <a:rPr lang="en-US" sz="2000" b="0" strike="noStrike" spc="-1" dirty="0" err="1">
                <a:solidFill>
                  <a:srgbClr val="000000"/>
                </a:solidFill>
                <a:latin typeface="Arial"/>
              </a:rPr>
              <a:t>ist</a:t>
            </a:r>
            <a:r>
              <a:rPr lang="en-US" sz="2000" b="0" strike="noStrike" spc="-1" dirty="0">
                <a:solidFill>
                  <a:srgbClr val="000000"/>
                </a:solidFill>
                <a:latin typeface="Arial"/>
              </a:rPr>
              <a:t>.</a:t>
            </a:r>
            <a:br>
              <a:rPr sz="2000" dirty="0"/>
            </a:br>
            <a:br>
              <a:rPr sz="2000" dirty="0"/>
            </a:br>
            <a:r>
              <a:rPr lang="en-US" sz="2000" b="0" strike="noStrike" spc="-1" dirty="0">
                <a:solidFill>
                  <a:srgbClr val="000000"/>
                </a:solidFill>
                <a:latin typeface="Arial"/>
              </a:rPr>
              <a:t>Bei den </a:t>
            </a:r>
            <a:r>
              <a:rPr lang="en-US" sz="2000" b="0" strike="noStrike" spc="-1" dirty="0" err="1">
                <a:solidFill>
                  <a:srgbClr val="000000"/>
                </a:solidFill>
                <a:latin typeface="Arial"/>
              </a:rPr>
              <a:t>ersten</a:t>
            </a:r>
            <a:r>
              <a:rPr lang="en-US" sz="2000" b="0" strike="noStrike" spc="-1" dirty="0">
                <a:solidFill>
                  <a:srgbClr val="000000"/>
                </a:solidFill>
                <a:latin typeface="Arial"/>
              </a:rPr>
              <a:t> </a:t>
            </a:r>
            <a:r>
              <a:rPr lang="en-US" sz="2000" b="0" strike="noStrike" spc="-1" dirty="0" err="1">
                <a:solidFill>
                  <a:srgbClr val="000000"/>
                </a:solidFill>
                <a:latin typeface="Arial"/>
              </a:rPr>
              <a:t>Durchgängen</a:t>
            </a:r>
            <a:r>
              <a:rPr lang="en-US" sz="2000" b="0" strike="noStrike" spc="-1" dirty="0">
                <a:solidFill>
                  <a:srgbClr val="000000"/>
                </a:solidFill>
                <a:latin typeface="Arial"/>
              </a:rPr>
              <a:t> </a:t>
            </a:r>
            <a:r>
              <a:rPr lang="en-US" sz="2000" b="0" strike="noStrike" spc="-1" dirty="0" err="1">
                <a:solidFill>
                  <a:srgbClr val="000000"/>
                </a:solidFill>
                <a:latin typeface="Arial"/>
              </a:rPr>
              <a:t>müssen</a:t>
            </a:r>
            <a:r>
              <a:rPr lang="en-US" sz="2000" b="0" strike="noStrike" spc="-1" dirty="0">
                <a:solidFill>
                  <a:srgbClr val="000000"/>
                </a:solidFill>
                <a:latin typeface="Arial"/>
              </a:rPr>
              <a:t> Sie </a:t>
            </a:r>
            <a:r>
              <a:rPr lang="en-US" sz="2000" b="1" strike="noStrike" spc="-1" dirty="0" err="1">
                <a:latin typeface="Arial"/>
              </a:rPr>
              <a:t>zwangsläufig</a:t>
            </a:r>
            <a:r>
              <a:rPr lang="en-US" sz="2000" b="0" strike="noStrike" spc="-1" dirty="0">
                <a:solidFill>
                  <a:srgbClr val="000000"/>
                </a:solidFill>
                <a:latin typeface="Arial"/>
              </a:rPr>
              <a:t> </a:t>
            </a:r>
            <a:r>
              <a:rPr lang="en-US" sz="2000" b="0" strike="noStrike" spc="-1" dirty="0" err="1">
                <a:solidFill>
                  <a:srgbClr val="000000"/>
                </a:solidFill>
                <a:latin typeface="Arial"/>
              </a:rPr>
              <a:t>raten</a:t>
            </a:r>
            <a:r>
              <a:rPr lang="en-US" sz="2000" b="0" strike="noStrike" spc="-1" dirty="0">
                <a:solidFill>
                  <a:srgbClr val="000000"/>
                </a:solidFill>
                <a:latin typeface="Arial"/>
              </a:rPr>
              <a:t>!</a:t>
            </a:r>
            <a:endParaRPr lang="de-DE" sz="2000" b="0" strike="noStrike" spc="-1" dirty="0">
              <a:solidFill>
                <a:srgbClr val="000000"/>
              </a:solidFill>
              <a:latin typeface="Calibri"/>
            </a:endParaRPr>
          </a:p>
        </p:txBody>
      </p:sp>
      <p:sp>
        <p:nvSpPr>
          <p:cNvPr id="70" name="Eckige Klammer rechts 13"/>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71" name="Pfeil nach rechts 14"/>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72" name="Grafik 15"/>
          <p:cNvPicPr/>
          <p:nvPr/>
        </p:nvPicPr>
        <p:blipFill>
          <a:blip r:embed="rId3"/>
          <a:stretch/>
        </p:blipFill>
        <p:spPr>
          <a:xfrm>
            <a:off x="2607480" y="2525400"/>
            <a:ext cx="1139400" cy="798840"/>
          </a:xfrm>
          <a:prstGeom prst="rect">
            <a:avLst/>
          </a:prstGeom>
          <a:ln w="22225">
            <a:solidFill>
              <a:srgbClr val="000000"/>
            </a:solidFill>
            <a:round/>
          </a:ln>
        </p:spPr>
      </p:pic>
      <p:sp>
        <p:nvSpPr>
          <p:cNvPr id="73" name="Textfeld 16"/>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74" name="Textfeld 19"/>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Gesor</a:t>
            </a:r>
            <a:endParaRPr lang="en-US" sz="1800" b="0" strike="noStrike" spc="-1">
              <a:latin typeface="Arial"/>
            </a:endParaRPr>
          </a:p>
        </p:txBody>
      </p:sp>
      <p:sp>
        <p:nvSpPr>
          <p:cNvPr id="75" name="Gerade Verbindung mit Pfeil 21"/>
          <p:cNvSpPr/>
          <p:nvPr/>
        </p:nvSpPr>
        <p:spPr>
          <a:xfrm flipH="1">
            <a:off x="3934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76" name="Grafik 22"/>
          <p:cNvPicPr/>
          <p:nvPr/>
        </p:nvPicPr>
        <p:blipFill>
          <a:blip r:embed="rId4"/>
          <a:stretch/>
        </p:blipFill>
        <p:spPr>
          <a:xfrm>
            <a:off x="2794320" y="4978080"/>
            <a:ext cx="1002960" cy="995400"/>
          </a:xfrm>
          <a:prstGeom prst="rect">
            <a:avLst/>
          </a:prstGeom>
          <a:ln w="0">
            <a:noFill/>
          </a:ln>
        </p:spPr>
      </p:pic>
      <p:sp>
        <p:nvSpPr>
          <p:cNvPr id="77" name="Textfeld 23"/>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78" name="Textfeld 24"/>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
        <p:nvSpPr>
          <p:cNvPr id="79" name="Textfeld 1"/>
          <p:cNvSpPr/>
          <p:nvPr/>
        </p:nvSpPr>
        <p:spPr>
          <a:xfrm>
            <a:off x="2660760" y="3630240"/>
            <a:ext cx="242496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Entscheidung (2.5 Sek)</a:t>
            </a:r>
            <a:endParaRPr lang="en-US" sz="1800" b="0" strike="noStrike" spc="-1">
              <a:latin typeface="Arial"/>
            </a:endParaRPr>
          </a:p>
        </p:txBody>
      </p:sp>
    </p:spTree>
    <p:extLst>
      <p:ext uri="{BB962C8B-B14F-4D97-AF65-F5344CB8AC3E}">
        <p14:creationId xmlns:p14="http://schemas.microsoft.com/office/powerpoint/2010/main" val="2714652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1431720" y="525600"/>
            <a:ext cx="9370800" cy="2226240"/>
          </a:xfrm>
          <a:prstGeom prst="rect">
            <a:avLst/>
          </a:prstGeom>
          <a:noFill/>
          <a:ln w="0">
            <a:noFill/>
          </a:ln>
        </p:spPr>
        <p:txBody>
          <a:bodyPr numCol="1" spcCol="0" anchor="ctr">
            <a:noAutofit/>
          </a:bodyPr>
          <a:lstStyle/>
          <a:p>
            <a:pPr algn="ctr">
              <a:lnSpc>
                <a:spcPct val="100000"/>
              </a:lnSpc>
              <a:buNone/>
            </a:pPr>
            <a:r>
              <a:rPr lang="de-DE" sz="2000" b="0" strike="noStrike" spc="-1">
                <a:solidFill>
                  <a:srgbClr val="000000"/>
                </a:solidFill>
                <a:latin typeface="Arial"/>
              </a:rPr>
              <a:t>Unmittelbar im Anschluß an jede Paarung, erhalten Sie automatisch </a:t>
            </a:r>
            <a:r>
              <a:rPr lang="de-DE" sz="2000" b="1" strike="noStrike" spc="-1">
                <a:solidFill>
                  <a:srgbClr val="000000"/>
                </a:solidFill>
                <a:latin typeface="Arial"/>
              </a:rPr>
              <a:t>Rückmeldung</a:t>
            </a:r>
            <a:r>
              <a:rPr lang="de-DE" sz="2000" b="0" strike="noStrike" spc="-1">
                <a:solidFill>
                  <a:srgbClr val="000000"/>
                </a:solidFill>
                <a:latin typeface="Arial"/>
              </a:rPr>
              <a:t>, ob Ihre Antwort richtig oder falsch war.</a:t>
            </a:r>
            <a:br>
              <a:rPr sz="2000"/>
            </a:br>
            <a:br>
              <a:rPr sz="2000"/>
            </a:br>
            <a:r>
              <a:rPr lang="de-DE" sz="2000" b="0" strike="noStrike" spc="-1">
                <a:solidFill>
                  <a:srgbClr val="000000"/>
                </a:solidFill>
                <a:latin typeface="Arial"/>
              </a:rPr>
              <a:t>Hier sehen Sie ein Beispiel für die Rückmeldung, nach einer </a:t>
            </a:r>
            <a:r>
              <a:rPr lang="de-DE" sz="2000" b="1" strike="noStrike" spc="-1">
                <a:solidFill>
                  <a:srgbClr val="000000"/>
                </a:solidFill>
                <a:latin typeface="Arial"/>
              </a:rPr>
              <a:t>richtigen Antwort</a:t>
            </a:r>
            <a:r>
              <a:rPr lang="de-DE" sz="2000" b="0" strike="noStrike" spc="-1">
                <a:solidFill>
                  <a:srgbClr val="000000"/>
                </a:solidFill>
                <a:latin typeface="Arial"/>
              </a:rPr>
              <a:t>.</a:t>
            </a:r>
            <a:br>
              <a:rPr sz="2000"/>
            </a:br>
            <a:br>
              <a:rPr sz="2000"/>
            </a:br>
            <a:br>
              <a:rPr sz="2000"/>
            </a:br>
            <a:endParaRPr lang="de-DE" sz="2000" b="0" strike="noStrike" spc="-1">
              <a:solidFill>
                <a:srgbClr val="000000"/>
              </a:solidFill>
              <a:latin typeface="Calibri"/>
            </a:endParaRPr>
          </a:p>
        </p:txBody>
      </p:sp>
      <p:sp>
        <p:nvSpPr>
          <p:cNvPr id="81" name="Eckige Klammer rechts 5"/>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82" name="Pfeil nach rechts 3"/>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83" name="Grafik 5"/>
          <p:cNvPicPr/>
          <p:nvPr/>
        </p:nvPicPr>
        <p:blipFill>
          <a:blip r:embed="rId3"/>
          <a:stretch/>
        </p:blipFill>
        <p:spPr>
          <a:xfrm>
            <a:off x="2607480" y="2525400"/>
            <a:ext cx="1139400" cy="798840"/>
          </a:xfrm>
          <a:prstGeom prst="rect">
            <a:avLst/>
          </a:prstGeom>
          <a:ln w="22225">
            <a:solidFill>
              <a:srgbClr val="000000"/>
            </a:solidFill>
            <a:round/>
          </a:ln>
        </p:spPr>
      </p:pic>
      <p:sp>
        <p:nvSpPr>
          <p:cNvPr id="84" name="Textfeld 33"/>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85" name="Eckige Klammer rechts 7"/>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86" name="Textfeld 34"/>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Richtig</a:t>
            </a:r>
            <a:endParaRPr lang="en-US" sz="1800" b="0" strike="noStrike" spc="-1">
              <a:latin typeface="Arial"/>
            </a:endParaRPr>
          </a:p>
          <a:p>
            <a:pPr algn="ctr">
              <a:lnSpc>
                <a:spcPct val="100000"/>
              </a:lnSpc>
              <a:buNone/>
            </a:pPr>
            <a:r>
              <a:rPr lang="de-DE" sz="1800" b="1" strike="noStrike" spc="-1">
                <a:solidFill>
                  <a:srgbClr val="FF0000"/>
                </a:solidFill>
                <a:latin typeface="Arial"/>
              </a:rPr>
              <a:t>Das ist Gesor </a:t>
            </a:r>
            <a:endParaRPr lang="en-US" sz="1800" b="0" strike="noStrike" spc="-1">
              <a:latin typeface="Arial"/>
            </a:endParaRPr>
          </a:p>
        </p:txBody>
      </p:sp>
      <p:sp>
        <p:nvSpPr>
          <p:cNvPr id="87" name="Textfeld 35"/>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Gesor</a:t>
            </a:r>
            <a:endParaRPr lang="en-US" sz="1800" b="0" strike="noStrike" spc="-1">
              <a:latin typeface="Arial"/>
            </a:endParaRPr>
          </a:p>
        </p:txBody>
      </p:sp>
      <p:sp>
        <p:nvSpPr>
          <p:cNvPr id="88" name="Textfeld 36"/>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sp>
        <p:nvSpPr>
          <p:cNvPr id="89" name="Gerade Verbindung mit Pfeil 3"/>
          <p:cNvSpPr/>
          <p:nvPr/>
        </p:nvSpPr>
        <p:spPr>
          <a:xfrm flipH="1">
            <a:off x="6598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90" name="Grafik 6"/>
          <p:cNvPicPr/>
          <p:nvPr/>
        </p:nvPicPr>
        <p:blipFill>
          <a:blip r:embed="rId4"/>
          <a:stretch/>
        </p:blipFill>
        <p:spPr>
          <a:xfrm>
            <a:off x="2794320" y="4978080"/>
            <a:ext cx="1002960" cy="995400"/>
          </a:xfrm>
          <a:prstGeom prst="rect">
            <a:avLst/>
          </a:prstGeom>
          <a:ln w="0">
            <a:noFill/>
          </a:ln>
        </p:spPr>
      </p:pic>
      <p:sp>
        <p:nvSpPr>
          <p:cNvPr id="91" name="Textfeld 37"/>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92" name="Textfeld 38"/>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431720" y="552240"/>
            <a:ext cx="9370800" cy="1236600"/>
          </a:xfrm>
          <a:prstGeom prst="rect">
            <a:avLst/>
          </a:prstGeom>
          <a:noFill/>
          <a:ln w="0">
            <a:noFill/>
          </a:ln>
        </p:spPr>
        <p:txBody>
          <a:bodyPr numCol="1" spcCol="0" anchor="ctr">
            <a:noAutofit/>
          </a:bodyPr>
          <a:lstStyle/>
          <a:p>
            <a:pPr algn="ctr">
              <a:lnSpc>
                <a:spcPct val="100000"/>
              </a:lnSpc>
              <a:buNone/>
            </a:pPr>
            <a:r>
              <a:rPr lang="de-DE" sz="2000" b="0" strike="noStrike" spc="-1">
                <a:solidFill>
                  <a:srgbClr val="000000"/>
                </a:solidFill>
                <a:latin typeface="Arial"/>
              </a:rPr>
              <a:t>Wenn Ihre Antwort </a:t>
            </a:r>
            <a:r>
              <a:rPr lang="de-DE" sz="2000" b="1" strike="noStrike" spc="-1">
                <a:solidFill>
                  <a:srgbClr val="000000"/>
                </a:solidFill>
                <a:latin typeface="Arial"/>
              </a:rPr>
              <a:t>falsch</a:t>
            </a:r>
            <a:r>
              <a:rPr lang="de-DE" sz="2000" b="0" strike="noStrike" spc="-1">
                <a:solidFill>
                  <a:srgbClr val="000000"/>
                </a:solidFill>
                <a:latin typeface="Arial"/>
              </a:rPr>
              <a:t> war, erhalten Sie ebenfalls Rückmeldung.</a:t>
            </a:r>
            <a:br>
              <a:rPr sz="2000"/>
            </a:br>
            <a:br>
              <a:rPr sz="2000"/>
            </a:br>
            <a:r>
              <a:rPr lang="de-DE" sz="2000" b="0" strike="noStrike" spc="-1">
                <a:solidFill>
                  <a:srgbClr val="000000"/>
                </a:solidFill>
                <a:latin typeface="Arial"/>
              </a:rPr>
              <a:t>Außerdem wird das </a:t>
            </a:r>
            <a:r>
              <a:rPr lang="de-DE" sz="2000" b="1" strike="noStrike" spc="-1">
                <a:solidFill>
                  <a:srgbClr val="000000"/>
                </a:solidFill>
                <a:latin typeface="Arial"/>
              </a:rPr>
              <a:t>korrekte Pseudowort </a:t>
            </a:r>
            <a:r>
              <a:rPr lang="de-DE" sz="2000" b="0" strike="noStrike" spc="-1">
                <a:solidFill>
                  <a:srgbClr val="000000"/>
                </a:solidFill>
                <a:latin typeface="Arial"/>
              </a:rPr>
              <a:t>angezeigt.</a:t>
            </a:r>
            <a:endParaRPr lang="de-DE" sz="2000" b="0" strike="noStrike" spc="-1">
              <a:solidFill>
                <a:srgbClr val="000000"/>
              </a:solidFill>
              <a:latin typeface="Calibri"/>
            </a:endParaRPr>
          </a:p>
        </p:txBody>
      </p:sp>
      <p:sp>
        <p:nvSpPr>
          <p:cNvPr id="94" name="Eckige Klammer rechts 3"/>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95" name="Pfeil nach rechts 2"/>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96" name="Grafik 3"/>
          <p:cNvPicPr/>
          <p:nvPr/>
        </p:nvPicPr>
        <p:blipFill>
          <a:blip r:embed="rId3"/>
          <a:stretch/>
        </p:blipFill>
        <p:spPr>
          <a:xfrm>
            <a:off x="2607480" y="2525400"/>
            <a:ext cx="1139400" cy="798840"/>
          </a:xfrm>
          <a:prstGeom prst="rect">
            <a:avLst/>
          </a:prstGeom>
          <a:ln w="22225">
            <a:solidFill>
              <a:srgbClr val="000000"/>
            </a:solidFill>
            <a:round/>
          </a:ln>
        </p:spPr>
      </p:pic>
      <p:sp>
        <p:nvSpPr>
          <p:cNvPr id="97" name="Textfeld 7"/>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98" name="Eckige Klammer rechts 4"/>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99" name="Textfeld 8"/>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Falsch!</a:t>
            </a:r>
            <a:endParaRPr lang="en-US" sz="1800" b="0" strike="noStrike" spc="-1">
              <a:latin typeface="Arial"/>
            </a:endParaRPr>
          </a:p>
          <a:p>
            <a:pPr algn="ctr">
              <a:lnSpc>
                <a:spcPct val="100000"/>
              </a:lnSpc>
              <a:buNone/>
            </a:pPr>
            <a:r>
              <a:rPr lang="de-DE" sz="1800" b="1" strike="noStrike" spc="-1">
                <a:solidFill>
                  <a:srgbClr val="FF0000"/>
                </a:solidFill>
                <a:latin typeface="Arial"/>
              </a:rPr>
              <a:t>Das ist Gesor </a:t>
            </a:r>
            <a:endParaRPr lang="en-US" sz="1800" b="0" strike="noStrike" spc="-1">
              <a:latin typeface="Arial"/>
            </a:endParaRPr>
          </a:p>
        </p:txBody>
      </p:sp>
      <p:sp>
        <p:nvSpPr>
          <p:cNvPr id="100" name="Textfeld 26"/>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Kulat</a:t>
            </a:r>
            <a:endParaRPr lang="en-US" sz="1800" b="0" strike="noStrike" spc="-1">
              <a:latin typeface="Arial"/>
            </a:endParaRPr>
          </a:p>
        </p:txBody>
      </p:sp>
      <p:sp>
        <p:nvSpPr>
          <p:cNvPr id="101" name="Textfeld 27"/>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sp>
        <p:nvSpPr>
          <p:cNvPr id="102" name="Gerade Verbindung mit Pfeil 2"/>
          <p:cNvSpPr/>
          <p:nvPr/>
        </p:nvSpPr>
        <p:spPr>
          <a:xfrm flipH="1">
            <a:off x="6598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103" name="Grafik 4"/>
          <p:cNvPicPr/>
          <p:nvPr/>
        </p:nvPicPr>
        <p:blipFill>
          <a:blip r:embed="rId4"/>
          <a:stretch/>
        </p:blipFill>
        <p:spPr>
          <a:xfrm>
            <a:off x="2794320" y="4978080"/>
            <a:ext cx="1002960" cy="995400"/>
          </a:xfrm>
          <a:prstGeom prst="rect">
            <a:avLst/>
          </a:prstGeom>
          <a:ln w="0">
            <a:noFill/>
          </a:ln>
        </p:spPr>
      </p:pic>
      <p:sp>
        <p:nvSpPr>
          <p:cNvPr id="104" name="Textfeld 31"/>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105" name="Textfeld 32"/>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1431720" y="533520"/>
            <a:ext cx="9370800" cy="1921320"/>
          </a:xfrm>
          <a:prstGeom prst="rect">
            <a:avLst/>
          </a:prstGeom>
          <a:noFill/>
          <a:ln w="0">
            <a:noFill/>
          </a:ln>
        </p:spPr>
        <p:txBody>
          <a:bodyPr numCol="1" spcCol="0" anchor="ctr">
            <a:noAutofit/>
          </a:bodyPr>
          <a:lstStyle/>
          <a:p>
            <a:pPr algn="ctr">
              <a:lnSpc>
                <a:spcPct val="100000"/>
              </a:lnSpc>
              <a:buNone/>
            </a:pPr>
            <a:r>
              <a:rPr lang="de-DE" sz="2000" b="1" strike="noStrike" spc="-1" dirty="0">
                <a:solidFill>
                  <a:srgbClr val="000000"/>
                </a:solidFill>
                <a:latin typeface="Arial"/>
              </a:rPr>
              <a:t>Es ist wichtig innerhalb von 2.5 Sekunden zu antworten.</a:t>
            </a:r>
            <a:br>
              <a:rPr sz="2000" dirty="0"/>
            </a:br>
            <a:br>
              <a:rPr sz="2000" dirty="0"/>
            </a:br>
            <a:r>
              <a:rPr lang="de-DE" sz="2000" b="0" strike="noStrike" spc="-1" dirty="0">
                <a:solidFill>
                  <a:srgbClr val="000000"/>
                </a:solidFill>
                <a:latin typeface="Arial"/>
              </a:rPr>
              <a:t>Wenn Sie zu spät drücken, wird Ihre Antwort nicht gewertet.</a:t>
            </a:r>
            <a:br>
              <a:rPr sz="2000" dirty="0"/>
            </a:br>
            <a:r>
              <a:rPr lang="de-DE" sz="2000" b="0" strike="noStrike" spc="-1" dirty="0">
                <a:solidFill>
                  <a:srgbClr val="000000"/>
                </a:solidFill>
                <a:latin typeface="Arial"/>
              </a:rPr>
              <a:t>In diesem Fall erhalten Sie ebenfalls Rückmeldung und das korrekte Pseudowort wird angezeigt.  </a:t>
            </a:r>
            <a:br>
              <a:rPr sz="2000" dirty="0"/>
            </a:br>
            <a:r>
              <a:rPr lang="de-DE" sz="2000" b="0" strike="noStrike" spc="-1" dirty="0">
                <a:solidFill>
                  <a:srgbClr val="000000"/>
                </a:solidFill>
                <a:latin typeface="Arial"/>
              </a:rPr>
              <a:t> </a:t>
            </a:r>
            <a:endParaRPr lang="de-DE" sz="2000" b="0" strike="noStrike" spc="-1" dirty="0">
              <a:solidFill>
                <a:srgbClr val="000000"/>
              </a:solidFill>
              <a:latin typeface="Calibri"/>
            </a:endParaRPr>
          </a:p>
        </p:txBody>
      </p:sp>
      <p:sp>
        <p:nvSpPr>
          <p:cNvPr id="107" name="Eckige Klammer rechts 8"/>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08" name="Pfeil nach rechts 4"/>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109" name="Grafik 7"/>
          <p:cNvPicPr/>
          <p:nvPr/>
        </p:nvPicPr>
        <p:blipFill>
          <a:blip r:embed="rId3"/>
          <a:stretch/>
        </p:blipFill>
        <p:spPr>
          <a:xfrm>
            <a:off x="2607480" y="2525400"/>
            <a:ext cx="1139400" cy="798840"/>
          </a:xfrm>
          <a:prstGeom prst="rect">
            <a:avLst/>
          </a:prstGeom>
          <a:ln w="22225">
            <a:solidFill>
              <a:srgbClr val="000000"/>
            </a:solidFill>
            <a:round/>
          </a:ln>
        </p:spPr>
      </p:pic>
      <p:sp>
        <p:nvSpPr>
          <p:cNvPr id="110" name="Textfeld 25"/>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111" name="Eckige Klammer rechts 9"/>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12" name="Textfeld 39"/>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Zu spät!</a:t>
            </a:r>
            <a:endParaRPr lang="en-US" sz="1800" b="0" strike="noStrike" spc="-1">
              <a:latin typeface="Arial"/>
            </a:endParaRPr>
          </a:p>
          <a:p>
            <a:pPr algn="ctr">
              <a:lnSpc>
                <a:spcPct val="100000"/>
              </a:lnSpc>
              <a:buNone/>
            </a:pPr>
            <a:r>
              <a:rPr lang="de-DE" sz="1800" b="1" strike="noStrike" spc="-1">
                <a:solidFill>
                  <a:srgbClr val="FF0000"/>
                </a:solidFill>
                <a:latin typeface="Arial"/>
              </a:rPr>
              <a:t>Das ist Gesor </a:t>
            </a:r>
            <a:endParaRPr lang="en-US" sz="1800" b="0" strike="noStrike" spc="-1">
              <a:latin typeface="Arial"/>
            </a:endParaRPr>
          </a:p>
        </p:txBody>
      </p:sp>
      <p:sp>
        <p:nvSpPr>
          <p:cNvPr id="113" name="Textfeld 40"/>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Gesor</a:t>
            </a:r>
            <a:endParaRPr lang="en-US" sz="1800" b="0" strike="noStrike" spc="-1">
              <a:latin typeface="Arial"/>
            </a:endParaRPr>
          </a:p>
        </p:txBody>
      </p:sp>
      <p:sp>
        <p:nvSpPr>
          <p:cNvPr id="114" name="Textfeld 41"/>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sp>
        <p:nvSpPr>
          <p:cNvPr id="115" name="Gerade Verbindung mit Pfeil 4"/>
          <p:cNvSpPr/>
          <p:nvPr/>
        </p:nvSpPr>
        <p:spPr>
          <a:xfrm flipH="1">
            <a:off x="6598800" y="2270160"/>
            <a:ext cx="393480" cy="606240"/>
          </a:xfrm>
          <a:custGeom>
            <a:avLst/>
            <a:gdLst/>
            <a:ahLst/>
            <a:cxnLst/>
            <a:rect l="l" t="t" r="r" b="b"/>
            <a:pathLst>
              <a:path w="21600" h="21600">
                <a:moveTo>
                  <a:pt x="0" y="0"/>
                </a:moveTo>
                <a:lnTo>
                  <a:pt x="21600" y="21600"/>
                </a:lnTo>
              </a:path>
            </a:pathLst>
          </a:custGeom>
          <a:noFill/>
          <a:ln w="41275">
            <a:solidFill>
              <a:srgbClr val="FF0000"/>
            </a:solidFill>
            <a:tailEnd type="triangle" w="med" len="med"/>
          </a:ln>
        </p:spPr>
        <p:style>
          <a:lnRef idx="1">
            <a:schemeClr val="accent1"/>
          </a:lnRef>
          <a:fillRef idx="0">
            <a:schemeClr val="accent1"/>
          </a:fillRef>
          <a:effectRef idx="0">
            <a:schemeClr val="accent1"/>
          </a:effectRef>
          <a:fontRef idx="minor"/>
        </p:style>
      </p:sp>
      <p:pic>
        <p:nvPicPr>
          <p:cNvPr id="116" name="Grafik 9"/>
          <p:cNvPicPr/>
          <p:nvPr/>
        </p:nvPicPr>
        <p:blipFill>
          <a:blip r:embed="rId4"/>
          <a:stretch/>
        </p:blipFill>
        <p:spPr>
          <a:xfrm>
            <a:off x="5349951" y="5075640"/>
            <a:ext cx="1002960" cy="995400"/>
          </a:xfrm>
          <a:prstGeom prst="rect">
            <a:avLst/>
          </a:prstGeom>
          <a:ln w="0">
            <a:noFill/>
          </a:ln>
        </p:spPr>
      </p:pic>
      <p:sp>
        <p:nvSpPr>
          <p:cNvPr id="117" name="Textfeld 42"/>
          <p:cNvSpPr/>
          <p:nvPr/>
        </p:nvSpPr>
        <p:spPr>
          <a:xfrm>
            <a:off x="5163111" y="466056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118" name="Textfeld 43"/>
          <p:cNvSpPr/>
          <p:nvPr/>
        </p:nvSpPr>
        <p:spPr>
          <a:xfrm>
            <a:off x="6123591" y="466056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2338200" y="1213560"/>
            <a:ext cx="7458480" cy="2836080"/>
          </a:xfrm>
          <a:prstGeom prst="rect">
            <a:avLst/>
          </a:prstGeom>
          <a:noFill/>
          <a:ln w="0">
            <a:noFill/>
          </a:ln>
        </p:spPr>
        <p:txBody>
          <a:bodyPr numCol="1" spcCol="0" anchor="ctr">
            <a:noAutofit/>
          </a:bodyPr>
          <a:lstStyle/>
          <a:p>
            <a:pPr algn="ctr">
              <a:lnSpc>
                <a:spcPct val="100000"/>
              </a:lnSpc>
              <a:buNone/>
            </a:pPr>
            <a:br>
              <a:rPr sz="2000" dirty="0"/>
            </a:br>
            <a:r>
              <a:rPr lang="de-DE" sz="2000" b="0" strike="noStrike" spc="-1" dirty="0">
                <a:solidFill>
                  <a:srgbClr val="000000"/>
                </a:solidFill>
                <a:latin typeface="Arial"/>
              </a:rPr>
              <a:t>Bitte </a:t>
            </a:r>
            <a:r>
              <a:rPr lang="de-DE" sz="2000" b="1" strike="noStrike" spc="-1" dirty="0">
                <a:solidFill>
                  <a:srgbClr val="000000"/>
                </a:solidFill>
                <a:latin typeface="Arial"/>
              </a:rPr>
              <a:t>benutzen Sie die jeweiligen Rückmeldungen</a:t>
            </a:r>
            <a:r>
              <a:rPr lang="de-DE" sz="2000" b="0" strike="noStrike" spc="-1" dirty="0">
                <a:solidFill>
                  <a:srgbClr val="000000"/>
                </a:solidFill>
                <a:latin typeface="Arial"/>
              </a:rPr>
              <a:t>, um im Laufe des Experiments korrekte Paarungen von Bildern und Pseudowörtern zu erlernen.</a:t>
            </a:r>
            <a:br>
              <a:rPr sz="2000" dirty="0"/>
            </a:br>
            <a:br>
              <a:rPr sz="2000" dirty="0"/>
            </a:br>
            <a:r>
              <a:rPr lang="de-DE" sz="2000" b="0" strike="noStrike" spc="-1" dirty="0">
                <a:solidFill>
                  <a:srgbClr val="000000"/>
                </a:solidFill>
                <a:latin typeface="Arial"/>
              </a:rPr>
              <a:t>Wenn Sie sich nicht sicher sind, </a:t>
            </a:r>
            <a:r>
              <a:rPr lang="de-DE" sz="2000" b="1" strike="noStrike" spc="-1" dirty="0">
                <a:solidFill>
                  <a:srgbClr val="000000"/>
                </a:solidFill>
                <a:latin typeface="Arial"/>
              </a:rPr>
              <a:t>raten</a:t>
            </a:r>
            <a:r>
              <a:rPr lang="de-DE" sz="2000" b="0" strike="noStrike" spc="-1" dirty="0">
                <a:solidFill>
                  <a:srgbClr val="000000"/>
                </a:solidFill>
                <a:latin typeface="Arial"/>
              </a:rPr>
              <a:t> Sie bitte.</a:t>
            </a:r>
            <a:br>
              <a:rPr sz="2000" dirty="0"/>
            </a:br>
            <a:br>
              <a:rPr sz="2000" dirty="0"/>
            </a:br>
            <a:br>
              <a:rPr sz="2000" dirty="0"/>
            </a:br>
            <a:endParaRPr lang="de-DE" sz="2000" b="0" strike="noStrike" spc="-1" dirty="0">
              <a:solidFill>
                <a:srgbClr val="000000"/>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1769760" y="739800"/>
            <a:ext cx="9370800" cy="1311480"/>
          </a:xfrm>
          <a:prstGeom prst="rect">
            <a:avLst/>
          </a:prstGeom>
          <a:noFill/>
          <a:ln w="0">
            <a:noFill/>
          </a:ln>
        </p:spPr>
        <p:txBody>
          <a:bodyPr numCol="1" spcCol="0" anchor="ctr">
            <a:noAutofit/>
          </a:bodyPr>
          <a:lstStyle/>
          <a:p>
            <a:pPr>
              <a:lnSpc>
                <a:spcPct val="100000"/>
              </a:lnSpc>
              <a:buNone/>
            </a:pPr>
            <a:r>
              <a:rPr lang="de-DE" sz="2000" b="0" strike="noStrike" spc="-1" dirty="0">
                <a:solidFill>
                  <a:srgbClr val="000000"/>
                </a:solidFill>
                <a:latin typeface="Arial"/>
              </a:rPr>
              <a:t>Der Ablauf der </a:t>
            </a:r>
            <a:r>
              <a:rPr lang="de-DE" sz="2000" b="1" strike="noStrike" spc="-1" dirty="0">
                <a:solidFill>
                  <a:srgbClr val="000000"/>
                </a:solidFill>
                <a:latin typeface="Arial"/>
              </a:rPr>
              <a:t>Bild-Wort Übereinstimmungsaufgabe </a:t>
            </a:r>
            <a:r>
              <a:rPr lang="de-DE" sz="2000" b="0" strike="noStrike" spc="-1" dirty="0">
                <a:solidFill>
                  <a:srgbClr val="000000"/>
                </a:solidFill>
                <a:latin typeface="Arial"/>
              </a:rPr>
              <a:t>ist identisch.</a:t>
            </a:r>
            <a:br>
              <a:rPr sz="2000" dirty="0"/>
            </a:br>
            <a:br>
              <a:rPr sz="2000" dirty="0"/>
            </a:br>
            <a:r>
              <a:rPr lang="de-DE" sz="2000" b="0" strike="noStrike" spc="-1" dirty="0">
                <a:solidFill>
                  <a:srgbClr val="000000"/>
                </a:solidFill>
                <a:latin typeface="Arial"/>
              </a:rPr>
              <a:t>Auch hier erhalten Sie Rückmeldung.</a:t>
            </a:r>
            <a:br>
              <a:rPr sz="2000" dirty="0"/>
            </a:br>
            <a:endParaRPr lang="de-DE" sz="2000" b="0" strike="noStrike" spc="-1" dirty="0">
              <a:solidFill>
                <a:srgbClr val="000000"/>
              </a:solidFill>
              <a:latin typeface="Calibri"/>
            </a:endParaRPr>
          </a:p>
        </p:txBody>
      </p:sp>
      <p:sp>
        <p:nvSpPr>
          <p:cNvPr id="121" name="Eckige Klammer rechts 13"/>
          <p:cNvSpPr/>
          <p:nvPr/>
        </p:nvSpPr>
        <p:spPr>
          <a:xfrm rot="16200000" flipH="1">
            <a:off x="3793320" y="2212560"/>
            <a:ext cx="45360" cy="243180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22" name="Pfeil nach rechts 14"/>
          <p:cNvSpPr/>
          <p:nvPr/>
        </p:nvSpPr>
        <p:spPr>
          <a:xfrm>
            <a:off x="2566800" y="3267360"/>
            <a:ext cx="6858720" cy="1097280"/>
          </a:xfrm>
          <a:prstGeom prst="rightArrow">
            <a:avLst>
              <a:gd name="adj1" fmla="val 50000"/>
              <a:gd name="adj2" fmla="val 50000"/>
            </a:avLst>
          </a:prstGeom>
          <a:gradFill rotWithShape="0">
            <a:gsLst>
              <a:gs pos="0">
                <a:srgbClr val="FAFAFA"/>
              </a:gs>
              <a:gs pos="100000">
                <a:srgbClr val="D6D6D6"/>
              </a:gs>
            </a:gsLst>
            <a:lin ang="5400000"/>
          </a:gradFill>
          <a:ln>
            <a:solidFill>
              <a:srgbClr val="A5A5A5"/>
            </a:solidFill>
          </a:ln>
        </p:spPr>
        <p:style>
          <a:lnRef idx="1">
            <a:schemeClr val="accent3"/>
          </a:lnRef>
          <a:fillRef idx="2">
            <a:schemeClr val="accent3"/>
          </a:fillRef>
          <a:effectRef idx="1">
            <a:schemeClr val="accent3"/>
          </a:effectRef>
          <a:fontRef idx="minor"/>
        </p:style>
      </p:sp>
      <p:pic>
        <p:nvPicPr>
          <p:cNvPr id="123" name="Grafik 15"/>
          <p:cNvPicPr/>
          <p:nvPr/>
        </p:nvPicPr>
        <p:blipFill>
          <a:blip r:embed="rId3"/>
          <a:stretch/>
        </p:blipFill>
        <p:spPr>
          <a:xfrm>
            <a:off x="2607480" y="2525400"/>
            <a:ext cx="1139400" cy="798840"/>
          </a:xfrm>
          <a:prstGeom prst="rect">
            <a:avLst/>
          </a:prstGeom>
          <a:ln w="22225">
            <a:solidFill>
              <a:srgbClr val="000000"/>
            </a:solidFill>
            <a:round/>
          </a:ln>
        </p:spPr>
      </p:pic>
      <p:sp>
        <p:nvSpPr>
          <p:cNvPr id="124" name="Textfeld 16"/>
          <p:cNvSpPr/>
          <p:nvPr/>
        </p:nvSpPr>
        <p:spPr>
          <a:xfrm>
            <a:off x="2521080" y="4098960"/>
            <a:ext cx="773352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Arial"/>
              </a:rPr>
              <a:t>0	 1	 2	 3	 4	 5    (Sekunden)</a:t>
            </a:r>
            <a:endParaRPr lang="en-US" sz="1800" b="0" strike="noStrike" spc="-1">
              <a:latin typeface="Arial"/>
            </a:endParaRPr>
          </a:p>
        </p:txBody>
      </p:sp>
      <p:sp>
        <p:nvSpPr>
          <p:cNvPr id="125" name="Eckige Klammer rechts 17"/>
          <p:cNvSpPr/>
          <p:nvPr/>
        </p:nvSpPr>
        <p:spPr>
          <a:xfrm rot="16200000" flipH="1">
            <a:off x="6023520" y="2469240"/>
            <a:ext cx="45360" cy="1922040"/>
          </a:xfrm>
          <a:prstGeom prst="rightBracket">
            <a:avLst>
              <a:gd name="adj" fmla="val 8333"/>
            </a:avLst>
          </a:prstGeom>
          <a:noFill/>
          <a:ln w="31750">
            <a:solidFill>
              <a:srgbClr val="000000"/>
            </a:solidFill>
          </a:ln>
        </p:spPr>
        <p:style>
          <a:lnRef idx="1">
            <a:schemeClr val="accent1"/>
          </a:lnRef>
          <a:fillRef idx="0">
            <a:schemeClr val="accent1"/>
          </a:fillRef>
          <a:effectRef idx="0">
            <a:schemeClr val="accent1"/>
          </a:effectRef>
          <a:fontRef idx="minor"/>
        </p:style>
      </p:sp>
      <p:sp>
        <p:nvSpPr>
          <p:cNvPr id="126" name="Textfeld 18"/>
          <p:cNvSpPr/>
          <p:nvPr/>
        </p:nvSpPr>
        <p:spPr>
          <a:xfrm>
            <a:off x="4963680" y="2742120"/>
            <a:ext cx="208404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buNone/>
            </a:pPr>
            <a:r>
              <a:rPr lang="de-DE" sz="1800" b="1" strike="noStrike" spc="-1">
                <a:solidFill>
                  <a:srgbClr val="FF0000"/>
                </a:solidFill>
                <a:latin typeface="Arial"/>
              </a:rPr>
              <a:t>Richtig</a:t>
            </a:r>
            <a:endParaRPr lang="en-US" sz="1800" b="0" strike="noStrike" spc="-1">
              <a:latin typeface="Arial"/>
            </a:endParaRPr>
          </a:p>
          <a:p>
            <a:pPr algn="ctr">
              <a:lnSpc>
                <a:spcPct val="100000"/>
              </a:lnSpc>
              <a:buNone/>
            </a:pPr>
            <a:r>
              <a:rPr lang="de-DE" sz="1800" b="1" strike="noStrike" spc="-1">
                <a:solidFill>
                  <a:srgbClr val="FF0000"/>
                </a:solidFill>
                <a:latin typeface="Arial"/>
              </a:rPr>
              <a:t>Das ist Sonne </a:t>
            </a:r>
            <a:endParaRPr lang="en-US" sz="1800" b="0" strike="noStrike" spc="-1">
              <a:latin typeface="Arial"/>
            </a:endParaRPr>
          </a:p>
        </p:txBody>
      </p:sp>
      <p:sp>
        <p:nvSpPr>
          <p:cNvPr id="127" name="Textfeld 19"/>
          <p:cNvSpPr/>
          <p:nvPr/>
        </p:nvSpPr>
        <p:spPr>
          <a:xfrm>
            <a:off x="2770200" y="2119320"/>
            <a:ext cx="919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1" strike="noStrike" spc="-1">
                <a:solidFill>
                  <a:srgbClr val="FF0000"/>
                </a:solidFill>
                <a:latin typeface="Arial"/>
              </a:rPr>
              <a:t>Sonne</a:t>
            </a:r>
            <a:endParaRPr lang="en-US" sz="1800" b="0" strike="noStrike" spc="-1">
              <a:latin typeface="Arial"/>
            </a:endParaRPr>
          </a:p>
        </p:txBody>
      </p:sp>
      <p:sp>
        <p:nvSpPr>
          <p:cNvPr id="128" name="Textfeld 20"/>
          <p:cNvSpPr/>
          <p:nvPr/>
        </p:nvSpPr>
        <p:spPr>
          <a:xfrm>
            <a:off x="4963680" y="3626640"/>
            <a:ext cx="2215800" cy="3639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tIns="45000" rIns="90000" bIns="45000" anchor="t">
            <a:spAutoFit/>
          </a:bodyPr>
          <a:lstStyle/>
          <a:p>
            <a:pPr algn="ctr">
              <a:lnSpc>
                <a:spcPct val="100000"/>
              </a:lnSpc>
              <a:buNone/>
            </a:pPr>
            <a:r>
              <a:rPr lang="de-DE" sz="1800" b="1" strike="noStrike" spc="-1">
                <a:solidFill>
                  <a:srgbClr val="FFFFFF"/>
                </a:solidFill>
                <a:latin typeface="Calibri"/>
              </a:rPr>
              <a:t>Rückmeldung (2 Sek)</a:t>
            </a:r>
            <a:endParaRPr lang="en-US" sz="1800" b="0" strike="noStrike" spc="-1">
              <a:latin typeface="Arial"/>
            </a:endParaRPr>
          </a:p>
        </p:txBody>
      </p:sp>
      <p:pic>
        <p:nvPicPr>
          <p:cNvPr id="129" name="Grafik 22"/>
          <p:cNvPicPr/>
          <p:nvPr/>
        </p:nvPicPr>
        <p:blipFill>
          <a:blip r:embed="rId4"/>
          <a:stretch/>
        </p:blipFill>
        <p:spPr>
          <a:xfrm>
            <a:off x="2794320" y="4978080"/>
            <a:ext cx="1002960" cy="995400"/>
          </a:xfrm>
          <a:prstGeom prst="rect">
            <a:avLst/>
          </a:prstGeom>
          <a:ln w="0">
            <a:noFill/>
          </a:ln>
        </p:spPr>
      </p:pic>
      <p:sp>
        <p:nvSpPr>
          <p:cNvPr id="130" name="Textfeld 23"/>
          <p:cNvSpPr/>
          <p:nvPr/>
        </p:nvSpPr>
        <p:spPr>
          <a:xfrm>
            <a:off x="260748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richtig</a:t>
            </a:r>
            <a:endParaRPr lang="en-US" sz="1800" b="0" strike="noStrike" spc="-1">
              <a:latin typeface="Arial"/>
            </a:endParaRPr>
          </a:p>
        </p:txBody>
      </p:sp>
      <p:sp>
        <p:nvSpPr>
          <p:cNvPr id="131" name="Textfeld 24"/>
          <p:cNvSpPr/>
          <p:nvPr/>
        </p:nvSpPr>
        <p:spPr>
          <a:xfrm>
            <a:off x="3567960" y="4563000"/>
            <a:ext cx="809640" cy="363960"/>
          </a:xfrm>
          <a:prstGeom prst="rect">
            <a:avLst/>
          </a:prstGeom>
          <a:gradFill rotWithShape="0">
            <a:gsLst>
              <a:gs pos="0">
                <a:srgbClr val="D1D1D1"/>
              </a:gs>
              <a:gs pos="100000">
                <a:srgbClr val="C7C7C7"/>
              </a:gs>
            </a:gsLst>
            <a:lin ang="5400000"/>
          </a:gradFill>
          <a:ln>
            <a:solidFill>
              <a:srgbClr val="A5A5A5"/>
            </a:solidFill>
          </a:ln>
        </p:spPr>
        <p:style>
          <a:lnRef idx="1">
            <a:schemeClr val="accent3"/>
          </a:lnRef>
          <a:fillRef idx="2">
            <a:schemeClr val="accent3"/>
          </a:fillRef>
          <a:effectRef idx="1">
            <a:schemeClr val="accent3"/>
          </a:effectRef>
          <a:fontRef idx="minor"/>
        </p:style>
        <p:txBody>
          <a:bodyPr lIns="90000" tIns="45000" rIns="90000" bIns="45000" anchor="t">
            <a:spAutoFit/>
          </a:bodyPr>
          <a:lstStyle/>
          <a:p>
            <a:pPr algn="ctr">
              <a:lnSpc>
                <a:spcPct val="100000"/>
              </a:lnSpc>
              <a:buNone/>
            </a:pPr>
            <a:r>
              <a:rPr lang="de-DE" sz="1800" b="0" strike="noStrike" spc="-1">
                <a:solidFill>
                  <a:srgbClr val="000000"/>
                </a:solidFill>
                <a:latin typeface="Calibri"/>
              </a:rPr>
              <a:t>falsch</a:t>
            </a:r>
            <a:endParaRPr lang="en-US" sz="1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894600" y="178920"/>
            <a:ext cx="9764640" cy="4206600"/>
          </a:xfrm>
          <a:prstGeom prst="rect">
            <a:avLst/>
          </a:prstGeom>
          <a:noFill/>
          <a:ln w="0">
            <a:noFill/>
          </a:ln>
        </p:spPr>
        <p:txBody>
          <a:bodyPr numCol="1" spcCol="0" anchor="ctr">
            <a:noAutofit/>
          </a:bodyPr>
          <a:lstStyle/>
          <a:p>
            <a:pPr>
              <a:lnSpc>
                <a:spcPct val="90000"/>
              </a:lnSpc>
              <a:buNone/>
            </a:pPr>
            <a:r>
              <a:rPr lang="en-US" sz="2000" b="1" u="sng" strike="noStrike" spc="-1" dirty="0" err="1">
                <a:solidFill>
                  <a:srgbClr val="000000"/>
                </a:solidFill>
                <a:uFillTx/>
                <a:latin typeface="Arial"/>
              </a:rPr>
              <a:t>Ablauf</a:t>
            </a:r>
            <a:r>
              <a:rPr lang="en-US" sz="2000" b="1" u="sng" strike="noStrike" spc="-1" dirty="0">
                <a:solidFill>
                  <a:srgbClr val="000000"/>
                </a:solidFill>
                <a:uFillTx/>
                <a:latin typeface="Arial"/>
              </a:rPr>
              <a:t> des </a:t>
            </a:r>
            <a:r>
              <a:rPr lang="en-US" sz="2000" b="1" u="sng" strike="noStrike" spc="-1" dirty="0" err="1">
                <a:solidFill>
                  <a:srgbClr val="000000"/>
                </a:solidFill>
                <a:uFillTx/>
                <a:latin typeface="Arial"/>
              </a:rPr>
              <a:t>Gesamtexperiments</a:t>
            </a:r>
            <a:br>
              <a:rPr sz="2000" dirty="0"/>
            </a:br>
            <a:br>
              <a:rPr sz="2000" dirty="0"/>
            </a:br>
            <a:r>
              <a:rPr lang="de-DE" sz="2000" b="0" strike="noStrike" spc="-1" dirty="0">
                <a:solidFill>
                  <a:srgbClr val="000000"/>
                </a:solidFill>
                <a:latin typeface="Arial"/>
              </a:rPr>
              <a:t>Beide Aufgaben werden wiederholt in kurzen </a:t>
            </a:r>
            <a:r>
              <a:rPr lang="de-DE" sz="2000" b="1" strike="noStrike" spc="-1" dirty="0">
                <a:solidFill>
                  <a:srgbClr val="000000"/>
                </a:solidFill>
                <a:latin typeface="Arial"/>
              </a:rPr>
              <a:t>Blöcken von je 3 Minuten </a:t>
            </a:r>
            <a:r>
              <a:rPr lang="de-DE" sz="2000" b="0" strike="noStrike" spc="-1" dirty="0">
                <a:solidFill>
                  <a:srgbClr val="000000"/>
                </a:solidFill>
                <a:latin typeface="Arial"/>
              </a:rPr>
              <a:t>durchgeführt (</a:t>
            </a:r>
            <a:r>
              <a:rPr lang="de-DE" sz="2000" b="1" strike="noStrike" spc="-1" dirty="0">
                <a:latin typeface="Arial"/>
              </a:rPr>
              <a:t>1x</a:t>
            </a:r>
            <a:r>
              <a:rPr lang="de-DE" sz="2000" b="0" strike="noStrike" spc="-1" dirty="0">
                <a:latin typeface="Arial"/>
              </a:rPr>
              <a:t> Bild-Wort Entscheidung; </a:t>
            </a:r>
            <a:r>
              <a:rPr lang="de-DE" sz="2000" b="1" strike="noStrike" spc="-1" dirty="0">
                <a:latin typeface="Arial"/>
              </a:rPr>
              <a:t>2x</a:t>
            </a:r>
            <a:r>
              <a:rPr lang="de-DE" sz="2000" b="0" strike="noStrike" spc="-1" dirty="0">
                <a:latin typeface="Arial"/>
              </a:rPr>
              <a:t> </a:t>
            </a:r>
            <a:r>
              <a:rPr lang="de-DE" sz="2000" b="0" strike="noStrike" spc="-1" dirty="0">
                <a:solidFill>
                  <a:srgbClr val="000000"/>
                </a:solidFill>
                <a:latin typeface="Arial"/>
              </a:rPr>
              <a:t>Lernaufgabe).</a:t>
            </a:r>
            <a:br>
              <a:rPr sz="2000" dirty="0"/>
            </a:br>
            <a:br>
              <a:rPr sz="2000" dirty="0"/>
            </a:br>
            <a:r>
              <a:rPr lang="de-DE" sz="2000" b="0" strike="noStrike" spc="-1" dirty="0">
                <a:solidFill>
                  <a:srgbClr val="000000"/>
                </a:solidFill>
                <a:latin typeface="Arial"/>
              </a:rPr>
              <a:t>Die </a:t>
            </a:r>
            <a:r>
              <a:rPr lang="de-DE" sz="2000" b="1" strike="noStrike" spc="-1" dirty="0">
                <a:solidFill>
                  <a:srgbClr val="000000"/>
                </a:solidFill>
                <a:latin typeface="Arial"/>
              </a:rPr>
              <a:t>Abfolge der Aufgaben ist zufällig </a:t>
            </a:r>
            <a:r>
              <a:rPr lang="de-DE" sz="2000" b="0" strike="noStrike" spc="-1" dirty="0">
                <a:solidFill>
                  <a:srgbClr val="000000"/>
                </a:solidFill>
                <a:latin typeface="Arial"/>
              </a:rPr>
              <a:t>und wird kurz davor durch eine </a:t>
            </a:r>
            <a:r>
              <a:rPr lang="de-DE" sz="2000" b="1" strike="noStrike" spc="-1" dirty="0">
                <a:solidFill>
                  <a:srgbClr val="000000"/>
                </a:solidFill>
                <a:latin typeface="Arial"/>
              </a:rPr>
              <a:t>Sprechblase </a:t>
            </a:r>
            <a:r>
              <a:rPr lang="de-DE" sz="2000" b="0" strike="noStrike" spc="-1" dirty="0">
                <a:solidFill>
                  <a:srgbClr val="000000"/>
                </a:solidFill>
                <a:latin typeface="Arial"/>
              </a:rPr>
              <a:t>angekündigt.</a:t>
            </a:r>
            <a:br>
              <a:rPr sz="2000" dirty="0"/>
            </a:br>
            <a:br>
              <a:rPr sz="2000" dirty="0"/>
            </a:br>
            <a:r>
              <a:rPr lang="de-DE" sz="2000" b="0" strike="noStrike" spc="-1" dirty="0">
                <a:solidFill>
                  <a:srgbClr val="000000"/>
                </a:solidFill>
                <a:latin typeface="Arial"/>
              </a:rPr>
              <a:t>In jedem Block werden </a:t>
            </a:r>
            <a:r>
              <a:rPr lang="de-DE" sz="2000" b="1" strike="noStrike" spc="-1" dirty="0">
                <a:solidFill>
                  <a:srgbClr val="000000"/>
                </a:solidFill>
                <a:latin typeface="Arial"/>
              </a:rPr>
              <a:t>andere Bilder und (Pseudo) Wort Kombinationen</a:t>
            </a:r>
            <a:r>
              <a:rPr lang="de-DE" sz="2000" b="0" strike="noStrike" spc="-1" dirty="0">
                <a:solidFill>
                  <a:srgbClr val="000000"/>
                </a:solidFill>
                <a:latin typeface="Arial"/>
              </a:rPr>
              <a:t> verwendet.</a:t>
            </a:r>
            <a:br>
              <a:rPr sz="2000" dirty="0"/>
            </a:br>
            <a:br>
              <a:rPr sz="2000" dirty="0"/>
            </a:br>
            <a:r>
              <a:rPr lang="de-DE" sz="2000" b="0" strike="noStrike" spc="-1" dirty="0">
                <a:solidFill>
                  <a:srgbClr val="000000"/>
                </a:solidFill>
                <a:latin typeface="Arial"/>
              </a:rPr>
              <a:t>Zwischen den Aufgaben gibt es kurze Pausen, in denen wir Sie bitten auf ein Kreuz zu schauen (ca. 15 Sekunden).</a:t>
            </a:r>
            <a:br>
              <a:rPr sz="2000" dirty="0"/>
            </a:br>
            <a:br>
              <a:rPr sz="2000" dirty="0"/>
            </a:br>
            <a:r>
              <a:rPr lang="en-US" sz="2000" b="0" strike="noStrike" spc="-1" dirty="0" err="1">
                <a:solidFill>
                  <a:srgbClr val="000000"/>
                </a:solidFill>
                <a:latin typeface="Arial"/>
              </a:rPr>
              <a:t>Insgesamt</a:t>
            </a:r>
            <a:r>
              <a:rPr lang="en-US" sz="2000" b="0" strike="noStrike" spc="-1" dirty="0">
                <a:solidFill>
                  <a:srgbClr val="000000"/>
                </a:solidFill>
                <a:latin typeface="Arial"/>
              </a:rPr>
              <a:t> </a:t>
            </a:r>
            <a:r>
              <a:rPr lang="en-US" sz="2000" b="0" strike="noStrike" spc="-1" dirty="0" err="1">
                <a:solidFill>
                  <a:srgbClr val="000000"/>
                </a:solidFill>
                <a:latin typeface="Arial"/>
              </a:rPr>
              <a:t>dauert</a:t>
            </a:r>
            <a:r>
              <a:rPr lang="en-US" sz="2000" b="0" strike="noStrike" spc="-1" dirty="0">
                <a:solidFill>
                  <a:srgbClr val="000000"/>
                </a:solidFill>
                <a:latin typeface="Arial"/>
              </a:rPr>
              <a:t> </a:t>
            </a:r>
            <a:r>
              <a:rPr lang="en-US" sz="2000" spc="-1" dirty="0">
                <a:solidFill>
                  <a:srgbClr val="000000"/>
                </a:solidFill>
                <a:latin typeface="Arial"/>
              </a:rPr>
              <a:t>die </a:t>
            </a:r>
            <a:r>
              <a:rPr lang="en-US" sz="2000" spc="-1" dirty="0" err="1">
                <a:solidFill>
                  <a:srgbClr val="000000"/>
                </a:solidFill>
                <a:latin typeface="Arial"/>
              </a:rPr>
              <a:t>Aufgabe</a:t>
            </a:r>
            <a:r>
              <a:rPr lang="en-US" sz="2000" b="0" strike="noStrike" spc="-1" dirty="0">
                <a:solidFill>
                  <a:srgbClr val="000000"/>
                </a:solidFill>
                <a:latin typeface="Arial"/>
              </a:rPr>
              <a:t> ca. </a:t>
            </a:r>
            <a:r>
              <a:rPr lang="en-US" sz="2000" b="1" spc="-1" dirty="0">
                <a:solidFill>
                  <a:srgbClr val="000000"/>
                </a:solidFill>
                <a:latin typeface="Arial"/>
              </a:rPr>
              <a:t>10</a:t>
            </a:r>
            <a:r>
              <a:rPr lang="en-US" sz="2000" b="1" strike="noStrike" spc="-1" dirty="0">
                <a:solidFill>
                  <a:srgbClr val="000000"/>
                </a:solidFill>
                <a:latin typeface="Arial"/>
              </a:rPr>
              <a:t> </a:t>
            </a:r>
            <a:r>
              <a:rPr lang="en-US" sz="2000" b="1" strike="noStrike" spc="-1" dirty="0" err="1">
                <a:solidFill>
                  <a:srgbClr val="000000"/>
                </a:solidFill>
                <a:latin typeface="Arial"/>
              </a:rPr>
              <a:t>Minuten</a:t>
            </a:r>
            <a:r>
              <a:rPr lang="en-US" sz="2000" b="1" strike="noStrike" spc="-1" dirty="0">
                <a:solidFill>
                  <a:srgbClr val="000000"/>
                </a:solidFill>
                <a:latin typeface="Arial"/>
              </a:rPr>
              <a:t>.</a:t>
            </a:r>
            <a:endParaRPr lang="de-DE" sz="2000" b="0" strike="noStrike" spc="-1" dirty="0">
              <a:solidFill>
                <a:srgbClr val="000000"/>
              </a:solidFill>
              <a:latin typeface="Calibri"/>
            </a:endParaRPr>
          </a:p>
        </p:txBody>
      </p:sp>
      <p:sp>
        <p:nvSpPr>
          <p:cNvPr id="22" name="Rechteck 1"/>
          <p:cNvSpPr/>
          <p:nvPr/>
        </p:nvSpPr>
        <p:spPr>
          <a:xfrm>
            <a:off x="3823546" y="5577231"/>
            <a:ext cx="1370520" cy="711720"/>
          </a:xfrm>
          <a:prstGeom prst="rect">
            <a:avLst/>
          </a:prstGeom>
          <a:gradFill rotWithShape="0">
            <a:gsLst>
              <a:gs pos="0">
                <a:srgbClr val="A8B7DF"/>
              </a:gs>
              <a:gs pos="100000">
                <a:srgbClr val="9AABD9"/>
              </a:gs>
            </a:gsLst>
            <a:lin ang="5400000"/>
          </a:gradFill>
          <a:ln>
            <a:solidFill>
              <a:srgbClr val="4472C4"/>
            </a:solidFill>
          </a:ln>
        </p:spPr>
        <p:style>
          <a:lnRef idx="1">
            <a:schemeClr val="accent5"/>
          </a:lnRef>
          <a:fillRef idx="2">
            <a:schemeClr val="accent5"/>
          </a:fillRef>
          <a:effectRef idx="1">
            <a:schemeClr val="accent5"/>
          </a:effectRef>
          <a:fontRef idx="minor"/>
        </p:style>
        <p:txBody>
          <a:bodyPr lIns="90000" tIns="45000" rIns="90000" bIns="45000" anchor="ctr">
            <a:noAutofit/>
          </a:bodyPr>
          <a:lstStyle/>
          <a:p>
            <a:pPr algn="ctr">
              <a:lnSpc>
                <a:spcPct val="100000"/>
              </a:lnSpc>
              <a:buNone/>
            </a:pPr>
            <a:r>
              <a:rPr lang="de-DE" sz="1800" b="1" strike="noStrike" spc="-1" dirty="0">
                <a:solidFill>
                  <a:srgbClr val="000000"/>
                </a:solidFill>
                <a:latin typeface="Calibri"/>
              </a:rPr>
              <a:t>Aufgabe 2</a:t>
            </a:r>
            <a:endParaRPr lang="en-US" sz="1800" b="0" strike="noStrike" spc="-1" dirty="0">
              <a:latin typeface="Arial"/>
            </a:endParaRPr>
          </a:p>
          <a:p>
            <a:pPr algn="ctr">
              <a:lnSpc>
                <a:spcPct val="100000"/>
              </a:lnSpc>
              <a:buNone/>
            </a:pPr>
            <a:r>
              <a:rPr lang="de-DE" sz="1600" b="0" strike="noStrike" spc="-1" dirty="0">
                <a:solidFill>
                  <a:srgbClr val="000000"/>
                </a:solidFill>
                <a:latin typeface="Calibri"/>
              </a:rPr>
              <a:t>Lernen</a:t>
            </a:r>
            <a:endParaRPr lang="en-US" sz="1600" b="0" strike="noStrike" spc="-1" dirty="0">
              <a:latin typeface="Arial"/>
            </a:endParaRPr>
          </a:p>
        </p:txBody>
      </p:sp>
      <p:sp>
        <p:nvSpPr>
          <p:cNvPr id="23" name="Rechteck 5"/>
          <p:cNvSpPr/>
          <p:nvPr/>
        </p:nvSpPr>
        <p:spPr>
          <a:xfrm>
            <a:off x="5489986" y="5577231"/>
            <a:ext cx="1370520" cy="711720"/>
          </a:xfrm>
          <a:prstGeom prst="rect">
            <a:avLst/>
          </a:prstGeom>
          <a:gradFill rotWithShape="0">
            <a:gsLst>
              <a:gs pos="0">
                <a:srgbClr val="B5D4A7"/>
              </a:gs>
              <a:gs pos="100000">
                <a:srgbClr val="A9CD99"/>
              </a:gs>
            </a:gsLst>
            <a:lin ang="5400000"/>
          </a:gradFill>
          <a:ln>
            <a:solidFill>
              <a:srgbClr val="70AD47"/>
            </a:solidFill>
          </a:ln>
        </p:spPr>
        <p:style>
          <a:lnRef idx="1">
            <a:schemeClr val="accent6"/>
          </a:lnRef>
          <a:fillRef idx="2">
            <a:schemeClr val="accent6"/>
          </a:fillRef>
          <a:effectRef idx="1">
            <a:schemeClr val="accent6"/>
          </a:effectRef>
          <a:fontRef idx="minor"/>
        </p:style>
        <p:txBody>
          <a:bodyPr lIns="90000" tIns="45000" rIns="90000" bIns="45000" anchor="ctr">
            <a:noAutofit/>
          </a:bodyPr>
          <a:lstStyle/>
          <a:p>
            <a:pPr algn="ctr">
              <a:lnSpc>
                <a:spcPct val="100000"/>
              </a:lnSpc>
              <a:buNone/>
            </a:pPr>
            <a:r>
              <a:rPr lang="de-DE" sz="1800" b="1" strike="noStrike" spc="-1" dirty="0">
                <a:solidFill>
                  <a:srgbClr val="000000"/>
                </a:solidFill>
                <a:latin typeface="Calibri"/>
              </a:rPr>
              <a:t>Aufgabe 1</a:t>
            </a:r>
            <a:endParaRPr lang="en-US" sz="1800" b="0" strike="noStrike" spc="-1" dirty="0">
              <a:latin typeface="Arial"/>
            </a:endParaRPr>
          </a:p>
          <a:p>
            <a:pPr algn="ctr">
              <a:lnSpc>
                <a:spcPct val="100000"/>
              </a:lnSpc>
              <a:buNone/>
            </a:pPr>
            <a:r>
              <a:rPr lang="de-DE" sz="1600" b="0" strike="noStrike" spc="-1" dirty="0">
                <a:solidFill>
                  <a:srgbClr val="000000"/>
                </a:solidFill>
                <a:latin typeface="Calibri"/>
              </a:rPr>
              <a:t>Entscheidung</a:t>
            </a:r>
            <a:endParaRPr lang="en-US" sz="1600" b="0" strike="noStrike" spc="-1" dirty="0">
              <a:latin typeface="Arial"/>
            </a:endParaRPr>
          </a:p>
        </p:txBody>
      </p:sp>
      <p:sp>
        <p:nvSpPr>
          <p:cNvPr id="24" name="Rechteck 8"/>
          <p:cNvSpPr/>
          <p:nvPr/>
        </p:nvSpPr>
        <p:spPr>
          <a:xfrm>
            <a:off x="7156426" y="5577231"/>
            <a:ext cx="1370520" cy="711720"/>
          </a:xfrm>
          <a:prstGeom prst="rect">
            <a:avLst/>
          </a:prstGeom>
          <a:gradFill rotWithShape="0">
            <a:gsLst>
              <a:gs pos="0">
                <a:srgbClr val="A8B7DF"/>
              </a:gs>
              <a:gs pos="100000">
                <a:srgbClr val="9AABD9"/>
              </a:gs>
            </a:gsLst>
            <a:lin ang="5400000"/>
          </a:gradFill>
          <a:ln>
            <a:solidFill>
              <a:srgbClr val="4472C4"/>
            </a:solidFill>
          </a:ln>
        </p:spPr>
        <p:style>
          <a:lnRef idx="1">
            <a:schemeClr val="accent5"/>
          </a:lnRef>
          <a:fillRef idx="2">
            <a:schemeClr val="accent5"/>
          </a:fillRef>
          <a:effectRef idx="1">
            <a:schemeClr val="accent5"/>
          </a:effectRef>
          <a:fontRef idx="minor"/>
        </p:style>
        <p:txBody>
          <a:bodyPr lIns="90000" tIns="45000" rIns="90000" bIns="45000" anchor="ctr">
            <a:noAutofit/>
          </a:bodyPr>
          <a:lstStyle/>
          <a:p>
            <a:pPr algn="ctr">
              <a:lnSpc>
                <a:spcPct val="100000"/>
              </a:lnSpc>
              <a:buNone/>
            </a:pPr>
            <a:r>
              <a:rPr lang="de-DE" sz="1800" b="1" strike="noStrike" spc="-1" dirty="0">
                <a:solidFill>
                  <a:srgbClr val="000000"/>
                </a:solidFill>
                <a:latin typeface="Calibri"/>
              </a:rPr>
              <a:t>Aufgabe 2</a:t>
            </a:r>
            <a:endParaRPr lang="en-US" sz="1800" b="0" strike="noStrike" spc="-1" dirty="0">
              <a:latin typeface="Arial"/>
            </a:endParaRPr>
          </a:p>
          <a:p>
            <a:pPr algn="ctr">
              <a:lnSpc>
                <a:spcPct val="100000"/>
              </a:lnSpc>
              <a:buNone/>
            </a:pPr>
            <a:r>
              <a:rPr lang="de-DE" sz="1600" b="0" strike="noStrike" spc="-1" dirty="0">
                <a:solidFill>
                  <a:srgbClr val="000000"/>
                </a:solidFill>
                <a:latin typeface="Calibri"/>
              </a:rPr>
              <a:t>Lernen</a:t>
            </a:r>
            <a:endParaRPr lang="en-US" sz="1600" b="0" strike="noStrike" spc="-1" dirty="0">
              <a:latin typeface="Arial"/>
            </a:endParaRPr>
          </a:p>
        </p:txBody>
      </p:sp>
      <p:sp>
        <p:nvSpPr>
          <p:cNvPr id="25" name="Textfeld 9"/>
          <p:cNvSpPr/>
          <p:nvPr/>
        </p:nvSpPr>
        <p:spPr>
          <a:xfrm>
            <a:off x="5201626" y="5748951"/>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a:solidFill>
                  <a:srgbClr val="000000"/>
                </a:solidFill>
                <a:latin typeface="Calibri"/>
              </a:rPr>
              <a:t>+</a:t>
            </a:r>
            <a:endParaRPr lang="en-US" sz="1800" b="0" strike="noStrike" spc="-1">
              <a:latin typeface="Arial"/>
            </a:endParaRPr>
          </a:p>
        </p:txBody>
      </p:sp>
      <p:sp>
        <p:nvSpPr>
          <p:cNvPr id="26" name="Textfeld 10"/>
          <p:cNvSpPr/>
          <p:nvPr/>
        </p:nvSpPr>
        <p:spPr>
          <a:xfrm>
            <a:off x="6856906" y="5748951"/>
            <a:ext cx="2804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buNone/>
            </a:pPr>
            <a:r>
              <a:rPr lang="de-DE" sz="1800" b="0" strike="noStrike" spc="-1" dirty="0">
                <a:solidFill>
                  <a:srgbClr val="000000"/>
                </a:solidFill>
                <a:latin typeface="Calibri"/>
              </a:rPr>
              <a:t>+</a:t>
            </a:r>
            <a:endParaRPr lang="en-US" sz="1800" b="0" strike="noStrike" spc="-1" dirty="0">
              <a:latin typeface="Arial"/>
            </a:endParaRPr>
          </a:p>
        </p:txBody>
      </p:sp>
      <p:pic>
        <p:nvPicPr>
          <p:cNvPr id="27" name="Grafik 18"/>
          <p:cNvPicPr/>
          <p:nvPr/>
        </p:nvPicPr>
        <p:blipFill>
          <a:blip r:embed="rId3"/>
          <a:stretch/>
        </p:blipFill>
        <p:spPr>
          <a:xfrm>
            <a:off x="3221266" y="4781271"/>
            <a:ext cx="1416240" cy="795600"/>
          </a:xfrm>
          <a:prstGeom prst="rect">
            <a:avLst/>
          </a:prstGeom>
          <a:ln w="0">
            <a:noFill/>
          </a:ln>
        </p:spPr>
      </p:pic>
      <p:pic>
        <p:nvPicPr>
          <p:cNvPr id="28" name="Grafik 19"/>
          <p:cNvPicPr/>
          <p:nvPr/>
        </p:nvPicPr>
        <p:blipFill>
          <a:blip r:embed="rId3"/>
          <a:stretch/>
        </p:blipFill>
        <p:spPr>
          <a:xfrm>
            <a:off x="6643426" y="4781271"/>
            <a:ext cx="1416240" cy="795600"/>
          </a:xfrm>
          <a:prstGeom prst="rect">
            <a:avLst/>
          </a:prstGeom>
          <a:ln w="0">
            <a:noFill/>
          </a:ln>
        </p:spPr>
      </p:pic>
      <p:pic>
        <p:nvPicPr>
          <p:cNvPr id="29" name="Grafik 22"/>
          <p:cNvPicPr/>
          <p:nvPr/>
        </p:nvPicPr>
        <p:blipFill>
          <a:blip r:embed="rId4"/>
          <a:stretch/>
        </p:blipFill>
        <p:spPr>
          <a:xfrm>
            <a:off x="4964386" y="4752471"/>
            <a:ext cx="1459800" cy="820440"/>
          </a:xfrm>
          <a:prstGeom prst="rect">
            <a:avLst/>
          </a:prstGeom>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1548000" y="1360800"/>
            <a:ext cx="9143640" cy="2836080"/>
          </a:xfrm>
          <a:prstGeom prst="rect">
            <a:avLst/>
          </a:prstGeom>
          <a:noFill/>
          <a:ln w="0">
            <a:noFill/>
          </a:ln>
        </p:spPr>
        <p:txBody>
          <a:bodyPr numCol="1" spcCol="0" anchor="ctr">
            <a:noAutofit/>
          </a:bodyPr>
          <a:lstStyle/>
          <a:p>
            <a:pPr algn="ctr">
              <a:lnSpc>
                <a:spcPct val="100000"/>
              </a:lnSpc>
              <a:buNone/>
            </a:pPr>
            <a:r>
              <a:rPr lang="de-DE" sz="2000" b="0" strike="noStrike" spc="-1" dirty="0">
                <a:solidFill>
                  <a:srgbClr val="000000"/>
                </a:solidFill>
                <a:latin typeface="Arial"/>
              </a:rPr>
              <a:t>Drücken Sie </a:t>
            </a:r>
            <a:r>
              <a:rPr lang="de-DE" sz="2000" b="1" strike="noStrike" spc="-1" dirty="0">
                <a:solidFill>
                  <a:srgbClr val="000000"/>
                </a:solidFill>
                <a:latin typeface="Arial"/>
              </a:rPr>
              <a:t>JA</a:t>
            </a:r>
            <a:r>
              <a:rPr lang="de-DE" sz="2000" b="0" strike="noStrike" spc="-1" dirty="0">
                <a:solidFill>
                  <a:srgbClr val="000000"/>
                </a:solidFill>
                <a:latin typeface="Arial"/>
              </a:rPr>
              <a:t>, wenn Sie denken, </a:t>
            </a:r>
            <a:r>
              <a:rPr lang="de-DE" sz="2000" b="0" strike="noStrike" spc="-1" dirty="0" err="1">
                <a:solidFill>
                  <a:srgbClr val="000000"/>
                </a:solidFill>
                <a:latin typeface="Arial"/>
              </a:rPr>
              <a:t>daß</a:t>
            </a:r>
            <a:r>
              <a:rPr lang="de-DE" sz="2000" b="0" strike="noStrike" spc="-1" dirty="0">
                <a:solidFill>
                  <a:srgbClr val="000000"/>
                </a:solidFill>
                <a:latin typeface="Arial"/>
              </a:rPr>
              <a:t> eine Paarung </a:t>
            </a:r>
            <a:r>
              <a:rPr lang="de-DE" sz="2000" b="1" strike="noStrike" spc="-1" dirty="0">
                <a:solidFill>
                  <a:srgbClr val="000000"/>
                </a:solidFill>
                <a:latin typeface="Arial"/>
              </a:rPr>
              <a:t>richtig</a:t>
            </a:r>
            <a:r>
              <a:rPr lang="de-DE" sz="2000" b="0" strike="noStrike" spc="-1" dirty="0">
                <a:solidFill>
                  <a:srgbClr val="000000"/>
                </a:solidFill>
                <a:latin typeface="Arial"/>
              </a:rPr>
              <a:t> ist.</a:t>
            </a:r>
            <a:br>
              <a:rPr sz="2000" dirty="0"/>
            </a:br>
            <a:r>
              <a:rPr lang="de-DE" sz="2000" b="0" strike="noStrike" spc="-1" dirty="0">
                <a:solidFill>
                  <a:srgbClr val="000000"/>
                </a:solidFill>
                <a:latin typeface="Arial"/>
              </a:rPr>
              <a:t>Drücken Sie </a:t>
            </a:r>
            <a:r>
              <a:rPr lang="de-DE" sz="2000" b="1" strike="noStrike" spc="-1" dirty="0">
                <a:solidFill>
                  <a:srgbClr val="000000"/>
                </a:solidFill>
                <a:latin typeface="Arial"/>
              </a:rPr>
              <a:t>NEIN</a:t>
            </a:r>
            <a:r>
              <a:rPr lang="de-DE" sz="2000" b="0" strike="noStrike" spc="-1" dirty="0">
                <a:solidFill>
                  <a:srgbClr val="000000"/>
                </a:solidFill>
                <a:latin typeface="Arial"/>
              </a:rPr>
              <a:t>, wenn sie denken, </a:t>
            </a:r>
            <a:r>
              <a:rPr lang="de-DE" sz="2000" b="0" strike="noStrike" spc="-1" dirty="0" err="1">
                <a:solidFill>
                  <a:srgbClr val="000000"/>
                </a:solidFill>
                <a:latin typeface="Arial"/>
              </a:rPr>
              <a:t>daß</a:t>
            </a:r>
            <a:r>
              <a:rPr lang="de-DE" sz="2000" b="0" strike="noStrike" spc="-1" dirty="0">
                <a:solidFill>
                  <a:srgbClr val="000000"/>
                </a:solidFill>
                <a:latin typeface="Arial"/>
              </a:rPr>
              <a:t> eine Paarung </a:t>
            </a:r>
            <a:r>
              <a:rPr lang="de-DE" sz="2000" b="1" strike="noStrike" spc="-1" dirty="0">
                <a:solidFill>
                  <a:srgbClr val="000000"/>
                </a:solidFill>
                <a:latin typeface="Arial"/>
              </a:rPr>
              <a:t>falsch</a:t>
            </a:r>
            <a:r>
              <a:rPr lang="de-DE" sz="2000" b="0" strike="noStrike" spc="-1" dirty="0">
                <a:solidFill>
                  <a:srgbClr val="000000"/>
                </a:solidFill>
                <a:latin typeface="Arial"/>
              </a:rPr>
              <a:t> ist.</a:t>
            </a:r>
            <a:br>
              <a:rPr sz="2000" dirty="0"/>
            </a:br>
            <a:br>
              <a:rPr sz="2000" dirty="0"/>
            </a:br>
            <a:r>
              <a:rPr lang="de-DE" sz="2000" b="0" strike="noStrike" spc="-1" dirty="0">
                <a:solidFill>
                  <a:srgbClr val="000000"/>
                </a:solidFill>
                <a:latin typeface="Arial"/>
              </a:rPr>
              <a:t>Drücken Sie ab dem ersten Bild!	</a:t>
            </a:r>
            <a:br>
              <a:rPr sz="2000" dirty="0"/>
            </a:br>
            <a:br>
              <a:rPr sz="2000" dirty="0"/>
            </a:br>
            <a:br>
              <a:rPr sz="2000" dirty="0"/>
            </a:br>
            <a:r>
              <a:rPr lang="de-DE" sz="2000" b="1" strike="noStrike" spc="-1" dirty="0">
                <a:latin typeface="Arial"/>
              </a:rPr>
              <a:t>JA</a:t>
            </a:r>
            <a:r>
              <a:rPr lang="de-DE" sz="2000" b="0" strike="noStrike" spc="-1" dirty="0">
                <a:latin typeface="Arial"/>
              </a:rPr>
              <a:t> -&gt; Taste1 (</a:t>
            </a:r>
            <a:r>
              <a:rPr lang="de-DE" sz="2000" b="1" strike="noStrike" spc="-1" dirty="0">
                <a:latin typeface="Arial"/>
              </a:rPr>
              <a:t>Zeigefinger</a:t>
            </a:r>
            <a:r>
              <a:rPr lang="de-DE" sz="2000" b="0" strike="noStrike" spc="-1" dirty="0">
                <a:latin typeface="Arial"/>
              </a:rPr>
              <a:t>)</a:t>
            </a:r>
            <a:br>
              <a:rPr sz="2000" dirty="0"/>
            </a:br>
            <a:br>
              <a:rPr sz="2000" dirty="0"/>
            </a:br>
            <a:r>
              <a:rPr lang="de-DE" sz="2000" b="1" strike="noStrike" spc="-1" dirty="0">
                <a:latin typeface="Arial"/>
              </a:rPr>
              <a:t>NEIN </a:t>
            </a:r>
            <a:r>
              <a:rPr lang="de-DE" sz="2000" b="0" strike="noStrike" spc="-1" dirty="0">
                <a:latin typeface="Arial"/>
              </a:rPr>
              <a:t>-&gt; Taste2 (</a:t>
            </a:r>
            <a:r>
              <a:rPr lang="de-DE" sz="2000" b="1" strike="noStrike" spc="-1" dirty="0">
                <a:latin typeface="Arial"/>
              </a:rPr>
              <a:t>Ringfinger</a:t>
            </a:r>
            <a:r>
              <a:rPr lang="de-DE" sz="2000" b="0" strike="noStrike" spc="-1" dirty="0">
                <a:latin typeface="Arial"/>
              </a:rPr>
              <a:t>)</a:t>
            </a:r>
            <a:endParaRPr lang="de-DE" sz="2000" b="0" strike="noStrike" spc="-1" dirty="0">
              <a:latin typeface="Calibri"/>
            </a:endParaRPr>
          </a:p>
        </p:txBody>
      </p:sp>
      <p:sp>
        <p:nvSpPr>
          <p:cNvPr id="178" name="Textfeld 2"/>
          <p:cNvSpPr/>
          <p:nvPr/>
        </p:nvSpPr>
        <p:spPr>
          <a:xfrm>
            <a:off x="3627000" y="5107680"/>
            <a:ext cx="5185500" cy="398655"/>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buNone/>
            </a:pPr>
            <a:r>
              <a:rPr lang="de-DE" sz="2000" b="0" strike="noStrike" spc="-1" dirty="0">
                <a:latin typeface="Arial"/>
              </a:rPr>
              <a:t>Bitte drücken Sie Leertaste um fortzufahren.</a:t>
            </a:r>
            <a:endParaRPr lang="en-US" sz="2000" b="0" strike="noStrike" spc="-1" dirty="0">
              <a:latin typeface="Arial"/>
            </a:endParaRPr>
          </a:p>
        </p:txBody>
      </p:sp>
      <p:sp>
        <p:nvSpPr>
          <p:cNvPr id="179" name="Rechteck 1"/>
          <p:cNvSpPr/>
          <p:nvPr/>
        </p:nvSpPr>
        <p:spPr>
          <a:xfrm>
            <a:off x="4114800" y="3048120"/>
            <a:ext cx="4142880" cy="132372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p:style>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ctrTitle"/>
          </p:nvPr>
        </p:nvSpPr>
        <p:spPr bwMode="auto">
          <a:xfrm>
            <a:off x="1600818" y="1691499"/>
            <a:ext cx="9144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Aft>
                <a:spcPct val="0"/>
              </a:spcAft>
            </a:pPr>
            <a:r>
              <a:rPr kumimoji="0" lang="de-DE" altLang="de-DE" sz="2000" i="0" u="none" strike="noStrike" cap="none" normalizeH="0" baseline="0" dirty="0">
                <a:ln>
                  <a:noFill/>
                </a:ln>
                <a:effectLst/>
                <a:latin typeface="Arial" panose="020B0604020202020204" pitchFamily="34" charset="0"/>
              </a:rPr>
              <a:t>Um Sie mit der Aufgabe vertraut zu machen, </a:t>
            </a:r>
            <a:br>
              <a:rPr kumimoji="0" lang="de-DE" altLang="de-DE" sz="2000" i="0" u="none" strike="noStrike" cap="none" normalizeH="0" baseline="0" dirty="0">
                <a:ln>
                  <a:noFill/>
                </a:ln>
                <a:effectLst/>
                <a:latin typeface="Arial" panose="020B0604020202020204" pitchFamily="34" charset="0"/>
              </a:rPr>
            </a:br>
            <a:r>
              <a:rPr kumimoji="0" lang="de-DE" altLang="de-DE" sz="2000" i="0" u="none" strike="noStrike" cap="none" normalizeH="0" baseline="0" dirty="0">
                <a:ln>
                  <a:noFill/>
                </a:ln>
                <a:effectLst/>
                <a:latin typeface="Arial" panose="020B0604020202020204" pitchFamily="34" charset="0"/>
              </a:rPr>
              <a:t>beginnen wir mit einem kurzen Test-Block.</a:t>
            </a:r>
          </a:p>
        </p:txBody>
      </p:sp>
      <p:sp>
        <p:nvSpPr>
          <p:cNvPr id="5" name="Textfeld 4"/>
          <p:cNvSpPr txBox="1"/>
          <p:nvPr/>
        </p:nvSpPr>
        <p:spPr>
          <a:xfrm>
            <a:off x="2552308" y="3809490"/>
            <a:ext cx="7241020" cy="400110"/>
          </a:xfrm>
          <a:prstGeom prst="rect">
            <a:avLst/>
          </a:prstGeom>
          <a:noFill/>
        </p:spPr>
        <p:txBody>
          <a:bodyPr wrap="none" rtlCol="0">
            <a:spAutoFit/>
          </a:bodyPr>
          <a:lstStyle/>
          <a:p>
            <a:pPr algn="ctr"/>
            <a:r>
              <a:rPr kumimoji="0" lang="de-DE" altLang="de-DE" sz="2000" i="0" u="none" strike="noStrike" cap="none" normalizeH="0" baseline="0" dirty="0">
                <a:ln>
                  <a:noFill/>
                </a:ln>
                <a:effectLst/>
                <a:latin typeface="Arial" panose="020B0604020202020204" pitchFamily="34" charset="0"/>
              </a:rPr>
              <a:t>Starten Sie den Test-Block durch Drücken der </a:t>
            </a:r>
            <a:r>
              <a:rPr lang="de-DE" sz="2000" spc="-1" dirty="0"/>
              <a:t>Leertaste</a:t>
            </a:r>
            <a:r>
              <a:rPr kumimoji="0" lang="de-DE" altLang="de-DE" sz="2000" i="0" u="none" strike="noStrike" cap="none" normalizeH="0" baseline="0" dirty="0">
                <a:ln>
                  <a:noFill/>
                </a:ln>
                <a:effectLst/>
                <a:latin typeface="Arial" panose="020B0604020202020204" pitchFamily="34" charset="0"/>
              </a:rPr>
              <a:t>-Taste.</a:t>
            </a:r>
          </a:p>
        </p:txBody>
      </p:sp>
    </p:spTree>
    <p:extLst>
      <p:ext uri="{BB962C8B-B14F-4D97-AF65-F5344CB8AC3E}">
        <p14:creationId xmlns:p14="http://schemas.microsoft.com/office/powerpoint/2010/main" val="31814615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3886201" y="2724150"/>
            <a:ext cx="4352924" cy="400110"/>
          </a:xfrm>
          <a:prstGeom prst="rect">
            <a:avLst/>
          </a:prstGeom>
          <a:noFill/>
        </p:spPr>
        <p:txBody>
          <a:bodyPr wrap="square" rtlCol="0">
            <a:spAutoFit/>
          </a:bodyPr>
          <a:lstStyle/>
          <a:p>
            <a:pPr algn="ctr"/>
            <a:r>
              <a:rPr lang="de-DE" sz="2000" b="1" dirty="0">
                <a:solidFill>
                  <a:schemeClr val="bg1"/>
                </a:solidFill>
                <a:latin typeface="Arial" panose="020B0604020202020204" pitchFamily="34" charset="0"/>
                <a:cs typeface="Arial" panose="020B0604020202020204" pitchFamily="34" charset="0"/>
              </a:rPr>
              <a:t>Sind Sie bereit?</a:t>
            </a:r>
          </a:p>
        </p:txBody>
      </p:sp>
    </p:spTree>
    <p:extLst>
      <p:ext uri="{BB962C8B-B14F-4D97-AF65-F5344CB8AC3E}">
        <p14:creationId xmlns:p14="http://schemas.microsoft.com/office/powerpoint/2010/main" val="1819707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678" y="2001609"/>
            <a:ext cx="5116643" cy="2854781"/>
          </a:xfrm>
          <a:prstGeom prst="rect">
            <a:avLst/>
          </a:prstGeom>
        </p:spPr>
      </p:pic>
    </p:spTree>
    <p:extLst>
      <p:ext uri="{BB962C8B-B14F-4D97-AF65-F5344CB8AC3E}">
        <p14:creationId xmlns:p14="http://schemas.microsoft.com/office/powerpoint/2010/main" val="3517539305"/>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4667250" y="5024003"/>
            <a:ext cx="2857500" cy="711777"/>
          </a:xfrm>
          <a:prstGeom prst="rect">
            <a:avLst/>
          </a:prstGeom>
          <a:noFill/>
        </p:spPr>
        <p:txBody>
          <a:bodyPr wrap="square" rtlCol="0">
            <a:spAutoFit/>
          </a:bodyPr>
          <a:lstStyle/>
          <a:p>
            <a:pPr algn="ctr"/>
            <a:r>
              <a:rPr lang="de-DE" sz="4000" b="1" dirty="0" err="1">
                <a:solidFill>
                  <a:schemeClr val="bg1"/>
                </a:solidFill>
                <a:latin typeface="Arial" panose="020B0604020202020204" pitchFamily="34" charset="0"/>
                <a:cs typeface="Arial" panose="020B0604020202020204" pitchFamily="34" charset="0"/>
              </a:rPr>
              <a:t>Seipe</a:t>
            </a:r>
            <a:endParaRPr lang="de-DE" sz="4000" b="1" dirty="0">
              <a:solidFill>
                <a:schemeClr val="bg1"/>
              </a:solidFill>
              <a:latin typeface="Arial" panose="020B0604020202020204" pitchFamily="34" charset="0"/>
              <a:cs typeface="Arial" panose="020B0604020202020204" pitchFamily="34" charset="0"/>
            </a:endParaRPr>
          </a:p>
        </p:txBody>
      </p:sp>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Tree>
    <p:extLst>
      <p:ext uri="{BB962C8B-B14F-4D97-AF65-F5344CB8AC3E}">
        <p14:creationId xmlns:p14="http://schemas.microsoft.com/office/powerpoint/2010/main" val="3029780449"/>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3380509" y="2724150"/>
            <a:ext cx="5394036"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Zu spät, das ist </a:t>
            </a:r>
            <a:r>
              <a:rPr lang="de-DE" sz="4000" b="1" dirty="0" err="1">
                <a:solidFill>
                  <a:schemeClr val="bg1"/>
                </a:solidFill>
                <a:latin typeface="Arial" panose="020B0604020202020204" pitchFamily="34" charset="0"/>
                <a:cs typeface="Arial" panose="020B0604020202020204" pitchFamily="34" charset="0"/>
              </a:rPr>
              <a:t>Seipe</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4150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err="1">
                <a:solidFill>
                  <a:schemeClr val="bg1"/>
                </a:solidFill>
                <a:latin typeface="Arial" panose="020B0604020202020204" pitchFamily="34" charset="0"/>
                <a:cs typeface="Arial" panose="020B0604020202020204" pitchFamily="34" charset="0"/>
              </a:rPr>
              <a:t>Hürtin</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9473364"/>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feld 3"/>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Korrekt, das ist </a:t>
            </a:r>
            <a:r>
              <a:rPr lang="de-DE" sz="4000" b="1" dirty="0" err="1">
                <a:solidFill>
                  <a:schemeClr val="bg1"/>
                </a:solidFill>
                <a:latin typeface="Arial" panose="020B0604020202020204" pitchFamily="34" charset="0"/>
                <a:cs typeface="Arial" panose="020B0604020202020204" pitchFamily="34" charset="0"/>
              </a:rPr>
              <a:t>Hürtin</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5664598"/>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err="1">
                <a:solidFill>
                  <a:schemeClr val="bg1"/>
                </a:solidFill>
                <a:latin typeface="Arial" panose="020B0604020202020204" pitchFamily="34" charset="0"/>
                <a:cs typeface="Arial" panose="020B0604020202020204" pitchFamily="34" charset="0"/>
              </a:rPr>
              <a:t>Gesor</a:t>
            </a:r>
            <a:endParaRPr lang="de-DE"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3160700"/>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feld 2"/>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Falsch, das ist </a:t>
            </a:r>
            <a:r>
              <a:rPr lang="de-DE" sz="4000" b="1" dirty="0" err="1">
                <a:solidFill>
                  <a:schemeClr val="bg1"/>
                </a:solidFill>
                <a:latin typeface="Arial" panose="020B0604020202020204" pitchFamily="34" charset="0"/>
                <a:cs typeface="Arial" panose="020B0604020202020204" pitchFamily="34" charset="0"/>
              </a:rPr>
              <a:t>Kulat</a:t>
            </a:r>
            <a:r>
              <a:rPr lang="de-DE" sz="4000" b="1" dirty="0">
                <a:solidFill>
                  <a:schemeClr val="bg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292557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5792" y="2161467"/>
            <a:ext cx="4540416" cy="2535065"/>
          </a:xfrm>
          <a:prstGeom prst="rect">
            <a:avLst/>
          </a:prstGeom>
        </p:spPr>
      </p:pic>
    </p:spTree>
    <p:extLst>
      <p:ext uri="{BB962C8B-B14F-4D97-AF65-F5344CB8AC3E}">
        <p14:creationId xmlns:p14="http://schemas.microsoft.com/office/powerpoint/2010/main" val="3484701922"/>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a:solidFill>
                  <a:schemeClr val="bg1"/>
                </a:solidFill>
                <a:latin typeface="Arial" panose="020B0604020202020204" pitchFamily="34" charset="0"/>
                <a:cs typeface="Arial" panose="020B0604020202020204" pitchFamily="34" charset="0"/>
              </a:rPr>
              <a:t>Käfer</a:t>
            </a:r>
          </a:p>
        </p:txBody>
      </p:sp>
    </p:spTree>
    <p:extLst>
      <p:ext uri="{BB962C8B-B14F-4D97-AF65-F5344CB8AC3E}">
        <p14:creationId xmlns:p14="http://schemas.microsoft.com/office/powerpoint/2010/main" val="3263059116"/>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p:cNvSpPr txBox="1"/>
          <p:nvPr/>
        </p:nvSpPr>
        <p:spPr>
          <a:xfrm>
            <a:off x="3380509" y="2724150"/>
            <a:ext cx="5394036"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Zu spät, das ist Käfer</a:t>
            </a:r>
          </a:p>
        </p:txBody>
      </p:sp>
    </p:spTree>
    <p:extLst>
      <p:ext uri="{BB962C8B-B14F-4D97-AF65-F5344CB8AC3E}">
        <p14:creationId xmlns:p14="http://schemas.microsoft.com/office/powerpoint/2010/main" val="26654795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fik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4" name="Textfeld 3"/>
          <p:cNvSpPr txBox="1"/>
          <p:nvPr/>
        </p:nvSpPr>
        <p:spPr>
          <a:xfrm>
            <a:off x="4667250" y="5024003"/>
            <a:ext cx="2857500" cy="711777"/>
          </a:xfrm>
          <a:prstGeom prst="rect">
            <a:avLst/>
          </a:prstGeom>
          <a:noFill/>
        </p:spPr>
        <p:txBody>
          <a:bodyPr wrap="square" rtlCol="0">
            <a:spAutoFit/>
          </a:bodyPr>
          <a:lstStyle/>
          <a:p>
            <a:pPr algn="ctr"/>
            <a:r>
              <a:rPr lang="de-DE" sz="4000" b="1" dirty="0">
                <a:solidFill>
                  <a:schemeClr val="bg1"/>
                </a:solidFill>
                <a:latin typeface="Arial" panose="020B0604020202020204" pitchFamily="34" charset="0"/>
                <a:cs typeface="Arial" panose="020B0604020202020204" pitchFamily="34" charset="0"/>
              </a:rPr>
              <a:t>Donut</a:t>
            </a:r>
          </a:p>
        </p:txBody>
      </p:sp>
    </p:spTree>
    <p:extLst>
      <p:ext uri="{BB962C8B-B14F-4D97-AF65-F5344CB8AC3E}">
        <p14:creationId xmlns:p14="http://schemas.microsoft.com/office/powerpoint/2010/main" val="2912290950"/>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feld 3"/>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Korrekt, das ist Donut</a:t>
            </a:r>
          </a:p>
        </p:txBody>
      </p:sp>
    </p:spTree>
    <p:extLst>
      <p:ext uri="{BB962C8B-B14F-4D97-AF65-F5344CB8AC3E}">
        <p14:creationId xmlns:p14="http://schemas.microsoft.com/office/powerpoint/2010/main" val="13060970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Grafik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50" y="2000250"/>
            <a:ext cx="2857500" cy="2857500"/>
          </a:xfrm>
          <a:prstGeom prst="rect">
            <a:avLst/>
          </a:prstGeom>
        </p:spPr>
      </p:pic>
      <p:sp>
        <p:nvSpPr>
          <p:cNvPr id="3" name="Textfeld 2"/>
          <p:cNvSpPr txBox="1"/>
          <p:nvPr/>
        </p:nvSpPr>
        <p:spPr>
          <a:xfrm>
            <a:off x="4667250" y="5024003"/>
            <a:ext cx="2857500" cy="711777"/>
          </a:xfrm>
          <a:prstGeom prst="rect">
            <a:avLst/>
          </a:prstGeom>
          <a:noFill/>
        </p:spPr>
        <p:txBody>
          <a:bodyPr wrap="square" rtlCol="0">
            <a:spAutoFit/>
          </a:bodyPr>
          <a:lstStyle/>
          <a:p>
            <a:pPr algn="ctr"/>
            <a:r>
              <a:rPr lang="de-DE" sz="4000" b="1" dirty="0">
                <a:solidFill>
                  <a:schemeClr val="bg1"/>
                </a:solidFill>
                <a:latin typeface="Arial" panose="020B0604020202020204" pitchFamily="34" charset="0"/>
                <a:cs typeface="Arial" panose="020B0604020202020204" pitchFamily="34" charset="0"/>
              </a:rPr>
              <a:t>Laptop</a:t>
            </a:r>
          </a:p>
        </p:txBody>
      </p:sp>
    </p:spTree>
    <p:extLst>
      <p:ext uri="{BB962C8B-B14F-4D97-AF65-F5344CB8AC3E}">
        <p14:creationId xmlns:p14="http://schemas.microsoft.com/office/powerpoint/2010/main" val="2872604672"/>
      </p:ext>
    </p:extLst>
  </p:cSld>
  <p:clrMapOvr>
    <a:masterClrMapping/>
  </p:clrMapOvr>
  <mc:AlternateContent xmlns:mc="http://schemas.openxmlformats.org/markup-compatibility/2006" xmlns:p14="http://schemas.microsoft.com/office/powerpoint/2010/main">
    <mc:Choice Requires="p14">
      <p:transition spd="slow" p14:dur="2000" advTm="2500"/>
    </mc:Choice>
    <mc:Fallback xmlns="">
      <p:transition spd="slow" advTm="25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feld 3"/>
          <p:cNvSpPr txBox="1"/>
          <p:nvPr/>
        </p:nvSpPr>
        <p:spPr>
          <a:xfrm>
            <a:off x="3380508" y="2724150"/>
            <a:ext cx="5551055"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Falsch, das ist Tisch</a:t>
            </a:r>
          </a:p>
        </p:txBody>
      </p:sp>
    </p:spTree>
    <p:extLst>
      <p:ext uri="{BB962C8B-B14F-4D97-AF65-F5344CB8AC3E}">
        <p14:creationId xmlns:p14="http://schemas.microsoft.com/office/powerpoint/2010/main" val="42451063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5752DC4-76D6-2BEE-F81C-FBCB953457B6}"/>
              </a:ext>
            </a:extLst>
          </p:cNvPr>
          <p:cNvSpPr txBox="1"/>
          <p:nvPr/>
        </p:nvSpPr>
        <p:spPr>
          <a:xfrm>
            <a:off x="4227226" y="2724150"/>
            <a:ext cx="4704337" cy="707886"/>
          </a:xfrm>
          <a:prstGeom prst="rect">
            <a:avLst/>
          </a:prstGeom>
          <a:noFill/>
        </p:spPr>
        <p:txBody>
          <a:bodyPr wrap="square" rtlCol="0">
            <a:spAutoFit/>
          </a:bodyPr>
          <a:lstStyle/>
          <a:p>
            <a:r>
              <a:rPr lang="de-DE" sz="4000" b="1" dirty="0">
                <a:solidFill>
                  <a:schemeClr val="bg1"/>
                </a:solidFill>
                <a:latin typeface="Arial" panose="020B0604020202020204" pitchFamily="34" charset="0"/>
                <a:cs typeface="Arial" panose="020B0604020202020204" pitchFamily="34" charset="0"/>
              </a:rPr>
              <a:t>Und so weiter...</a:t>
            </a:r>
          </a:p>
        </p:txBody>
      </p:sp>
    </p:spTree>
    <p:extLst>
      <p:ext uri="{BB962C8B-B14F-4D97-AF65-F5344CB8AC3E}">
        <p14:creationId xmlns:p14="http://schemas.microsoft.com/office/powerpoint/2010/main" val="137370970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1419663" y="2952739"/>
            <a:ext cx="9143640" cy="1236600"/>
          </a:xfrm>
          <a:prstGeom prst="rect">
            <a:avLst/>
          </a:prstGeom>
          <a:noFill/>
          <a:ln w="0">
            <a:noFill/>
          </a:ln>
        </p:spPr>
        <p:txBody>
          <a:bodyPr numCol="1" spcCol="0" anchor="ctr">
            <a:noAutofit/>
          </a:bodyPr>
          <a:lstStyle/>
          <a:p>
            <a:pPr algn="ctr">
              <a:lnSpc>
                <a:spcPct val="100000"/>
              </a:lnSpc>
              <a:buNone/>
            </a:pPr>
            <a:r>
              <a:rPr lang="de-DE" sz="2000" b="0" strike="noStrike" spc="-1" dirty="0">
                <a:solidFill>
                  <a:srgbClr val="000000"/>
                </a:solidFill>
                <a:latin typeface="Arial"/>
              </a:rPr>
              <a:t>Haben Sie noch Fragen?</a:t>
            </a:r>
            <a:br>
              <a:rPr sz="2000" dirty="0"/>
            </a:br>
            <a:br>
              <a:rPr sz="2000" dirty="0"/>
            </a:br>
            <a:r>
              <a:rPr lang="de-DE" sz="2000" b="0" strike="noStrike" spc="-1" dirty="0">
                <a:solidFill>
                  <a:srgbClr val="000000"/>
                </a:solidFill>
                <a:latin typeface="Arial"/>
              </a:rPr>
              <a:t>				</a:t>
            </a:r>
            <a:endParaRPr lang="de-DE" sz="2000" b="0" strike="noStrike" spc="-1" dirty="0">
              <a:solidFill>
                <a:srgbClr val="000000"/>
              </a:solidFill>
              <a:latin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A5544C-43E8-B08E-00CD-87470072ACA0}"/>
              </a:ext>
            </a:extLst>
          </p:cNvPr>
          <p:cNvSpPr>
            <a:spLocks noGrp="1"/>
          </p:cNvSpPr>
          <p:nvPr>
            <p:ph idx="1"/>
          </p:nvPr>
        </p:nvSpPr>
        <p:spPr>
          <a:xfrm>
            <a:off x="609480" y="1596705"/>
            <a:ext cx="10972440" cy="3977280"/>
          </a:xfrm>
        </p:spPr>
        <p:txBody>
          <a:body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Das Experiment dauert insgesamt etwa </a:t>
            </a:r>
            <a:r>
              <a:rPr lang="de-DE" sz="2000" dirty="0">
                <a:solidFill>
                  <a:prstClr val="black"/>
                </a:solidFill>
                <a:latin typeface="Arial" panose="020B0604020202020204" pitchFamily="34" charset="0"/>
              </a:rPr>
              <a:t>10</a:t>
            </a:r>
            <a:r>
              <a:rPr kumimoji="0" 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 Minuten.</a:t>
            </a:r>
          </a:p>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tabLst/>
              <a:defRPr/>
            </a:pPr>
            <a:endParaRPr kumimoji="0" 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0" lvl="0" indent="0" algn="ctr" eaLnBrk="0" fontAlgn="base" hangingPunct="0">
              <a:lnSpc>
                <a:spcPct val="100000"/>
              </a:lnSpc>
              <a:spcBef>
                <a:spcPct val="0"/>
              </a:spcBef>
              <a:spcAft>
                <a:spcPct val="0"/>
              </a:spcAft>
              <a:buNone/>
              <a:defRPr/>
            </a:pP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Die </a:t>
            </a:r>
            <a:r>
              <a:rPr kumimoji="0" lang="de-DE" altLang="de-DE" sz="2000" b="0" i="0" u="none" strike="noStrike" kern="1200" cap="none" spc="0" normalizeH="0" baseline="0" noProof="0" dirty="0">
                <a:ln>
                  <a:noFill/>
                </a:ln>
                <a:effectLst/>
                <a:uLnTx/>
                <a:uFillTx/>
                <a:latin typeface="Arial" panose="020B0604020202020204" pitchFamily="34" charset="0"/>
                <a:ea typeface="+mn-ea"/>
                <a:cs typeface="+mn-cs"/>
              </a:rPr>
              <a:t>Lernau</a:t>
            </a: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fgabe mag Ihnen zu Beginn schwierig vorkommen.</a:t>
            </a:r>
            <a:b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Das ist ganz normal, da Sie </a:t>
            </a:r>
            <a:r>
              <a:rPr lang="de-DE" sz="2000" spc="-1" dirty="0">
                <a:solidFill>
                  <a:srgbClr val="000000"/>
                </a:solidFill>
              </a:rPr>
              <a:t>korrekte Paarungen von Bildern und Pseudowörtern </a:t>
            </a:r>
            <a:b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über die Zeit erst herausfinden sollen.</a:t>
            </a:r>
            <a:br>
              <a:rPr kumimoji="0" lang="de-DE" altLang="de-DE" sz="2000" b="0"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mn-ea"/>
                <a:cs typeface="+mn-cs"/>
              </a:rPr>
            </a:br>
            <a:br>
              <a:rPr kumimoji="0" lang="de-DE" altLang="de-DE"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br>
            <a:r>
              <a:rPr lang="de-DE" altLang="de-DE" sz="2000" dirty="0">
                <a:latin typeface="Arial" panose="020B0604020202020204" pitchFamily="34" charset="0"/>
              </a:rPr>
              <a:t>Bitte versuchen Sie es trotzdem.</a:t>
            </a:r>
          </a:p>
          <a:p>
            <a:pPr marL="0" lvl="0" indent="0" algn="ctr" eaLnBrk="0" fontAlgn="base" hangingPunct="0">
              <a:lnSpc>
                <a:spcPct val="100000"/>
              </a:lnSpc>
              <a:spcBef>
                <a:spcPct val="0"/>
              </a:spcBef>
              <a:spcAft>
                <a:spcPct val="0"/>
              </a:spcAft>
              <a:buNone/>
              <a:defRPr/>
            </a:pPr>
            <a:r>
              <a:rPr lang="de-DE" sz="2000" dirty="0"/>
              <a:t>Wenn Sie eine korrekte Paarungen nicht erkennen</a:t>
            </a:r>
            <a:br>
              <a:rPr lang="de-DE" sz="2000" dirty="0"/>
            </a:br>
            <a:r>
              <a:rPr lang="de-DE" sz="2000" dirty="0"/>
              <a:t>oder sich nicht sicher sind, </a:t>
            </a:r>
            <a:r>
              <a:rPr lang="de-DE" sz="2000" b="1" dirty="0"/>
              <a:t>raten</a:t>
            </a:r>
            <a:r>
              <a:rPr lang="de-DE" sz="2000" dirty="0"/>
              <a:t> Sie bitte!</a:t>
            </a:r>
            <a:endParaRPr lang="en-US" sz="2000" dirty="0"/>
          </a:p>
        </p:txBody>
      </p:sp>
    </p:spTree>
    <p:extLst>
      <p:ext uri="{BB962C8B-B14F-4D97-AF65-F5344CB8AC3E}">
        <p14:creationId xmlns:p14="http://schemas.microsoft.com/office/powerpoint/2010/main" val="3453181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922</Words>
  <Application>Microsoft Office PowerPoint</Application>
  <PresentationFormat>Breitbild</PresentationFormat>
  <Paragraphs>105</Paragraphs>
  <Slides>32</Slides>
  <Notes>16</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32</vt:i4>
      </vt:variant>
    </vt:vector>
  </HeadingPairs>
  <TitlesOfParts>
    <vt:vector size="40" baseType="lpstr">
      <vt:lpstr>Arial</vt:lpstr>
      <vt:lpstr>Calibri</vt:lpstr>
      <vt:lpstr>Calibri Light</vt:lpstr>
      <vt:lpstr>DejaVu Sans</vt:lpstr>
      <vt:lpstr>Symbol</vt:lpstr>
      <vt:lpstr>Times New Roman</vt:lpstr>
      <vt:lpstr>Wingdings</vt:lpstr>
      <vt:lpstr>Office Theme</vt:lpstr>
      <vt:lpstr>Projekt 3 der Forschungsgruppe 5429  Effekte von fokaler Gleichstromstimulation auf Sprachlernen </vt:lpstr>
      <vt:lpstr>Während des Experiments bitten wir Sie  zwei Aufgaben zu bearbeiten  Aufgabe 1  Entscheidung ob BILDER und WORTE übereinstimmen  Aufgabe 2 Erlernen von BILD und PSEUDOWORT Paaren   Aufgabe 1 wird insgesamt einmal durchgeführt.  Aufgabe 2 wird insgesamt zweimal durchgeführt.                               </vt:lpstr>
      <vt:lpstr>Aufgabe 1  Bitte entscheiden Sie durch Tastendruck, ob Bilder und Worte übereinstimmen.  </vt:lpstr>
      <vt:lpstr> Aufgabe 2  Ihnen werden Paare von Bilder und Pseudowörtern präsentiert.  Diese Paare können entweder richtig oder falsch sein.  Ihre Aufgabe besteht darin zu lernen, welche Paare richtig sind.  Wichtig: Es gibt jeweils nur eine richtige Paarung zwischen Bild und Pseudowort.  </vt:lpstr>
      <vt:lpstr> Ablauf der Aufgaben  Der generelle Ablauf der beiden Aufgaben ist identisch und wird auf den nächsten Folien anhand der beiden Aufgaben illustriert.  Zunächst wird Aufgabe 2 beschrieben (Lernaufgabe).  </vt:lpstr>
      <vt:lpstr>Während der Lernaufgabe, erscheinen Bilder und Wörter jeweils für 2,5 Sekunden auf dem Bildschirm. In dieser Zeit sollen Sie durch Tastendruck entscheiden, ob die präsentierte Paarung richtig oder falsch ist.  Bei den ersten Durchgängen müssen Sie zwangsläufig raten!</vt:lpstr>
      <vt:lpstr>Unmittelbar im Anschluß an jede Paarung, erhalten Sie automatisch Rückmeldung, ob Ihre Antwort richtig oder falsch war.  Hier sehen Sie ein Beispiel für die Rückmeldung, nach einer richtigen Antwort.   </vt:lpstr>
      <vt:lpstr>Wenn Ihre Antwort falsch war, erhalten Sie ebenfalls Rückmeldung.  Außerdem wird das korrekte Pseudowort angezeigt.</vt:lpstr>
      <vt:lpstr>Es ist wichtig innerhalb von 2.5 Sekunden zu antworten.  Wenn Sie zu spät drücken, wird Ihre Antwort nicht gewertet. In diesem Fall erhalten Sie ebenfalls Rückmeldung und das korrekte Pseudowort wird angezeigt.    </vt:lpstr>
      <vt:lpstr> Bitte benutzen Sie die jeweiligen Rückmeldungen, um im Laufe des Experiments korrekte Paarungen von Bildern und Pseudowörtern zu erlernen.  Wenn Sie sich nicht sicher sind, raten Sie bitte.   </vt:lpstr>
      <vt:lpstr>Der Ablauf der Bild-Wort Übereinstimmungsaufgabe ist identisch.  Auch hier erhalten Sie Rückmeldung. </vt:lpstr>
      <vt:lpstr>Ablauf des Gesamtexperiments  Beide Aufgaben werden wiederholt in kurzen Blöcken von je 3 Minuten durchgeführt (1x Bild-Wort Entscheidung; 2x Lernaufgabe).  Die Abfolge der Aufgaben ist zufällig und wird kurz davor durch eine Sprechblase angekündigt.  In jedem Block werden andere Bilder und (Pseudo) Wort Kombinationen verwendet.  Zwischen den Aufgaben gibt es kurze Pausen, in denen wir Sie bitten auf ein Kreuz zu schauen (ca. 15 Sekunden).  Insgesamt dauert die Aufgabe ca. 10 Minuten.</vt:lpstr>
      <vt:lpstr>Drücken Sie JA, wenn Sie denken, daß eine Paarung richtig ist. Drücken Sie NEIN, wenn sie denken, daß eine Paarung falsch ist.  Drücken Sie ab dem ersten Bild!    JA -&gt; Taste1 (Zeigefinger)  NEIN -&gt; Taste2 (Ringfinger)</vt:lpstr>
      <vt:lpstr>Um Sie mit der Aufgabe vertraut zu machen,  beginnen wir mit einem kurzen Test-Block.</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Haben Sie noch Fragen?      </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 Folgenden werden Sie die AUFGABE     „ERLENEN VON HÄUSER-POSITIONEN AUF EINEM STADTPLAN„    im Rahmen eines Trainingsprogramms wiederholt durchführen.                                       Bitte drücken Sie eine Taste um fortzufahren</dc:title>
  <dc:subject/>
  <dc:creator>Malinowski, Robert</dc:creator>
  <dc:description/>
  <cp:lastModifiedBy>Kocatas, Harun</cp:lastModifiedBy>
  <cp:revision>130</cp:revision>
  <dcterms:created xsi:type="dcterms:W3CDTF">2022-03-21T08:43:36Z</dcterms:created>
  <dcterms:modified xsi:type="dcterms:W3CDTF">2024-04-10T14:19:07Z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Breitbild</vt:lpwstr>
  </property>
  <property fmtid="{D5CDD505-2E9C-101B-9397-08002B2CF9AE}" pid="4" name="Slides">
    <vt:i4>15</vt:i4>
  </property>
</Properties>
</file>