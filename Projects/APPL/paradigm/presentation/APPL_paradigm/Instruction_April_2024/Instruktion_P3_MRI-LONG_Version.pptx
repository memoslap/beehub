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omments/modernComment_102_0.xml" ContentType="application/vnd.ms-powerpoint.comments+xml"/>
  <Override PartName="/ppt/comments/modernComment_129_3DA2451F.xml" ContentType="application/vnd.ms-powerpoint.comment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300" r:id="rId2"/>
    <p:sldId id="294" r:id="rId3"/>
    <p:sldId id="257" r:id="rId4"/>
    <p:sldId id="258" r:id="rId5"/>
    <p:sldId id="259" r:id="rId6"/>
    <p:sldId id="302" r:id="rId7"/>
    <p:sldId id="261" r:id="rId8"/>
    <p:sldId id="262" r:id="rId9"/>
    <p:sldId id="299" r:id="rId10"/>
    <p:sldId id="264" r:id="rId11"/>
    <p:sldId id="265" r:id="rId12"/>
    <p:sldId id="266" r:id="rId13"/>
    <p:sldId id="292" r:id="rId14"/>
    <p:sldId id="282" r:id="rId15"/>
    <p:sldId id="291" r:id="rId16"/>
    <p:sldId id="276" r:id="rId17"/>
    <p:sldId id="283" r:id="rId18"/>
    <p:sldId id="278" r:id="rId19"/>
    <p:sldId id="279" r:id="rId20"/>
    <p:sldId id="280" r:id="rId21"/>
    <p:sldId id="281" r:id="rId22"/>
    <p:sldId id="290" r:id="rId23"/>
    <p:sldId id="287" r:id="rId24"/>
    <p:sldId id="286" r:id="rId25"/>
    <p:sldId id="288" r:id="rId26"/>
    <p:sldId id="284" r:id="rId27"/>
    <p:sldId id="289" r:id="rId28"/>
    <p:sldId id="285" r:id="rId29"/>
    <p:sldId id="277" r:id="rId30"/>
    <p:sldId id="270" r:id="rId31"/>
    <p:sldId id="303" r:id="rId32"/>
    <p:sldId id="301" r:id="rId3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85D6ABF-37AF-FBC9-CEBF-3C712FC8AC61}" name="HARUN KOCATAŞ" initials="HK" userId="aef64070ffa79bd7"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ocatas, Harun" initials="KH" lastIdx="1" clrIdx="0">
    <p:extLst>
      <p:ext uri="{19B8F6BF-5375-455C-9EA6-DF929625EA0E}">
        <p15:presenceInfo xmlns:p15="http://schemas.microsoft.com/office/powerpoint/2012/main" userId="S-1-5-21-11350593-1987465367-1023578015-658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comments/modernComment_102_0.xml><?xml version="1.0" encoding="utf-8"?>
<p188:cmLst xmlns:a="http://schemas.openxmlformats.org/drawingml/2006/main" xmlns:r="http://schemas.openxmlformats.org/officeDocument/2006/relationships" xmlns:p188="http://schemas.microsoft.com/office/powerpoint/2018/8/main">
  <p188:cm id="{0A0DD887-4660-42E5-92AE-60C2B24E5344}" authorId="{A85D6ABF-37AF-FBC9-CEBF-3C712FC8AC61}" created="2023-07-09T19:16:11.234">
    <ac:txMkLst xmlns:ac="http://schemas.microsoft.com/office/drawing/2013/main/command">
      <pc:docMk xmlns:pc="http://schemas.microsoft.com/office/powerpoint/2013/main/command"/>
      <pc:sldMk xmlns:pc="http://schemas.microsoft.com/office/powerpoint/2013/main/command" cId="0" sldId="258"/>
      <ac:spMk id="59" creationId="{00000000-0000-0000-0000-000000000000}"/>
      <ac:txMk cp="192" len="98">
        <ac:context len="373" hash="251016211"/>
      </ac:txMk>
    </ac:txMkLst>
    <p188:pos x="7387111" y="2620989"/>
    <p188:txBody>
      <a:bodyPr/>
      <a:lstStyle/>
      <a:p>
        <a:r>
          <a:rPr lang="de-DE"/>
          <a:t>@Marcus: This is new sentence.</a:t>
        </a:r>
      </a:p>
    </p188:txBody>
  </p188:cm>
</p188:cmLst>
</file>

<file path=ppt/comments/modernComment_129_3DA2451F.xml><?xml version="1.0" encoding="utf-8"?>
<p188:cmLst xmlns:a="http://schemas.openxmlformats.org/drawingml/2006/main" xmlns:r="http://schemas.openxmlformats.org/officeDocument/2006/relationships" xmlns:p188="http://schemas.microsoft.com/office/powerpoint/2018/8/main">
  <p188:cm id="{EA92039D-DF1F-4157-B2EF-9A53656D93B6}" authorId="{A85D6ABF-37AF-FBC9-CEBF-3C712FC8AC61}" created="2023-07-09T19:17:01.404">
    <ac:txMkLst xmlns:ac="http://schemas.microsoft.com/office/drawing/2013/main/command">
      <pc:docMk xmlns:pc="http://schemas.microsoft.com/office/powerpoint/2013/main/command"/>
      <pc:sldMk xmlns:pc="http://schemas.microsoft.com/office/powerpoint/2013/main/command" cId="1034044703" sldId="297"/>
      <ac:spMk id="48" creationId="{00000000-0000-0000-0000-000000000000}"/>
      <ac:txMk cp="0" len="10">
        <ac:context len="11" hash="3747652755"/>
      </ac:txMk>
    </ac:txMkLst>
    <p188:pos x="9407253" y="237568"/>
    <p188:txBody>
      <a:bodyPr/>
      <a:lstStyle/>
      <a:p>
        <a:r>
          <a:rPr lang="de-DE"/>
          <a:t>@Marcus: This is new slide.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de-DE" sz="1800" b="0" strike="noStrike" spc="-1">
                <a:solidFill>
                  <a:srgbClr val="000000"/>
                </a:solidFill>
                <a:latin typeface="Calibri"/>
              </a:rPr>
              <a:t>Click to move the slide</a:t>
            </a: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4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44" name="PlaceHolder 4"/>
          <p:cNvSpPr>
            <a:spLocks noGrp="1"/>
          </p:cNvSpPr>
          <p:nvPr>
            <p:ph type="dt" idx="4"/>
          </p:nvPr>
        </p:nvSpPr>
        <p:spPr>
          <a:xfrm>
            <a:off x="4278960" y="0"/>
            <a:ext cx="3280680" cy="53424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45" name="PlaceHolder 5"/>
          <p:cNvSpPr>
            <a:spLocks noGrp="1"/>
          </p:cNvSpPr>
          <p:nvPr>
            <p:ph type="ftr" idx="5"/>
          </p:nvPr>
        </p:nvSpPr>
        <p:spPr>
          <a:xfrm>
            <a:off x="0" y="10157400"/>
            <a:ext cx="3280680" cy="53424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46" name="PlaceHolder 6"/>
          <p:cNvSpPr>
            <a:spLocks noGrp="1"/>
          </p:cNvSpPr>
          <p:nvPr>
            <p:ph type="sldNum" idx="6"/>
          </p:nvPr>
        </p:nvSpPr>
        <p:spPr>
          <a:xfrm>
            <a:off x="4278960" y="10157400"/>
            <a:ext cx="3280680" cy="53424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FF3A229C-F424-4593-BDDC-A9878C126C3D}" type="slidenum">
              <a:rPr lang="en-US" sz="1400" b="0" strike="noStrike" spc="-1">
                <a:latin typeface="Times New Roman"/>
              </a:rPr>
              <a:t>‹Nr.›</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17488" y="812800"/>
            <a:ext cx="7124700" cy="4008438"/>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8DC0E653-B200-42D6-B295-9EB1AA01AC85}" type="slidenum">
              <a:rPr lang="de-DE" smtClean="0"/>
              <a:t>1</a:t>
            </a:fld>
            <a:endParaRPr lang="de-DE"/>
          </a:p>
        </p:txBody>
      </p:sp>
    </p:spTree>
    <p:extLst>
      <p:ext uri="{BB962C8B-B14F-4D97-AF65-F5344CB8AC3E}">
        <p14:creationId xmlns:p14="http://schemas.microsoft.com/office/powerpoint/2010/main" val="1013809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noRot="1" noChangeAspect="1"/>
          </p:cNvSpPr>
          <p:nvPr>
            <p:ph type="sldImg"/>
          </p:nvPr>
        </p:nvSpPr>
        <p:spPr>
          <a:xfrm>
            <a:off x="685800" y="1143000"/>
            <a:ext cx="5486400" cy="3086100"/>
          </a:xfrm>
          <a:prstGeom prst="rect">
            <a:avLst/>
          </a:prstGeom>
          <a:ln w="0">
            <a:noFill/>
          </a:ln>
        </p:spPr>
      </p:sp>
      <p:sp>
        <p:nvSpPr>
          <p:cNvPr id="184"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85"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0418BF17-1D4D-4863-BB73-6A553816E0FA}" type="slidenum">
              <a:rPr lang="de-DE" sz="1200" b="0" strike="noStrike" spc="-1">
                <a:solidFill>
                  <a:srgbClr val="000000"/>
                </a:solidFill>
                <a:latin typeface="+mn-lt"/>
                <a:ea typeface="+mn-ea"/>
              </a:rPr>
              <a:t>2</a:t>
            </a:fld>
            <a:endParaRPr lang="en-US" sz="1200" b="0" strike="noStrike" spc="-1">
              <a:latin typeface="Times New Roman"/>
            </a:endParaRPr>
          </a:p>
        </p:txBody>
      </p:sp>
    </p:spTree>
    <p:extLst>
      <p:ext uri="{BB962C8B-B14F-4D97-AF65-F5344CB8AC3E}">
        <p14:creationId xmlns:p14="http://schemas.microsoft.com/office/powerpoint/2010/main" val="3351255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PlaceHolder 1"/>
          <p:cNvSpPr>
            <a:spLocks noGrp="1" noRot="1" noChangeAspect="1"/>
          </p:cNvSpPr>
          <p:nvPr>
            <p:ph type="sldImg"/>
          </p:nvPr>
        </p:nvSpPr>
        <p:spPr>
          <a:xfrm>
            <a:off x="685800" y="1143000"/>
            <a:ext cx="5486400" cy="3086100"/>
          </a:xfrm>
          <a:prstGeom prst="rect">
            <a:avLst/>
          </a:prstGeom>
          <a:ln w="0">
            <a:noFill/>
          </a:ln>
        </p:spPr>
      </p:sp>
      <p:sp>
        <p:nvSpPr>
          <p:cNvPr id="187"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88"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E1AC143F-CE07-4837-A50A-B0E0063DB6EF}" type="slidenum">
              <a:rPr lang="de-DE" sz="1200" b="0" strike="noStrike" spc="-1">
                <a:solidFill>
                  <a:srgbClr val="000000"/>
                </a:solidFill>
                <a:latin typeface="+mn-lt"/>
                <a:ea typeface="+mn-ea"/>
              </a:rPr>
              <a:t>3</a:t>
            </a:fld>
            <a:endParaRPr lang="en-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noRot="1" noChangeAspect="1"/>
          </p:cNvSpPr>
          <p:nvPr>
            <p:ph type="sldImg"/>
          </p:nvPr>
        </p:nvSpPr>
        <p:spPr>
          <a:xfrm>
            <a:off x="685800" y="1143000"/>
            <a:ext cx="5486400" cy="3086100"/>
          </a:xfrm>
          <a:prstGeom prst="rect">
            <a:avLst/>
          </a:prstGeom>
          <a:ln w="0">
            <a:noFill/>
          </a:ln>
        </p:spPr>
      </p:sp>
      <p:sp>
        <p:nvSpPr>
          <p:cNvPr id="19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91"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A8D7E948-2EA6-496A-BA8C-B08AF420B16E}" type="slidenum">
              <a:rPr lang="de-DE" sz="1200" b="0" strike="noStrike" spc="-1">
                <a:solidFill>
                  <a:srgbClr val="000000"/>
                </a:solidFill>
                <a:latin typeface="+mn-lt"/>
                <a:ea typeface="+mn-ea"/>
              </a:rPr>
              <a:t>4</a:t>
            </a:fld>
            <a:endParaRPr lang="en-US"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noRot="1" noChangeAspect="1"/>
          </p:cNvSpPr>
          <p:nvPr>
            <p:ph type="sldImg"/>
          </p:nvPr>
        </p:nvSpPr>
        <p:spPr>
          <a:xfrm>
            <a:off x="685800" y="1143000"/>
            <a:ext cx="5486400" cy="3086100"/>
          </a:xfrm>
          <a:prstGeom prst="rect">
            <a:avLst/>
          </a:prstGeom>
          <a:ln w="0">
            <a:noFill/>
          </a:ln>
        </p:spPr>
      </p:sp>
      <p:sp>
        <p:nvSpPr>
          <p:cNvPr id="193"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94"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80A1ABCD-7980-4C2A-8A62-B25C33ED64B2}" type="slidenum">
              <a:rPr lang="de-DE" sz="1200" b="0" strike="noStrike" spc="-1">
                <a:solidFill>
                  <a:srgbClr val="000000"/>
                </a:solidFill>
                <a:latin typeface="+mn-lt"/>
                <a:ea typeface="+mn-ea"/>
              </a:rPr>
              <a:t>5</a:t>
            </a:fld>
            <a:endParaRPr lang="en-US" sz="1200" b="0" strike="noStrike" spc="-1">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noRot="1" noChangeAspect="1"/>
          </p:cNvSpPr>
          <p:nvPr>
            <p:ph type="sldImg"/>
          </p:nvPr>
        </p:nvSpPr>
        <p:spPr>
          <a:xfrm>
            <a:off x="685800" y="1143000"/>
            <a:ext cx="5486400" cy="3086100"/>
          </a:xfrm>
          <a:prstGeom prst="rect">
            <a:avLst/>
          </a:prstGeom>
          <a:ln w="0">
            <a:noFill/>
          </a:ln>
        </p:spPr>
      </p:sp>
      <p:sp>
        <p:nvSpPr>
          <p:cNvPr id="196"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97"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5916610E-8333-4807-B914-E3F3D474274B}" type="slidenum">
              <a:rPr lang="de-DE" sz="1200" b="0" strike="noStrike" spc="-1">
                <a:solidFill>
                  <a:srgbClr val="000000"/>
                </a:solidFill>
                <a:latin typeface="+mn-lt"/>
                <a:ea typeface="+mn-ea"/>
              </a:rPr>
              <a:t>6</a:t>
            </a:fld>
            <a:endParaRPr lang="en-US" sz="1200" b="0" strike="noStrike" spc="-1">
              <a:latin typeface="Times New Roman"/>
            </a:endParaRPr>
          </a:p>
        </p:txBody>
      </p:sp>
    </p:spTree>
    <p:extLst>
      <p:ext uri="{BB962C8B-B14F-4D97-AF65-F5344CB8AC3E}">
        <p14:creationId xmlns:p14="http://schemas.microsoft.com/office/powerpoint/2010/main" val="3765099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noRot="1" noChangeAspect="1"/>
          </p:cNvSpPr>
          <p:nvPr>
            <p:ph type="sldImg"/>
          </p:nvPr>
        </p:nvSpPr>
        <p:spPr>
          <a:xfrm>
            <a:off x="685800" y="1143000"/>
            <a:ext cx="5486400" cy="3086100"/>
          </a:xfrm>
          <a:prstGeom prst="rect">
            <a:avLst/>
          </a:prstGeom>
          <a:ln w="0">
            <a:noFill/>
          </a:ln>
        </p:spPr>
      </p:sp>
      <p:sp>
        <p:nvSpPr>
          <p:cNvPr id="199"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00"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909B5714-0C60-436C-9A6F-053943F5E615}" type="slidenum">
              <a:rPr lang="de-DE" sz="1200" b="0" strike="noStrike" spc="-1">
                <a:solidFill>
                  <a:srgbClr val="000000"/>
                </a:solidFill>
                <a:latin typeface="+mn-lt"/>
                <a:ea typeface="+mn-ea"/>
              </a:rPr>
              <a:t>7</a:t>
            </a:fld>
            <a:endParaRPr lang="en-US" sz="1200" b="0" strike="noStrike" spc="-1">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noRot="1" noChangeAspect="1"/>
          </p:cNvSpPr>
          <p:nvPr>
            <p:ph type="sldImg"/>
          </p:nvPr>
        </p:nvSpPr>
        <p:spPr>
          <a:xfrm>
            <a:off x="685800" y="1143000"/>
            <a:ext cx="5486400" cy="3086100"/>
          </a:xfrm>
          <a:prstGeom prst="rect">
            <a:avLst/>
          </a:prstGeom>
          <a:ln w="0">
            <a:noFill/>
          </a:ln>
        </p:spPr>
      </p:sp>
      <p:sp>
        <p:nvSpPr>
          <p:cNvPr id="202"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03"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725A4BF1-CAC1-4801-BB0E-6952CD755BAC}" type="slidenum">
              <a:rPr lang="de-DE" sz="1200" b="0" strike="noStrike" spc="-1">
                <a:solidFill>
                  <a:srgbClr val="000000"/>
                </a:solidFill>
                <a:latin typeface="+mn-lt"/>
                <a:ea typeface="+mn-ea"/>
              </a:rPr>
              <a:t>8</a:t>
            </a:fld>
            <a:endParaRPr lang="en-US" sz="1200" b="0" strike="noStrike" spc="-1">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noRot="1" noChangeAspect="1"/>
          </p:cNvSpPr>
          <p:nvPr>
            <p:ph type="sldImg"/>
          </p:nvPr>
        </p:nvSpPr>
        <p:spPr>
          <a:xfrm>
            <a:off x="685800" y="1143000"/>
            <a:ext cx="5486400" cy="3086100"/>
          </a:xfrm>
          <a:prstGeom prst="rect">
            <a:avLst/>
          </a:prstGeom>
          <a:ln w="0">
            <a:noFill/>
          </a:ln>
        </p:spPr>
      </p:sp>
      <p:sp>
        <p:nvSpPr>
          <p:cNvPr id="205"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06"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3A8F0A0E-D723-4EDD-BC12-940B28B14008}" type="slidenum">
              <a:rPr lang="de-DE" sz="1200" b="0" strike="noStrike" spc="-1">
                <a:solidFill>
                  <a:srgbClr val="000000"/>
                </a:solidFill>
                <a:latin typeface="+mn-lt"/>
                <a:ea typeface="+mn-ea"/>
              </a:rPr>
              <a:t>9</a:t>
            </a:fld>
            <a:endParaRPr lang="en-US" sz="1200" b="0" strike="noStrike" spc="-1">
              <a:latin typeface="Times New Roman"/>
            </a:endParaRPr>
          </a:p>
        </p:txBody>
      </p:sp>
    </p:spTree>
    <p:extLst>
      <p:ext uri="{BB962C8B-B14F-4D97-AF65-F5344CB8AC3E}">
        <p14:creationId xmlns:p14="http://schemas.microsoft.com/office/powerpoint/2010/main" val="840488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noRot="1" noChangeAspect="1"/>
          </p:cNvSpPr>
          <p:nvPr>
            <p:ph type="sldImg"/>
          </p:nvPr>
        </p:nvSpPr>
        <p:spPr>
          <a:xfrm>
            <a:off x="685800" y="1143000"/>
            <a:ext cx="5486400" cy="3086100"/>
          </a:xfrm>
          <a:prstGeom prst="rect">
            <a:avLst/>
          </a:prstGeom>
          <a:ln w="0">
            <a:noFill/>
          </a:ln>
        </p:spPr>
      </p:sp>
      <p:sp>
        <p:nvSpPr>
          <p:cNvPr id="208"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09"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360E9EDA-D2C6-4EC1-9DB5-A333FA1FA42E}" type="slidenum">
              <a:rPr lang="de-DE" sz="1200" b="0" strike="noStrike" spc="-1">
                <a:solidFill>
                  <a:srgbClr val="000000"/>
                </a:solidFill>
                <a:latin typeface="+mn-lt"/>
                <a:ea typeface="+mn-ea"/>
              </a:rPr>
              <a:t>10</a:t>
            </a:fld>
            <a:endParaRPr lang="en-US" sz="1200" b="0" strike="noStrike" spc="-1">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noRot="1" noChangeAspect="1"/>
          </p:cNvSpPr>
          <p:nvPr>
            <p:ph type="sldImg"/>
          </p:nvPr>
        </p:nvSpPr>
        <p:spPr>
          <a:xfrm>
            <a:off x="685800" y="1143000"/>
            <a:ext cx="5486400" cy="3086100"/>
          </a:xfrm>
          <a:prstGeom prst="rect">
            <a:avLst/>
          </a:prstGeom>
          <a:ln w="0">
            <a:noFill/>
          </a:ln>
        </p:spPr>
      </p:sp>
      <p:sp>
        <p:nvSpPr>
          <p:cNvPr id="211"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12"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DBCC8FA1-84E1-4325-AC60-C4377EB5EE30}" type="slidenum">
              <a:rPr lang="de-DE" sz="1200" b="0" strike="noStrike" spc="-1">
                <a:solidFill>
                  <a:srgbClr val="000000"/>
                </a:solidFill>
                <a:latin typeface="+mn-lt"/>
                <a:ea typeface="+mn-ea"/>
              </a:rPr>
              <a:t>11</a:t>
            </a:fld>
            <a:endParaRPr lang="en-US" sz="1200" b="0" strike="noStrike" spc="-1">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PlaceHolder 1"/>
          <p:cNvSpPr>
            <a:spLocks noGrp="1" noRot="1" noChangeAspect="1"/>
          </p:cNvSpPr>
          <p:nvPr>
            <p:ph type="sldImg"/>
          </p:nvPr>
        </p:nvSpPr>
        <p:spPr>
          <a:xfrm>
            <a:off x="685800" y="1143000"/>
            <a:ext cx="5486400" cy="3086100"/>
          </a:xfrm>
          <a:prstGeom prst="rect">
            <a:avLst/>
          </a:prstGeom>
          <a:ln w="0">
            <a:noFill/>
          </a:ln>
        </p:spPr>
      </p:sp>
      <p:sp>
        <p:nvSpPr>
          <p:cNvPr id="214"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15"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94F1C190-4257-4C34-9417-C918C2C7B6E2}" type="slidenum">
              <a:rPr lang="de-DE" sz="1200" b="0" strike="noStrike" spc="-1">
                <a:solidFill>
                  <a:srgbClr val="000000"/>
                </a:solidFill>
                <a:latin typeface="+mn-lt"/>
                <a:ea typeface="+mn-ea"/>
              </a:rPr>
              <a:t>12</a:t>
            </a:fld>
            <a:endParaRPr lang="en-US" sz="1200" b="0" strike="noStrike" spc="-1">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17488" y="812800"/>
            <a:ext cx="7124700" cy="4008438"/>
          </a:xfrm>
        </p:spPr>
      </p:sp>
      <p:sp>
        <p:nvSpPr>
          <p:cNvPr id="3" name="Notizenplatzhalter 2"/>
          <p:cNvSpPr>
            <a:spLocks noGrp="1"/>
          </p:cNvSpPr>
          <p:nvPr>
            <p:ph type="body" idx="1"/>
          </p:nvPr>
        </p:nvSpPr>
        <p:spPr/>
        <p:txBody>
          <a:bodyPr/>
          <a:lstStyle/>
          <a:p>
            <a:r>
              <a:rPr lang="en-US" dirty="0"/>
              <a:t>To familiarize you with the task, let's start with a short test block.</a:t>
            </a:r>
            <a:endParaRPr lang="de-DE" dirty="0"/>
          </a:p>
        </p:txBody>
      </p:sp>
      <p:sp>
        <p:nvSpPr>
          <p:cNvPr id="4" name="Foliennummernplatzhalter 3"/>
          <p:cNvSpPr>
            <a:spLocks noGrp="1"/>
          </p:cNvSpPr>
          <p:nvPr>
            <p:ph type="sldNum" sz="quarter" idx="10"/>
          </p:nvPr>
        </p:nvSpPr>
        <p:spPr/>
        <p:txBody>
          <a:bodyPr/>
          <a:lstStyle/>
          <a:p>
            <a:fld id="{8DC0E653-B200-42D6-B295-9EB1AA01AC85}" type="slidenum">
              <a:rPr lang="de-DE" smtClean="0"/>
              <a:t>13</a:t>
            </a:fld>
            <a:endParaRPr lang="de-DE"/>
          </a:p>
        </p:txBody>
      </p:sp>
    </p:spTree>
    <p:extLst>
      <p:ext uri="{BB962C8B-B14F-4D97-AF65-F5344CB8AC3E}">
        <p14:creationId xmlns:p14="http://schemas.microsoft.com/office/powerpoint/2010/main" val="553523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
          <p:cNvSpPr>
            <a:spLocks noGrp="1" noRot="1" noChangeAspect="1"/>
          </p:cNvSpPr>
          <p:nvPr>
            <p:ph type="sldImg"/>
          </p:nvPr>
        </p:nvSpPr>
        <p:spPr>
          <a:xfrm>
            <a:off x="685800" y="1143000"/>
            <a:ext cx="5486400" cy="3086100"/>
          </a:xfrm>
          <a:prstGeom prst="rect">
            <a:avLst/>
          </a:prstGeom>
          <a:ln w="0">
            <a:noFill/>
          </a:ln>
        </p:spPr>
      </p:sp>
      <p:sp>
        <p:nvSpPr>
          <p:cNvPr id="226"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27"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79B698CD-67E3-406A-BFA3-B4BDBC317DD9}" type="slidenum">
              <a:rPr lang="de-DE" sz="1200" b="0" strike="noStrike" spc="-1">
                <a:solidFill>
                  <a:srgbClr val="000000"/>
                </a:solidFill>
                <a:latin typeface="+mn-lt"/>
                <a:ea typeface="+mn-ea"/>
              </a:rPr>
              <a:t>30</a:t>
            </a:fld>
            <a:endParaRPr lang="en-US" sz="1200" b="0" strike="noStrike" spc="-1">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PlaceHolder 1"/>
          <p:cNvSpPr>
            <a:spLocks noGrp="1" noRot="1" noChangeAspect="1"/>
          </p:cNvSpPr>
          <p:nvPr>
            <p:ph type="sldImg"/>
          </p:nvPr>
        </p:nvSpPr>
        <p:spPr>
          <a:xfrm>
            <a:off x="685800" y="1143000"/>
            <a:ext cx="5486400" cy="3086100"/>
          </a:xfrm>
          <a:prstGeom prst="rect">
            <a:avLst/>
          </a:prstGeom>
          <a:ln w="0">
            <a:noFill/>
          </a:ln>
        </p:spPr>
      </p:sp>
      <p:sp>
        <p:nvSpPr>
          <p:cNvPr id="187"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88"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E1AC143F-CE07-4837-A50A-B0E0063DB6EF}" type="slidenum">
              <a:rPr lang="de-DE" sz="1200" b="0" strike="noStrike" spc="-1">
                <a:solidFill>
                  <a:srgbClr val="000000"/>
                </a:solidFill>
                <a:latin typeface="+mn-lt"/>
                <a:ea typeface="+mn-ea"/>
              </a:rPr>
              <a:t>31</a:t>
            </a:fld>
            <a:endParaRPr lang="en-US" sz="1200" b="0" strike="noStrike" spc="-1">
              <a:latin typeface="Times New Roman"/>
            </a:endParaRPr>
          </a:p>
        </p:txBody>
      </p:sp>
    </p:spTree>
    <p:extLst>
      <p:ext uri="{BB962C8B-B14F-4D97-AF65-F5344CB8AC3E}">
        <p14:creationId xmlns:p14="http://schemas.microsoft.com/office/powerpoint/2010/main" val="2180968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7C5027-DBF7-442C-9F4E-B1E856D1474E}" type="slidenum">
              <a:rPr lang="en-US" smtClean="0"/>
              <a:t>32</a:t>
            </a:fld>
            <a:endParaRPr lang="en-US"/>
          </a:p>
        </p:txBody>
      </p:sp>
    </p:spTree>
    <p:extLst>
      <p:ext uri="{BB962C8B-B14F-4D97-AF65-F5344CB8AC3E}">
        <p14:creationId xmlns:p14="http://schemas.microsoft.com/office/powerpoint/2010/main" val="1000751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276D3DBB-5C36-4104-B305-228B6DEAFA57}" type="slidenum">
              <a:t>‹Nr.›</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F0CA46F0-D5CA-48F5-9888-3B8420A43D10}" type="slidenum">
              <a:t>‹Nr.›</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9886BEA7-9F62-46CF-956F-6D741A5EB472}" type="slidenum">
              <a:t>‹Nr.›</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78FC2FEE-B72A-4A24-A2DF-E0C505D800DB}" type="slidenum">
              <a:t>‹Nr.›</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FD006FED-CC87-4E14-8834-EE118173A629}" type="slidenum">
              <a:t>‹Nr.›</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23880" y="1122480"/>
            <a:ext cx="9143640" cy="110667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285A165A-3D77-4BB1-88D9-B4BBEFC9A68E}" type="slidenum">
              <a:t>‹Nr.›</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B721A2F3-D4BC-482C-9061-CE6DFAB932E6}" type="slidenum">
              <a:t>‹Nr.›</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FA8199EF-AE93-41BB-B395-6BF09E26F4B2}" type="slidenum">
              <a:t>‹Nr.›</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C37B63F6-0CB7-43C1-A5C8-4D0180BE64B0}" type="slidenum">
              <a:t>‹Nr.›</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8407E62A-4CED-49C1-81B2-A48E0D6F7AF0}" type="slidenum">
              <a:t>‹Nr.›</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88EA9AAC-29FF-4939-89D9-1EE6A4AA04A5}" type="slidenum">
              <a:t>‹Nr.›</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9CD09B28-649A-45AE-9F4D-64667398B452}" type="slidenum">
              <a:t>‹Nr.›</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EEBF174E-72A9-47D2-9A7A-A8656326455F}" type="datetimeFigureOut">
              <a:rPr lang="de-DE" smtClean="0"/>
              <a:t>28.04.2024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3378522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DEF9C-F6A3-94C5-D8F2-1351488069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D4DEA3-82CD-D00F-BB87-B063876146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8FBEF4-B265-152E-49C3-2EE26C6A8A11}"/>
              </a:ext>
            </a:extLst>
          </p:cNvPr>
          <p:cNvSpPr>
            <a:spLocks noGrp="1"/>
          </p:cNvSpPr>
          <p:nvPr>
            <p:ph type="dt" sz="half" idx="10"/>
          </p:nvPr>
        </p:nvSpPr>
        <p:spPr/>
        <p:txBody>
          <a:bodyPr/>
          <a:lstStyle/>
          <a:p>
            <a:fld id="{52CD75EF-EFB4-4026-95B9-275770A67C68}" type="datetimeFigureOut">
              <a:rPr lang="en-US" smtClean="0"/>
              <a:t>4/28/2024</a:t>
            </a:fld>
            <a:endParaRPr lang="en-US"/>
          </a:p>
        </p:txBody>
      </p:sp>
      <p:sp>
        <p:nvSpPr>
          <p:cNvPr id="5" name="Footer Placeholder 4">
            <a:extLst>
              <a:ext uri="{FF2B5EF4-FFF2-40B4-BE49-F238E27FC236}">
                <a16:creationId xmlns:a16="http://schemas.microsoft.com/office/drawing/2014/main" id="{DB9224B1-7598-3BC2-5D7C-C680900C4A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52A0F0-CDDE-6BF3-38A5-528480FF8CEE}"/>
              </a:ext>
            </a:extLst>
          </p:cNvPr>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635547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anchor="b">
            <a:noAutofit/>
          </a:bodyPr>
          <a:lstStyle/>
          <a:p>
            <a:pPr algn="ctr">
              <a:lnSpc>
                <a:spcPct val="90000"/>
              </a:lnSpc>
              <a:buNone/>
            </a:pPr>
            <a:r>
              <a:rPr lang="de-DE" sz="6000" b="0" strike="noStrike" spc="-1">
                <a:solidFill>
                  <a:srgbClr val="000000"/>
                </a:solidFill>
                <a:latin typeface="Calibri Light"/>
              </a:rPr>
              <a:t>Titelmasterformat durch Klicken bearbeiten</a:t>
            </a:r>
            <a:endParaRPr lang="de-DE" sz="6000" b="0" strike="noStrike" spc="-1">
              <a:solidFill>
                <a:srgbClr val="000000"/>
              </a:solidFill>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lang="de-DE" sz="1200" b="0" strike="noStrike" spc="-1">
                <a:solidFill>
                  <a:srgbClr val="8B8B8B"/>
                </a:solidFill>
                <a:latin typeface="Calibri"/>
              </a:defRPr>
            </a:lvl1pPr>
          </a:lstStyle>
          <a:p>
            <a:pPr>
              <a:lnSpc>
                <a:spcPct val="100000"/>
              </a:lnSpc>
              <a:buNone/>
            </a:pPr>
            <a:r>
              <a:rPr lang="de-DE" sz="1200" b="0" strike="noStrike" spc="-1">
                <a:solidFill>
                  <a:srgbClr val="8B8B8B"/>
                </a:solidFill>
                <a:latin typeface="Calibri"/>
              </a:rPr>
              <a:t>&lt;date/time&gt;</a:t>
            </a:r>
            <a:endParaRPr lang="en-US" sz="1200" b="0" strike="noStrike" spc="-1">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lang="en-US" sz="1400" b="0" strike="noStrike" spc="-1">
                <a:latin typeface="Times New Roman"/>
              </a:defRPr>
            </a:lvl1pPr>
          </a:lstStyle>
          <a:p>
            <a:pPr algn="ctr">
              <a:buNone/>
            </a:pPr>
            <a:r>
              <a:rPr lang="en-US" sz="1400" b="0" strike="noStrike" spc="-1">
                <a:latin typeface="Times New Roman"/>
              </a:rPr>
              <a:t>&lt;footer&gt;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lang="de-DE" sz="1200" b="0" strike="noStrike" spc="-1">
                <a:solidFill>
                  <a:srgbClr val="8B8B8B"/>
                </a:solidFill>
                <a:latin typeface="Calibri"/>
              </a:defRPr>
            </a:lvl1pPr>
          </a:lstStyle>
          <a:p>
            <a:pPr algn="r">
              <a:lnSpc>
                <a:spcPct val="100000"/>
              </a:lnSpc>
              <a:buNone/>
            </a:pPr>
            <a:fld id="{BD20AEBC-57E8-46AF-9D60-731F5DBD7FEB}" type="slidenum">
              <a:rPr lang="de-DE" sz="1200" b="0" strike="noStrike" spc="-1">
                <a:solidFill>
                  <a:srgbClr val="8B8B8B"/>
                </a:solidFill>
                <a:latin typeface="Calibri"/>
              </a:rPr>
              <a:t>‹Nr.›</a:t>
            </a:fld>
            <a:endParaRPr lang="en-US" sz="12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de-DE" sz="2800" b="0" strike="noStrike" spc="-1">
                <a:solidFill>
                  <a:srgbClr val="000000"/>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de-DE" sz="2000" b="0" strike="noStrike" spc="-1">
                <a:solidFill>
                  <a:srgbClr val="000000"/>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de-DE" sz="1800" b="0" strike="noStrike" spc="-1">
                <a:solidFill>
                  <a:srgbClr val="000000"/>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de-DE" sz="1800" b="0" strike="noStrike" spc="-1">
                <a:solidFill>
                  <a:srgbClr val="000000"/>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de-DE" sz="2000" b="0" strike="noStrike" spc="-1">
                <a:solidFill>
                  <a:srgbClr val="000000"/>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de-DE" sz="2000" b="0" strike="noStrike" spc="-1">
                <a:solidFill>
                  <a:srgbClr val="000000"/>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de-DE"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18/10/relationships/comments" Target="../comments/modernComment_102_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microsoft.com/office/2018/10/relationships/comments" Target="../comments/modernComment_129_3DA2451F.xml"/><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468625" y="2303055"/>
            <a:ext cx="9144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Aft>
                <a:spcPct val="0"/>
              </a:spcAft>
            </a:pPr>
            <a:r>
              <a:rPr lang="de-DE" altLang="de-DE" sz="2000" b="1" dirty="0">
                <a:latin typeface="Arial" panose="020B0604020202020204" pitchFamily="34" charset="0"/>
              </a:rPr>
              <a:t>Projekt 3 der Forschungsgruppe 5429</a:t>
            </a:r>
            <a:br>
              <a:rPr kumimoji="0" lang="de-DE" altLang="de-DE" sz="2000" b="0" i="0" u="none" strike="noStrike" cap="none" normalizeH="0" baseline="0" dirty="0">
                <a:ln>
                  <a:noFill/>
                </a:ln>
                <a:effectLst/>
                <a:latin typeface="Arial" panose="020B0604020202020204" pitchFamily="34" charset="0"/>
              </a:rPr>
            </a:br>
            <a:br>
              <a:rPr lang="de-DE" altLang="de-DE" sz="2000" dirty="0">
                <a:latin typeface="Arial" panose="020B0604020202020204" pitchFamily="34" charset="0"/>
              </a:rPr>
            </a:br>
            <a:r>
              <a:rPr lang="de-DE" altLang="de-DE" sz="2800" dirty="0">
                <a:latin typeface="Arial" panose="020B0604020202020204" pitchFamily="34" charset="0"/>
              </a:rPr>
              <a:t>Effekte von fokaler Gleichstromstimulation auf Sprachlernen </a:t>
            </a:r>
            <a:endParaRPr kumimoji="0" lang="de-DE" altLang="de-DE" sz="2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311651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1562040" y="1034280"/>
            <a:ext cx="9143640" cy="5823720"/>
          </a:xfrm>
          <a:prstGeom prst="rect">
            <a:avLst/>
          </a:prstGeom>
          <a:noFill/>
          <a:ln w="0">
            <a:noFill/>
          </a:ln>
        </p:spPr>
        <p:txBody>
          <a:bodyPr numCol="1" spcCol="0" anchor="ctr">
            <a:noAutofit/>
          </a:bodyPr>
          <a:lstStyle/>
          <a:p>
            <a:pPr>
              <a:lnSpc>
                <a:spcPct val="100000"/>
              </a:lnSpc>
              <a:buNone/>
            </a:pPr>
            <a:r>
              <a:rPr lang="de-DE" sz="2800" b="0" strike="noStrike" spc="-1" dirty="0">
                <a:solidFill>
                  <a:srgbClr val="000000"/>
                </a:solidFill>
                <a:latin typeface="Arial"/>
              </a:rPr>
              <a:t>Während des Experiments bitten wir Sie </a:t>
            </a:r>
            <a:br>
              <a:rPr sz="2800" dirty="0"/>
            </a:br>
            <a:r>
              <a:rPr lang="de-DE" sz="2800" b="1" strike="noStrike" spc="-1" dirty="0">
                <a:solidFill>
                  <a:srgbClr val="000000"/>
                </a:solidFill>
                <a:latin typeface="Arial"/>
              </a:rPr>
              <a:t>zwei Aufgaben </a:t>
            </a:r>
            <a:r>
              <a:rPr lang="de-DE" sz="2800" b="0" strike="noStrike" spc="-1" dirty="0">
                <a:solidFill>
                  <a:srgbClr val="000000"/>
                </a:solidFill>
                <a:latin typeface="Arial"/>
              </a:rPr>
              <a:t>zu bearbeiten</a:t>
            </a:r>
            <a:br>
              <a:rPr sz="2800" dirty="0"/>
            </a:br>
            <a:br>
              <a:rPr sz="2000" dirty="0"/>
            </a:br>
            <a:r>
              <a:rPr lang="de-DE" sz="2000" b="1" u="sng" strike="noStrike" spc="-1" dirty="0">
                <a:solidFill>
                  <a:srgbClr val="000000"/>
                </a:solidFill>
                <a:uFillTx/>
                <a:latin typeface="Arial"/>
              </a:rPr>
              <a:t>Aufgabe 1</a:t>
            </a:r>
            <a:r>
              <a:rPr lang="de-DE" sz="2000" b="1" strike="noStrike" spc="-1" dirty="0">
                <a:solidFill>
                  <a:srgbClr val="000000"/>
                </a:solidFill>
                <a:latin typeface="Arial"/>
              </a:rPr>
              <a:t> </a:t>
            </a:r>
            <a:br>
              <a:rPr sz="2000" dirty="0"/>
            </a:br>
            <a:r>
              <a:rPr lang="de-DE" sz="2000" b="0" strike="noStrike" spc="-1" dirty="0">
                <a:solidFill>
                  <a:srgbClr val="000000"/>
                </a:solidFill>
                <a:latin typeface="Arial"/>
              </a:rPr>
              <a:t>Entscheidung ob </a:t>
            </a:r>
            <a:r>
              <a:rPr lang="de-DE" sz="2000" b="1" strike="noStrike" spc="-1" dirty="0">
                <a:solidFill>
                  <a:srgbClr val="000000"/>
                </a:solidFill>
                <a:latin typeface="Arial"/>
              </a:rPr>
              <a:t>BILDER</a:t>
            </a:r>
            <a:r>
              <a:rPr lang="de-DE" sz="2000" b="0" strike="noStrike" spc="-1" dirty="0">
                <a:solidFill>
                  <a:srgbClr val="000000"/>
                </a:solidFill>
                <a:latin typeface="Arial"/>
              </a:rPr>
              <a:t> und </a:t>
            </a:r>
            <a:r>
              <a:rPr lang="de-DE" sz="2000" b="1" strike="noStrike" spc="-1" dirty="0">
                <a:solidFill>
                  <a:srgbClr val="000000"/>
                </a:solidFill>
                <a:latin typeface="Arial"/>
              </a:rPr>
              <a:t>WORTE</a:t>
            </a:r>
            <a:r>
              <a:rPr lang="de-DE" sz="2000" b="0" strike="noStrike" spc="-1" dirty="0">
                <a:solidFill>
                  <a:srgbClr val="000000"/>
                </a:solidFill>
                <a:latin typeface="Arial"/>
              </a:rPr>
              <a:t> übereinstimmen</a:t>
            </a:r>
            <a:br>
              <a:rPr sz="2000" dirty="0"/>
            </a:br>
            <a:br>
              <a:rPr sz="2000" dirty="0"/>
            </a:br>
            <a:r>
              <a:rPr lang="de-DE" sz="2000" b="1" u="sng" strike="noStrike" spc="-1" dirty="0">
                <a:solidFill>
                  <a:srgbClr val="000000"/>
                </a:solidFill>
                <a:uFillTx/>
                <a:latin typeface="Arial"/>
              </a:rPr>
              <a:t>Aufgabe 2</a:t>
            </a:r>
            <a:br>
              <a:rPr sz="2000" dirty="0"/>
            </a:br>
            <a:r>
              <a:rPr lang="de-DE" sz="2000" b="0" strike="noStrike" spc="-1" dirty="0">
                <a:solidFill>
                  <a:srgbClr val="000000"/>
                </a:solidFill>
                <a:latin typeface="Arial"/>
              </a:rPr>
              <a:t>Erlernen von </a:t>
            </a:r>
            <a:r>
              <a:rPr lang="en-US" sz="2000" b="1" strike="noStrike" spc="-1" dirty="0">
                <a:solidFill>
                  <a:srgbClr val="000000"/>
                </a:solidFill>
                <a:latin typeface="Arial"/>
              </a:rPr>
              <a:t>BILD </a:t>
            </a:r>
            <a:r>
              <a:rPr lang="en-US" sz="2000" b="0" strike="noStrike" spc="-1" dirty="0">
                <a:solidFill>
                  <a:srgbClr val="000000"/>
                </a:solidFill>
                <a:latin typeface="Arial"/>
              </a:rPr>
              <a:t>und</a:t>
            </a:r>
            <a:r>
              <a:rPr lang="en-US" sz="2000" b="1" strike="noStrike" spc="-1" dirty="0">
                <a:solidFill>
                  <a:srgbClr val="000000"/>
                </a:solidFill>
                <a:latin typeface="Arial"/>
              </a:rPr>
              <a:t> PSEUDOWORT </a:t>
            </a:r>
            <a:r>
              <a:rPr lang="en-US" sz="2000" b="0" strike="noStrike" spc="-1" dirty="0" err="1">
                <a:solidFill>
                  <a:srgbClr val="000000"/>
                </a:solidFill>
                <a:latin typeface="Arial"/>
              </a:rPr>
              <a:t>Paaren</a:t>
            </a:r>
            <a:br>
              <a:rPr sz="2000" dirty="0"/>
            </a:br>
            <a:br>
              <a:rPr sz="2000" dirty="0"/>
            </a:br>
            <a:br>
              <a:rPr sz="2000" dirty="0"/>
            </a:br>
            <a:r>
              <a:rPr lang="de-DE" sz="2000" b="0" strike="noStrike" spc="-1" dirty="0">
                <a:solidFill>
                  <a:srgbClr val="000000"/>
                </a:solidFill>
                <a:latin typeface="Arial"/>
              </a:rPr>
              <a:t>Aufgabe 1 wird insgesamt </a:t>
            </a:r>
            <a:r>
              <a:rPr lang="de-DE" sz="2000" b="1" strike="noStrike" spc="-1" dirty="0">
                <a:solidFill>
                  <a:srgbClr val="000000"/>
                </a:solidFill>
                <a:latin typeface="Arial"/>
              </a:rPr>
              <a:t>zweimal</a:t>
            </a:r>
            <a:r>
              <a:rPr lang="de-DE" sz="2000" b="0" strike="noStrike" spc="-1" dirty="0">
                <a:solidFill>
                  <a:srgbClr val="000000"/>
                </a:solidFill>
                <a:latin typeface="Arial"/>
              </a:rPr>
              <a:t> durchgeführt</a:t>
            </a:r>
            <a:br>
              <a:rPr sz="2000" dirty="0"/>
            </a:br>
            <a:br>
              <a:rPr sz="2000" dirty="0"/>
            </a:br>
            <a:r>
              <a:rPr lang="de-DE" sz="2000" b="0" strike="noStrike" spc="-1" dirty="0">
                <a:solidFill>
                  <a:srgbClr val="000000"/>
                </a:solidFill>
                <a:latin typeface="Arial"/>
              </a:rPr>
              <a:t>Aufgabe 2 wird insgesamt </a:t>
            </a:r>
            <a:r>
              <a:rPr lang="de-DE" sz="2000" b="1" spc="-1" dirty="0">
                <a:solidFill>
                  <a:srgbClr val="000000"/>
                </a:solidFill>
                <a:latin typeface="Arial"/>
              </a:rPr>
              <a:t>vier</a:t>
            </a:r>
            <a:r>
              <a:rPr lang="de-DE" sz="2000" b="1" strike="noStrike" spc="-1" dirty="0">
                <a:solidFill>
                  <a:srgbClr val="000000"/>
                </a:solidFill>
                <a:latin typeface="Arial"/>
              </a:rPr>
              <a:t>mal</a:t>
            </a:r>
            <a:r>
              <a:rPr lang="de-DE" sz="2000" b="0" strike="noStrike" spc="-1" dirty="0">
                <a:solidFill>
                  <a:srgbClr val="000000"/>
                </a:solidFill>
                <a:latin typeface="Arial"/>
              </a:rPr>
              <a:t> durchgeführt</a:t>
            </a:r>
            <a:br>
              <a:rPr lang="de-DE" sz="2000" b="0" strike="noStrike" spc="-1" dirty="0">
                <a:solidFill>
                  <a:srgbClr val="000000"/>
                </a:solidFill>
                <a:latin typeface="Arial"/>
              </a:rPr>
            </a:br>
            <a:br>
              <a:rPr lang="de-DE" sz="2000" spc="-1" dirty="0">
                <a:solidFill>
                  <a:srgbClr val="000000"/>
                </a:solidFill>
                <a:latin typeface="Arial"/>
              </a:rPr>
            </a:br>
            <a:r>
              <a:rPr lang="de-DE" sz="2000" b="1" spc="-1" dirty="0">
                <a:latin typeface="Arial"/>
              </a:rPr>
              <a:t>Daher ist die Aufgabe diesmal deutlich länger als beim ersten Mal.</a:t>
            </a:r>
            <a:br>
              <a:rPr sz="2000" b="1" dirty="0">
                <a:solidFill>
                  <a:srgbClr val="FF0000"/>
                </a:solidFill>
              </a:rPr>
            </a:br>
            <a:br>
              <a:rPr sz="2000" dirty="0"/>
            </a:br>
            <a:r>
              <a:rPr lang="de-DE" sz="2000" b="0" strike="noStrike" spc="-1" dirty="0">
                <a:solidFill>
                  <a:srgbClr val="000000"/>
                </a:solidFill>
                <a:latin typeface="Arial"/>
              </a:rPr>
              <a:t>									</a:t>
            </a:r>
            <a:br>
              <a:rPr sz="2000" dirty="0"/>
            </a:br>
            <a:r>
              <a:rPr lang="de-DE" sz="2000" b="0" strike="noStrike" spc="-1" dirty="0">
                <a:solidFill>
                  <a:srgbClr val="000000"/>
                </a:solidFill>
                <a:latin typeface="Arial"/>
              </a:rPr>
              <a:t>																		</a:t>
            </a:r>
            <a:br>
              <a:rPr sz="2000" dirty="0"/>
            </a:br>
            <a:endParaRPr lang="de-DE" sz="2000" b="0" strike="noStrike" spc="-1" dirty="0">
              <a:solidFill>
                <a:srgbClr val="000000"/>
              </a:solidFill>
              <a:latin typeface="Calibri"/>
            </a:endParaRPr>
          </a:p>
        </p:txBody>
      </p:sp>
    </p:spTree>
    <p:extLst>
      <p:ext uri="{BB962C8B-B14F-4D97-AF65-F5344CB8AC3E}">
        <p14:creationId xmlns:p14="http://schemas.microsoft.com/office/powerpoint/2010/main" val="2759001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1126440" y="789120"/>
            <a:ext cx="9427320" cy="1738080"/>
          </a:xfrm>
          <a:prstGeom prst="rect">
            <a:avLst/>
          </a:prstGeom>
          <a:noFill/>
          <a:ln w="0">
            <a:noFill/>
          </a:ln>
        </p:spPr>
        <p:txBody>
          <a:bodyPr numCol="1" spcCol="0" anchor="ctr">
            <a:noAutofit/>
          </a:bodyPr>
          <a:lstStyle/>
          <a:p>
            <a:pPr>
              <a:lnSpc>
                <a:spcPct val="100000"/>
              </a:lnSpc>
              <a:buNone/>
            </a:pPr>
            <a:r>
              <a:rPr lang="de-DE" sz="2800" b="1" u="sng" strike="noStrike" spc="-1">
                <a:solidFill>
                  <a:srgbClr val="000000"/>
                </a:solidFill>
                <a:uFillTx/>
                <a:latin typeface="Arial"/>
              </a:rPr>
              <a:t>Aufgabe 1</a:t>
            </a:r>
            <a:br>
              <a:rPr sz="2800"/>
            </a:br>
            <a:br>
              <a:rPr sz="2000"/>
            </a:br>
            <a:r>
              <a:rPr lang="de-DE" sz="2000" b="0" strike="noStrike" spc="-1">
                <a:solidFill>
                  <a:srgbClr val="000000"/>
                </a:solidFill>
                <a:latin typeface="Arial"/>
              </a:rPr>
              <a:t>Bitte entscheiden Sie durch Tastendruck, ob </a:t>
            </a:r>
            <a:r>
              <a:rPr lang="de-DE" sz="2000" b="1" strike="noStrike" spc="-1">
                <a:solidFill>
                  <a:srgbClr val="000000"/>
                </a:solidFill>
                <a:latin typeface="Arial"/>
              </a:rPr>
              <a:t>Bilder und Worte übereinstimmen</a:t>
            </a:r>
            <a:br>
              <a:rPr sz="2000"/>
            </a:br>
            <a:br>
              <a:rPr sz="2000"/>
            </a:br>
            <a:endParaRPr lang="de-DE" sz="2000" b="0" strike="noStrike" spc="-1">
              <a:solidFill>
                <a:srgbClr val="000000"/>
              </a:solidFill>
              <a:latin typeface="Calibri"/>
            </a:endParaRPr>
          </a:p>
        </p:txBody>
      </p:sp>
      <p:pic>
        <p:nvPicPr>
          <p:cNvPr id="49" name="Grafik 13"/>
          <p:cNvPicPr/>
          <p:nvPr/>
        </p:nvPicPr>
        <p:blipFill>
          <a:blip r:embed="rId3"/>
          <a:stretch/>
        </p:blipFill>
        <p:spPr>
          <a:xfrm>
            <a:off x="1264680" y="2144880"/>
            <a:ext cx="1859400" cy="1303560"/>
          </a:xfrm>
          <a:prstGeom prst="rect">
            <a:avLst/>
          </a:prstGeom>
          <a:ln w="22225">
            <a:solidFill>
              <a:srgbClr val="000000"/>
            </a:solidFill>
            <a:round/>
          </a:ln>
        </p:spPr>
      </p:pic>
      <p:pic>
        <p:nvPicPr>
          <p:cNvPr id="50" name="Grafik 14"/>
          <p:cNvPicPr/>
          <p:nvPr/>
        </p:nvPicPr>
        <p:blipFill>
          <a:blip r:embed="rId3"/>
          <a:stretch/>
        </p:blipFill>
        <p:spPr>
          <a:xfrm>
            <a:off x="4164480" y="2147400"/>
            <a:ext cx="1859400" cy="1303560"/>
          </a:xfrm>
          <a:prstGeom prst="rect">
            <a:avLst/>
          </a:prstGeom>
          <a:ln w="22225">
            <a:solidFill>
              <a:srgbClr val="000000"/>
            </a:solidFill>
            <a:round/>
          </a:ln>
        </p:spPr>
      </p:pic>
      <p:pic>
        <p:nvPicPr>
          <p:cNvPr id="51" name="Grafik 15"/>
          <p:cNvPicPr/>
          <p:nvPr/>
        </p:nvPicPr>
        <p:blipFill>
          <a:blip r:embed="rId4"/>
          <a:stretch/>
        </p:blipFill>
        <p:spPr>
          <a:xfrm flipH="1">
            <a:off x="948960" y="4357800"/>
            <a:ext cx="1002960" cy="995400"/>
          </a:xfrm>
          <a:prstGeom prst="rect">
            <a:avLst/>
          </a:prstGeom>
          <a:ln w="0">
            <a:noFill/>
          </a:ln>
        </p:spPr>
      </p:pic>
      <p:sp>
        <p:nvSpPr>
          <p:cNvPr id="52" name="Textfeld 16"/>
          <p:cNvSpPr/>
          <p:nvPr/>
        </p:nvSpPr>
        <p:spPr>
          <a:xfrm>
            <a:off x="1302480" y="3942720"/>
            <a:ext cx="80964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0" strike="noStrike" spc="-1">
                <a:solidFill>
                  <a:srgbClr val="FFFFFF"/>
                </a:solidFill>
                <a:latin typeface="Calibri"/>
              </a:rPr>
              <a:t>richtig</a:t>
            </a:r>
            <a:endParaRPr lang="en-US" sz="1800" b="0" strike="noStrike" spc="-1">
              <a:latin typeface="Arial"/>
            </a:endParaRPr>
          </a:p>
        </p:txBody>
      </p:sp>
      <p:sp>
        <p:nvSpPr>
          <p:cNvPr id="53" name="Textfeld 17"/>
          <p:cNvSpPr/>
          <p:nvPr/>
        </p:nvSpPr>
        <p:spPr>
          <a:xfrm>
            <a:off x="2262600" y="394272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
        <p:nvSpPr>
          <p:cNvPr id="54" name="Textfeld 18"/>
          <p:cNvSpPr/>
          <p:nvPr/>
        </p:nvSpPr>
        <p:spPr>
          <a:xfrm>
            <a:off x="1496880" y="3448800"/>
            <a:ext cx="1460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2400" b="1" strike="noStrike" spc="-1">
                <a:solidFill>
                  <a:srgbClr val="000000"/>
                </a:solidFill>
                <a:latin typeface="Calibri"/>
              </a:rPr>
              <a:t>Sonne</a:t>
            </a:r>
            <a:endParaRPr lang="en-US" sz="2400" b="0" strike="noStrike" spc="-1">
              <a:latin typeface="Arial"/>
            </a:endParaRPr>
          </a:p>
        </p:txBody>
      </p:sp>
      <p:sp>
        <p:nvSpPr>
          <p:cNvPr id="55" name="Textfeld 19"/>
          <p:cNvSpPr/>
          <p:nvPr/>
        </p:nvSpPr>
        <p:spPr>
          <a:xfrm>
            <a:off x="4364280" y="3448800"/>
            <a:ext cx="1460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2400" b="1" strike="noStrike" spc="-1">
                <a:solidFill>
                  <a:srgbClr val="000000"/>
                </a:solidFill>
                <a:latin typeface="Calibri"/>
              </a:rPr>
              <a:t>Mond</a:t>
            </a:r>
            <a:endParaRPr lang="en-US" sz="2400" b="0" strike="noStrike" spc="-1">
              <a:latin typeface="Arial"/>
            </a:endParaRPr>
          </a:p>
        </p:txBody>
      </p:sp>
      <p:pic>
        <p:nvPicPr>
          <p:cNvPr id="56" name="Grafik 20"/>
          <p:cNvPicPr/>
          <p:nvPr/>
        </p:nvPicPr>
        <p:blipFill>
          <a:blip r:embed="rId4"/>
          <a:stretch/>
        </p:blipFill>
        <p:spPr>
          <a:xfrm>
            <a:off x="5323320" y="4408560"/>
            <a:ext cx="1002960" cy="995400"/>
          </a:xfrm>
          <a:prstGeom prst="rect">
            <a:avLst/>
          </a:prstGeom>
          <a:ln w="0">
            <a:noFill/>
          </a:ln>
        </p:spPr>
      </p:pic>
      <p:sp>
        <p:nvSpPr>
          <p:cNvPr id="57" name="Textfeld 21"/>
          <p:cNvSpPr/>
          <p:nvPr/>
        </p:nvSpPr>
        <p:spPr>
          <a:xfrm>
            <a:off x="4177440" y="394956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58" name="Textfeld 22"/>
          <p:cNvSpPr/>
          <p:nvPr/>
        </p:nvSpPr>
        <p:spPr>
          <a:xfrm>
            <a:off x="5137560" y="3949560"/>
            <a:ext cx="80964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0" strike="noStrike" spc="-1">
                <a:solidFill>
                  <a:srgbClr val="FFFFFF"/>
                </a:solidFill>
                <a:latin typeface="Calibri"/>
              </a:rPr>
              <a:t>falsch</a:t>
            </a:r>
            <a:endParaRPr lang="en-US" sz="1800" b="0" strike="noStrike"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977400" y="17280"/>
            <a:ext cx="9875160" cy="3689280"/>
          </a:xfrm>
          <a:prstGeom prst="rect">
            <a:avLst/>
          </a:prstGeom>
          <a:noFill/>
          <a:ln w="0">
            <a:noFill/>
          </a:ln>
        </p:spPr>
        <p:txBody>
          <a:bodyPr numCol="1" spcCol="0" anchor="ctr">
            <a:noAutofit/>
          </a:bodyPr>
          <a:lstStyle/>
          <a:p>
            <a:pPr>
              <a:lnSpc>
                <a:spcPct val="100000"/>
              </a:lnSpc>
            </a:pPr>
            <a:br>
              <a:rPr sz="2800" dirty="0"/>
            </a:br>
            <a:r>
              <a:rPr lang="en-US" sz="2800" b="1" u="sng" strike="noStrike" spc="-1" dirty="0" err="1">
                <a:solidFill>
                  <a:srgbClr val="000000"/>
                </a:solidFill>
                <a:uFillTx/>
                <a:latin typeface="Arial"/>
              </a:rPr>
              <a:t>Aufgabe</a:t>
            </a:r>
            <a:r>
              <a:rPr lang="en-US" sz="2800" b="1" u="sng" strike="noStrike" spc="-1" dirty="0">
                <a:solidFill>
                  <a:srgbClr val="000000"/>
                </a:solidFill>
                <a:uFillTx/>
                <a:latin typeface="Arial"/>
              </a:rPr>
              <a:t> 2</a:t>
            </a:r>
            <a:br>
              <a:rPr sz="2800" dirty="0"/>
            </a:br>
            <a:br>
              <a:rPr sz="2000" dirty="0"/>
            </a:br>
            <a:r>
              <a:rPr lang="en-US" sz="2000" b="0" strike="noStrike" spc="-1" dirty="0" err="1">
                <a:solidFill>
                  <a:srgbClr val="000000"/>
                </a:solidFill>
                <a:latin typeface="Arial"/>
              </a:rPr>
              <a:t>Ihnen</a:t>
            </a:r>
            <a:r>
              <a:rPr lang="en-US" sz="2000" b="0" strike="noStrike" spc="-1" dirty="0">
                <a:solidFill>
                  <a:srgbClr val="000000"/>
                </a:solidFill>
                <a:latin typeface="Arial"/>
              </a:rPr>
              <a:t> </a:t>
            </a:r>
            <a:r>
              <a:rPr lang="en-US" sz="2000" b="0" strike="noStrike" spc="-1" dirty="0" err="1">
                <a:solidFill>
                  <a:srgbClr val="000000"/>
                </a:solidFill>
                <a:latin typeface="Arial"/>
              </a:rPr>
              <a:t>werden</a:t>
            </a:r>
            <a:r>
              <a:rPr lang="en-US" sz="2000" b="0" strike="noStrike" spc="-1" dirty="0">
                <a:solidFill>
                  <a:srgbClr val="000000"/>
                </a:solidFill>
                <a:latin typeface="Arial"/>
              </a:rPr>
              <a:t> </a:t>
            </a:r>
            <a:r>
              <a:rPr lang="en-US" sz="2000" b="0" strike="noStrike" spc="-1" dirty="0" err="1">
                <a:solidFill>
                  <a:srgbClr val="000000"/>
                </a:solidFill>
                <a:latin typeface="Arial"/>
              </a:rPr>
              <a:t>Paare</a:t>
            </a:r>
            <a:r>
              <a:rPr lang="en-US" sz="2000" b="1" strike="noStrike" spc="-1" dirty="0">
                <a:solidFill>
                  <a:srgbClr val="000000"/>
                </a:solidFill>
                <a:latin typeface="Arial"/>
              </a:rPr>
              <a:t> </a:t>
            </a:r>
            <a:r>
              <a:rPr lang="en-US" sz="2000" b="0" strike="noStrike" spc="-1" dirty="0">
                <a:solidFill>
                  <a:srgbClr val="000000"/>
                </a:solidFill>
                <a:latin typeface="Arial"/>
              </a:rPr>
              <a:t>von</a:t>
            </a:r>
            <a:r>
              <a:rPr lang="en-US" sz="2000" b="1" strike="noStrike" spc="-1" dirty="0">
                <a:solidFill>
                  <a:srgbClr val="000000"/>
                </a:solidFill>
                <a:latin typeface="Arial"/>
              </a:rPr>
              <a:t> </a:t>
            </a:r>
            <a:r>
              <a:rPr lang="en-US" sz="2000" b="1" strike="noStrike" spc="-1" dirty="0" err="1">
                <a:solidFill>
                  <a:srgbClr val="000000"/>
                </a:solidFill>
                <a:latin typeface="Arial"/>
              </a:rPr>
              <a:t>Bilder</a:t>
            </a:r>
            <a:r>
              <a:rPr lang="en-US" sz="2000" b="1" strike="noStrike" spc="-1" dirty="0">
                <a:solidFill>
                  <a:srgbClr val="000000"/>
                </a:solidFill>
                <a:latin typeface="Arial"/>
              </a:rPr>
              <a:t> </a:t>
            </a:r>
            <a:r>
              <a:rPr lang="en-US" sz="2000" b="0" strike="noStrike" spc="-1" dirty="0">
                <a:solidFill>
                  <a:srgbClr val="000000"/>
                </a:solidFill>
                <a:latin typeface="Arial"/>
              </a:rPr>
              <a:t>und </a:t>
            </a:r>
            <a:r>
              <a:rPr lang="en-US" sz="2000" b="1" strike="noStrike" spc="-1" dirty="0" err="1">
                <a:solidFill>
                  <a:srgbClr val="000000"/>
                </a:solidFill>
                <a:latin typeface="Arial"/>
              </a:rPr>
              <a:t>Pseudowörtern</a:t>
            </a:r>
            <a:r>
              <a:rPr lang="en-US" sz="2000" b="1" strike="noStrike" spc="-1" dirty="0">
                <a:solidFill>
                  <a:srgbClr val="000000"/>
                </a:solidFill>
                <a:latin typeface="Arial"/>
              </a:rPr>
              <a:t> </a:t>
            </a:r>
            <a:r>
              <a:rPr lang="en-US" sz="2000" b="0" strike="noStrike" spc="-1" dirty="0" err="1">
                <a:solidFill>
                  <a:srgbClr val="000000"/>
                </a:solidFill>
                <a:latin typeface="Arial"/>
              </a:rPr>
              <a:t>präsentiert</a:t>
            </a:r>
            <a:r>
              <a:rPr lang="en-US" sz="2000" b="0" strike="noStrike" spc="-1" dirty="0">
                <a:solidFill>
                  <a:srgbClr val="000000"/>
                </a:solidFill>
                <a:latin typeface="Arial"/>
              </a:rPr>
              <a:t> </a:t>
            </a:r>
            <a:br>
              <a:rPr sz="2000" dirty="0"/>
            </a:br>
            <a:r>
              <a:rPr lang="en-US" sz="2000" b="0" strike="noStrike" spc="-1" dirty="0" err="1">
                <a:solidFill>
                  <a:srgbClr val="000000"/>
                </a:solidFill>
                <a:latin typeface="Arial"/>
              </a:rPr>
              <a:t>Diese</a:t>
            </a:r>
            <a:r>
              <a:rPr lang="en-US" sz="2000" b="0" strike="noStrike" spc="-1" dirty="0">
                <a:solidFill>
                  <a:srgbClr val="000000"/>
                </a:solidFill>
                <a:latin typeface="Arial"/>
              </a:rPr>
              <a:t> </a:t>
            </a:r>
            <a:r>
              <a:rPr lang="en-US" sz="2000" b="0" strike="noStrike" spc="-1" dirty="0" err="1">
                <a:solidFill>
                  <a:srgbClr val="000000"/>
                </a:solidFill>
                <a:latin typeface="Arial"/>
              </a:rPr>
              <a:t>Paare</a:t>
            </a:r>
            <a:r>
              <a:rPr lang="en-US" sz="2000" b="0" strike="noStrike" spc="-1" dirty="0">
                <a:solidFill>
                  <a:srgbClr val="000000"/>
                </a:solidFill>
                <a:latin typeface="Arial"/>
              </a:rPr>
              <a:t> </a:t>
            </a:r>
            <a:r>
              <a:rPr lang="en-US" sz="2000" b="0" strike="noStrike" spc="-1" dirty="0" err="1">
                <a:solidFill>
                  <a:srgbClr val="000000"/>
                </a:solidFill>
                <a:latin typeface="Arial"/>
              </a:rPr>
              <a:t>können</a:t>
            </a:r>
            <a:r>
              <a:rPr lang="en-US" sz="2000" b="0" strike="noStrike" spc="-1" dirty="0">
                <a:solidFill>
                  <a:srgbClr val="000000"/>
                </a:solidFill>
                <a:latin typeface="Arial"/>
              </a:rPr>
              <a:t> </a:t>
            </a:r>
            <a:r>
              <a:rPr lang="en-US" sz="2000" b="0" strike="noStrike" spc="-1" dirty="0" err="1">
                <a:solidFill>
                  <a:srgbClr val="000000"/>
                </a:solidFill>
                <a:latin typeface="Arial"/>
              </a:rPr>
              <a:t>entweder</a:t>
            </a:r>
            <a:r>
              <a:rPr lang="en-US" sz="2000" b="0" strike="noStrike" spc="-1" dirty="0">
                <a:solidFill>
                  <a:srgbClr val="000000"/>
                </a:solidFill>
                <a:latin typeface="Arial"/>
              </a:rPr>
              <a:t> </a:t>
            </a:r>
            <a:r>
              <a:rPr lang="en-US" sz="2000" b="1" strike="noStrike" spc="-1" dirty="0" err="1">
                <a:solidFill>
                  <a:srgbClr val="000000"/>
                </a:solidFill>
                <a:latin typeface="Arial"/>
              </a:rPr>
              <a:t>richtig</a:t>
            </a:r>
            <a:r>
              <a:rPr lang="en-US" sz="2000" b="1" strike="noStrike" spc="-1" dirty="0">
                <a:solidFill>
                  <a:srgbClr val="000000"/>
                </a:solidFill>
                <a:latin typeface="Arial"/>
              </a:rPr>
              <a:t> </a:t>
            </a:r>
            <a:r>
              <a:rPr lang="en-US" sz="2000" b="1" strike="noStrike" spc="-1" dirty="0" err="1">
                <a:solidFill>
                  <a:srgbClr val="000000"/>
                </a:solidFill>
                <a:latin typeface="Arial"/>
              </a:rPr>
              <a:t>oder</a:t>
            </a:r>
            <a:r>
              <a:rPr lang="en-US" sz="2000" b="1" strike="noStrike" spc="-1" dirty="0">
                <a:solidFill>
                  <a:srgbClr val="000000"/>
                </a:solidFill>
                <a:latin typeface="Arial"/>
              </a:rPr>
              <a:t> </a:t>
            </a:r>
            <a:r>
              <a:rPr lang="en-US" sz="2000" b="1" strike="noStrike" spc="-1" dirty="0" err="1">
                <a:solidFill>
                  <a:srgbClr val="000000"/>
                </a:solidFill>
                <a:latin typeface="Arial"/>
              </a:rPr>
              <a:t>falsch</a:t>
            </a:r>
            <a:r>
              <a:rPr lang="en-US" sz="2000" b="1" strike="noStrike" spc="-1" dirty="0">
                <a:solidFill>
                  <a:srgbClr val="000000"/>
                </a:solidFill>
                <a:latin typeface="Arial"/>
              </a:rPr>
              <a:t> </a:t>
            </a:r>
            <a:r>
              <a:rPr lang="en-US" sz="2000" b="0" strike="noStrike" spc="-1" dirty="0">
                <a:solidFill>
                  <a:srgbClr val="000000"/>
                </a:solidFill>
                <a:latin typeface="Arial"/>
              </a:rPr>
              <a:t>sein</a:t>
            </a:r>
            <a:br>
              <a:rPr sz="2000" dirty="0"/>
            </a:br>
            <a:br>
              <a:rPr sz="2000" dirty="0"/>
            </a:br>
            <a:r>
              <a:rPr lang="en-US" sz="2000" b="0" strike="noStrike" spc="-1" dirty="0" err="1">
                <a:solidFill>
                  <a:srgbClr val="000000"/>
                </a:solidFill>
                <a:latin typeface="Arial"/>
              </a:rPr>
              <a:t>Ihre</a:t>
            </a:r>
            <a:r>
              <a:rPr lang="en-US" sz="2000" b="0" strike="noStrike" spc="-1" dirty="0">
                <a:solidFill>
                  <a:srgbClr val="000000"/>
                </a:solidFill>
                <a:latin typeface="Arial"/>
              </a:rPr>
              <a:t> </a:t>
            </a:r>
            <a:r>
              <a:rPr lang="en-US" sz="2000" b="0" strike="noStrike" spc="-1" dirty="0" err="1">
                <a:solidFill>
                  <a:srgbClr val="000000"/>
                </a:solidFill>
                <a:latin typeface="Arial"/>
              </a:rPr>
              <a:t>Aufgabe</a:t>
            </a:r>
            <a:r>
              <a:rPr lang="en-US" sz="2000" b="0" strike="noStrike" spc="-1" dirty="0">
                <a:solidFill>
                  <a:srgbClr val="000000"/>
                </a:solidFill>
                <a:latin typeface="Arial"/>
              </a:rPr>
              <a:t> </a:t>
            </a:r>
            <a:r>
              <a:rPr lang="en-US" sz="2000" b="0" strike="noStrike" spc="-1" dirty="0" err="1">
                <a:solidFill>
                  <a:srgbClr val="000000"/>
                </a:solidFill>
                <a:latin typeface="Arial"/>
              </a:rPr>
              <a:t>besteht</a:t>
            </a:r>
            <a:r>
              <a:rPr lang="en-US" sz="2000" b="0" strike="noStrike" spc="-1" dirty="0">
                <a:solidFill>
                  <a:srgbClr val="000000"/>
                </a:solidFill>
                <a:latin typeface="Arial"/>
              </a:rPr>
              <a:t> </a:t>
            </a:r>
            <a:r>
              <a:rPr lang="en-US" sz="2000" b="0" strike="noStrike" spc="-1" dirty="0" err="1">
                <a:solidFill>
                  <a:srgbClr val="000000"/>
                </a:solidFill>
                <a:latin typeface="Arial"/>
              </a:rPr>
              <a:t>darin</a:t>
            </a:r>
            <a:r>
              <a:rPr lang="en-US" sz="2000" b="0" strike="noStrike" spc="-1" dirty="0">
                <a:solidFill>
                  <a:srgbClr val="000000"/>
                </a:solidFill>
                <a:latin typeface="Arial"/>
              </a:rPr>
              <a:t> </a:t>
            </a:r>
            <a:r>
              <a:rPr lang="en-US" sz="2000" b="0" strike="noStrike" spc="-1" dirty="0" err="1">
                <a:solidFill>
                  <a:srgbClr val="000000"/>
                </a:solidFill>
                <a:latin typeface="Arial"/>
              </a:rPr>
              <a:t>zu</a:t>
            </a:r>
            <a:r>
              <a:rPr lang="en-US" sz="2000" b="0" strike="noStrike" spc="-1" dirty="0">
                <a:solidFill>
                  <a:srgbClr val="000000"/>
                </a:solidFill>
                <a:latin typeface="Arial"/>
              </a:rPr>
              <a:t> </a:t>
            </a:r>
            <a:r>
              <a:rPr lang="en-US" sz="2000" b="1" strike="noStrike" spc="-1" dirty="0" err="1">
                <a:solidFill>
                  <a:srgbClr val="000000"/>
                </a:solidFill>
                <a:latin typeface="Arial"/>
              </a:rPr>
              <a:t>lernen</a:t>
            </a:r>
            <a:r>
              <a:rPr lang="en-US" sz="2000" b="1" strike="noStrike" spc="-1" dirty="0">
                <a:solidFill>
                  <a:srgbClr val="000000"/>
                </a:solidFill>
                <a:latin typeface="Arial"/>
              </a:rPr>
              <a:t>, </a:t>
            </a:r>
            <a:r>
              <a:rPr lang="en-US" sz="2000" b="0" strike="noStrike" spc="-1" dirty="0" err="1">
                <a:solidFill>
                  <a:srgbClr val="000000"/>
                </a:solidFill>
                <a:latin typeface="Arial"/>
              </a:rPr>
              <a:t>welche</a:t>
            </a:r>
            <a:r>
              <a:rPr lang="en-US" sz="2000" b="0" strike="noStrike" spc="-1" dirty="0">
                <a:solidFill>
                  <a:srgbClr val="000000"/>
                </a:solidFill>
                <a:latin typeface="Arial"/>
              </a:rPr>
              <a:t> </a:t>
            </a:r>
            <a:r>
              <a:rPr lang="en-US" sz="2000" b="0" strike="noStrike" spc="-1" dirty="0" err="1">
                <a:solidFill>
                  <a:srgbClr val="000000"/>
                </a:solidFill>
                <a:latin typeface="Arial"/>
              </a:rPr>
              <a:t>Paare</a:t>
            </a:r>
            <a:r>
              <a:rPr lang="en-US" sz="2000" b="0" strike="noStrike" spc="-1" dirty="0">
                <a:solidFill>
                  <a:srgbClr val="000000"/>
                </a:solidFill>
                <a:latin typeface="Arial"/>
              </a:rPr>
              <a:t> </a:t>
            </a:r>
            <a:r>
              <a:rPr lang="en-US" sz="2000" b="1" strike="noStrike" spc="-1" dirty="0" err="1">
                <a:solidFill>
                  <a:srgbClr val="000000"/>
                </a:solidFill>
                <a:latin typeface="Arial"/>
              </a:rPr>
              <a:t>richtig</a:t>
            </a:r>
            <a:r>
              <a:rPr lang="en-US" sz="2000" b="1" strike="noStrike" spc="-1" dirty="0">
                <a:solidFill>
                  <a:srgbClr val="000000"/>
                </a:solidFill>
                <a:latin typeface="Arial"/>
              </a:rPr>
              <a:t> </a:t>
            </a:r>
            <a:r>
              <a:rPr lang="en-US" sz="2000" b="0" strike="noStrike" spc="-1" dirty="0" err="1">
                <a:solidFill>
                  <a:srgbClr val="000000"/>
                </a:solidFill>
                <a:latin typeface="Arial"/>
              </a:rPr>
              <a:t>sind</a:t>
            </a:r>
            <a:br>
              <a:rPr lang="en-US" sz="2000" b="0" strike="noStrike" spc="-1" dirty="0">
                <a:solidFill>
                  <a:srgbClr val="000000"/>
                </a:solidFill>
                <a:latin typeface="Arial"/>
              </a:rPr>
            </a:br>
            <a:br>
              <a:rPr lang="en-US" sz="2000" spc="-1" dirty="0">
                <a:solidFill>
                  <a:srgbClr val="000000"/>
                </a:solidFill>
                <a:latin typeface="Arial"/>
              </a:rPr>
            </a:br>
            <a:r>
              <a:rPr lang="en-US" sz="2000" b="1" strike="noStrike" spc="-1" dirty="0" err="1">
                <a:solidFill>
                  <a:srgbClr val="000000"/>
                </a:solidFill>
                <a:latin typeface="Arial"/>
              </a:rPr>
              <a:t>Wichtig</a:t>
            </a:r>
            <a:r>
              <a:rPr lang="en-US" sz="2000" b="1" strike="noStrike" spc="-1" dirty="0">
                <a:solidFill>
                  <a:srgbClr val="000000"/>
                </a:solidFill>
                <a:latin typeface="Arial"/>
              </a:rPr>
              <a:t>:</a:t>
            </a:r>
            <a:r>
              <a:rPr lang="en-US" sz="2000" b="0" strike="noStrike" spc="-1" dirty="0">
                <a:solidFill>
                  <a:srgbClr val="000000"/>
                </a:solidFill>
                <a:latin typeface="Arial"/>
              </a:rPr>
              <a:t> </a:t>
            </a:r>
            <a:r>
              <a:rPr lang="en-US" sz="2000" b="0" strike="noStrike" spc="-1" dirty="0" err="1">
                <a:solidFill>
                  <a:srgbClr val="000000"/>
                </a:solidFill>
                <a:latin typeface="Arial"/>
              </a:rPr>
              <a:t>Es</a:t>
            </a:r>
            <a:r>
              <a:rPr lang="en-US" sz="2000" b="0" strike="noStrike" spc="-1" dirty="0">
                <a:solidFill>
                  <a:srgbClr val="000000"/>
                </a:solidFill>
                <a:latin typeface="Arial"/>
              </a:rPr>
              <a:t> </a:t>
            </a:r>
            <a:r>
              <a:rPr lang="en-US" sz="2000" b="0" strike="noStrike" spc="-1" dirty="0" err="1">
                <a:solidFill>
                  <a:srgbClr val="000000"/>
                </a:solidFill>
                <a:latin typeface="Arial"/>
              </a:rPr>
              <a:t>gibt</a:t>
            </a:r>
            <a:r>
              <a:rPr lang="en-US" sz="2000" b="0" strike="noStrike" spc="-1" dirty="0">
                <a:solidFill>
                  <a:srgbClr val="000000"/>
                </a:solidFill>
                <a:latin typeface="Arial"/>
              </a:rPr>
              <a:t> </a:t>
            </a:r>
            <a:r>
              <a:rPr lang="en-US" sz="2000" b="0" strike="noStrike" spc="-1" dirty="0" err="1">
                <a:solidFill>
                  <a:srgbClr val="000000"/>
                </a:solidFill>
                <a:latin typeface="Arial"/>
              </a:rPr>
              <a:t>jeweils</a:t>
            </a:r>
            <a:r>
              <a:rPr lang="en-US" sz="2000" b="0" strike="noStrike" spc="-1" dirty="0">
                <a:solidFill>
                  <a:srgbClr val="000000"/>
                </a:solidFill>
                <a:latin typeface="Arial"/>
              </a:rPr>
              <a:t> </a:t>
            </a:r>
            <a:r>
              <a:rPr lang="en-US" sz="2000" b="0" strike="noStrike" spc="-1" dirty="0" err="1">
                <a:solidFill>
                  <a:srgbClr val="000000"/>
                </a:solidFill>
                <a:latin typeface="Arial"/>
              </a:rPr>
              <a:t>nur</a:t>
            </a:r>
            <a:r>
              <a:rPr lang="en-US" sz="2000" b="0" strike="noStrike" spc="-1" dirty="0">
                <a:solidFill>
                  <a:srgbClr val="000000"/>
                </a:solidFill>
                <a:latin typeface="Arial"/>
              </a:rPr>
              <a:t> </a:t>
            </a:r>
            <a:r>
              <a:rPr lang="en-US" sz="2000" b="0" strike="noStrike" spc="-1" dirty="0" err="1">
                <a:solidFill>
                  <a:srgbClr val="000000"/>
                </a:solidFill>
                <a:latin typeface="Arial"/>
              </a:rPr>
              <a:t>eine</a:t>
            </a:r>
            <a:r>
              <a:rPr lang="en-US" sz="2000" b="0" strike="noStrike" spc="-1" dirty="0">
                <a:solidFill>
                  <a:srgbClr val="000000"/>
                </a:solidFill>
                <a:latin typeface="Arial"/>
              </a:rPr>
              <a:t> </a:t>
            </a:r>
            <a:r>
              <a:rPr lang="en-US" sz="2000" b="0" strike="noStrike" spc="-1" dirty="0" err="1">
                <a:solidFill>
                  <a:srgbClr val="000000"/>
                </a:solidFill>
                <a:latin typeface="Arial"/>
              </a:rPr>
              <a:t>richtige</a:t>
            </a:r>
            <a:r>
              <a:rPr lang="en-US" sz="2000" b="0" strike="noStrike" spc="-1" dirty="0">
                <a:solidFill>
                  <a:srgbClr val="000000"/>
                </a:solidFill>
                <a:latin typeface="Arial"/>
              </a:rPr>
              <a:t> </a:t>
            </a:r>
            <a:r>
              <a:rPr lang="en-US" sz="2000" b="0" strike="noStrike" spc="-1" dirty="0" err="1">
                <a:solidFill>
                  <a:srgbClr val="000000"/>
                </a:solidFill>
                <a:latin typeface="Arial"/>
              </a:rPr>
              <a:t>Paarung</a:t>
            </a:r>
            <a:r>
              <a:rPr lang="en-US" sz="2000" b="0" strike="noStrike" spc="-1" dirty="0">
                <a:solidFill>
                  <a:srgbClr val="000000"/>
                </a:solidFill>
                <a:latin typeface="Arial"/>
              </a:rPr>
              <a:t> </a:t>
            </a:r>
            <a:r>
              <a:rPr lang="en-US" sz="2000" b="0" strike="noStrike" spc="-1" dirty="0" err="1">
                <a:solidFill>
                  <a:srgbClr val="000000"/>
                </a:solidFill>
                <a:latin typeface="Arial"/>
              </a:rPr>
              <a:t>zwischen</a:t>
            </a:r>
            <a:r>
              <a:rPr lang="en-US" sz="2000" b="0" strike="noStrike" spc="-1" dirty="0">
                <a:solidFill>
                  <a:srgbClr val="000000"/>
                </a:solidFill>
                <a:latin typeface="Arial"/>
              </a:rPr>
              <a:t> </a:t>
            </a:r>
            <a:r>
              <a:rPr lang="en-US" sz="2000" b="0" strike="noStrike" spc="-1" dirty="0" err="1">
                <a:solidFill>
                  <a:srgbClr val="000000"/>
                </a:solidFill>
                <a:latin typeface="Arial"/>
              </a:rPr>
              <a:t>Bild</a:t>
            </a:r>
            <a:r>
              <a:rPr lang="en-US" sz="2000" b="0" strike="noStrike" spc="-1" dirty="0">
                <a:solidFill>
                  <a:srgbClr val="000000"/>
                </a:solidFill>
                <a:latin typeface="Arial"/>
              </a:rPr>
              <a:t> und </a:t>
            </a:r>
            <a:r>
              <a:rPr lang="en-US" sz="2000" b="0" strike="noStrike" spc="-1" dirty="0" err="1">
                <a:solidFill>
                  <a:srgbClr val="000000"/>
                </a:solidFill>
                <a:latin typeface="Arial"/>
              </a:rPr>
              <a:t>Pseudowort</a:t>
            </a:r>
            <a:br>
              <a:rPr sz="2000" dirty="0"/>
            </a:br>
            <a:br>
              <a:rPr sz="2000" dirty="0"/>
            </a:br>
            <a:endParaRPr lang="de-DE" sz="2000" b="0" strike="noStrike" spc="-1" dirty="0">
              <a:solidFill>
                <a:srgbClr val="000000"/>
              </a:solidFill>
              <a:latin typeface="Calibri"/>
            </a:endParaRPr>
          </a:p>
        </p:txBody>
      </p:sp>
      <p:pic>
        <p:nvPicPr>
          <p:cNvPr id="60" name="Grafik 11"/>
          <p:cNvPicPr/>
          <p:nvPr/>
        </p:nvPicPr>
        <p:blipFill>
          <a:blip r:embed="rId3"/>
          <a:stretch/>
        </p:blipFill>
        <p:spPr>
          <a:xfrm>
            <a:off x="1068840" y="3706560"/>
            <a:ext cx="1859400" cy="1303560"/>
          </a:xfrm>
          <a:prstGeom prst="rect">
            <a:avLst/>
          </a:prstGeom>
          <a:ln w="22225">
            <a:solidFill>
              <a:srgbClr val="000000"/>
            </a:solidFill>
            <a:round/>
          </a:ln>
        </p:spPr>
      </p:pic>
      <p:pic>
        <p:nvPicPr>
          <p:cNvPr id="61" name="Grafik 12"/>
          <p:cNvPicPr/>
          <p:nvPr/>
        </p:nvPicPr>
        <p:blipFill>
          <a:blip r:embed="rId3"/>
          <a:stretch/>
        </p:blipFill>
        <p:spPr>
          <a:xfrm>
            <a:off x="3968640" y="3706560"/>
            <a:ext cx="1859400" cy="1303560"/>
          </a:xfrm>
          <a:prstGeom prst="rect">
            <a:avLst/>
          </a:prstGeom>
          <a:ln w="22225">
            <a:solidFill>
              <a:srgbClr val="000000"/>
            </a:solidFill>
            <a:round/>
          </a:ln>
        </p:spPr>
      </p:pic>
      <p:sp>
        <p:nvSpPr>
          <p:cNvPr id="62" name="Textfeld 13"/>
          <p:cNvSpPr/>
          <p:nvPr/>
        </p:nvSpPr>
        <p:spPr>
          <a:xfrm>
            <a:off x="1068840" y="5450040"/>
            <a:ext cx="809640" cy="363960"/>
          </a:xfrm>
          <a:prstGeom prst="rect">
            <a:avLst/>
          </a:prstGeom>
          <a:solidFill>
            <a:srgbClr val="5B9BD5"/>
          </a:solidFill>
          <a:ln>
            <a:solidFill>
              <a:srgbClr val="FF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0" strike="noStrike" spc="-1" dirty="0">
                <a:solidFill>
                  <a:srgbClr val="FFFFFF"/>
                </a:solidFill>
                <a:latin typeface="Calibri"/>
              </a:rPr>
              <a:t>richtig</a:t>
            </a:r>
            <a:endParaRPr lang="en-US" sz="1800" b="0" strike="noStrike" spc="-1" dirty="0">
              <a:latin typeface="Arial"/>
            </a:endParaRPr>
          </a:p>
        </p:txBody>
      </p:sp>
      <p:sp>
        <p:nvSpPr>
          <p:cNvPr id="63" name="Textfeld 14"/>
          <p:cNvSpPr/>
          <p:nvPr/>
        </p:nvSpPr>
        <p:spPr>
          <a:xfrm>
            <a:off x="2028960" y="545004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
        <p:nvSpPr>
          <p:cNvPr id="64" name="Textfeld 15"/>
          <p:cNvSpPr/>
          <p:nvPr/>
        </p:nvSpPr>
        <p:spPr>
          <a:xfrm>
            <a:off x="1268460" y="4988575"/>
            <a:ext cx="1460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2400" b="1" strike="noStrike" spc="-1" dirty="0" err="1">
                <a:solidFill>
                  <a:srgbClr val="000000"/>
                </a:solidFill>
                <a:latin typeface="Calibri"/>
              </a:rPr>
              <a:t>Gesor</a:t>
            </a:r>
            <a:endParaRPr lang="en-US" sz="2400" b="0" strike="noStrike" spc="-1" dirty="0">
              <a:latin typeface="Arial"/>
            </a:endParaRPr>
          </a:p>
        </p:txBody>
      </p:sp>
      <p:sp>
        <p:nvSpPr>
          <p:cNvPr id="65" name="Textfeld 16"/>
          <p:cNvSpPr/>
          <p:nvPr/>
        </p:nvSpPr>
        <p:spPr>
          <a:xfrm>
            <a:off x="4168260" y="4988575"/>
            <a:ext cx="1460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2400" b="1" strike="noStrike" spc="-1" dirty="0" err="1">
                <a:solidFill>
                  <a:srgbClr val="000000"/>
                </a:solidFill>
                <a:latin typeface="Calibri"/>
              </a:rPr>
              <a:t>Kulat</a:t>
            </a:r>
            <a:endParaRPr lang="en-US" sz="2400" b="0" strike="noStrike" spc="-1" dirty="0">
              <a:latin typeface="Arial"/>
            </a:endParaRPr>
          </a:p>
        </p:txBody>
      </p:sp>
      <p:sp>
        <p:nvSpPr>
          <p:cNvPr id="66" name="Textfeld 17"/>
          <p:cNvSpPr/>
          <p:nvPr/>
        </p:nvSpPr>
        <p:spPr>
          <a:xfrm>
            <a:off x="3968640" y="545004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dirty="0">
                <a:solidFill>
                  <a:srgbClr val="000000"/>
                </a:solidFill>
                <a:latin typeface="Calibri"/>
              </a:rPr>
              <a:t>richtig</a:t>
            </a:r>
            <a:endParaRPr lang="en-US" sz="1800" b="0" strike="noStrike" spc="-1" dirty="0">
              <a:latin typeface="Arial"/>
            </a:endParaRPr>
          </a:p>
        </p:txBody>
      </p:sp>
      <p:sp>
        <p:nvSpPr>
          <p:cNvPr id="67" name="Textfeld 18"/>
          <p:cNvSpPr/>
          <p:nvPr/>
        </p:nvSpPr>
        <p:spPr>
          <a:xfrm>
            <a:off x="5018400" y="5450040"/>
            <a:ext cx="809640" cy="363960"/>
          </a:xfrm>
          <a:prstGeom prst="rect">
            <a:avLst/>
          </a:prstGeom>
          <a:solidFill>
            <a:srgbClr val="5B9BD5"/>
          </a:solidFill>
          <a:ln>
            <a:solidFill>
              <a:srgbClr val="FF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0" strike="noStrike" spc="-1">
                <a:solidFill>
                  <a:srgbClr val="FFFFFF"/>
                </a:solidFill>
                <a:latin typeface="Calibri"/>
              </a:rPr>
              <a:t>falsch</a:t>
            </a:r>
            <a:endParaRPr lang="en-US" sz="1800" b="0" strike="noStrike" spc="-1">
              <a:latin typeface="Arial"/>
            </a:endParaRPr>
          </a:p>
        </p:txBody>
      </p:sp>
    </p:spTree>
  </p:cSld>
  <p:clrMapOvr>
    <a:masterClrMapping/>
  </p:clrMapOvr>
  <p:extLst mod="1">
    <p:ext uri="{6950BFC3-D8DA-4A85-94F7-54DA5524770B}">
      <p188:commentRel xmlns="" xmlns:p188="http://schemas.microsoft.com/office/powerpoint/2018/8/main" r:id="rId4"/>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1032120" y="1276560"/>
            <a:ext cx="9875160" cy="2164680"/>
          </a:xfrm>
          <a:prstGeom prst="rect">
            <a:avLst/>
          </a:prstGeom>
          <a:solidFill>
            <a:schemeClr val="bg1"/>
          </a:solidFill>
          <a:ln w="0">
            <a:solidFill>
              <a:schemeClr val="bg1"/>
            </a:solidFill>
          </a:ln>
        </p:spPr>
        <p:txBody>
          <a:bodyPr numCol="1" spcCol="0" anchor="ctr">
            <a:noAutofit/>
          </a:bodyPr>
          <a:lstStyle/>
          <a:p>
            <a:pPr>
              <a:lnSpc>
                <a:spcPct val="100000"/>
              </a:lnSpc>
            </a:pPr>
            <a:br>
              <a:rPr sz="2800" dirty="0"/>
            </a:br>
            <a:r>
              <a:rPr lang="en-US" sz="2800" b="1" u="sng" strike="noStrike" spc="-1" dirty="0" err="1">
                <a:solidFill>
                  <a:srgbClr val="000000"/>
                </a:solidFill>
                <a:uFillTx/>
                <a:latin typeface="Arial"/>
              </a:rPr>
              <a:t>Ablauf</a:t>
            </a:r>
            <a:r>
              <a:rPr lang="en-US" sz="2800" b="1" u="sng" strike="noStrike" spc="-1" dirty="0">
                <a:solidFill>
                  <a:srgbClr val="000000"/>
                </a:solidFill>
                <a:uFillTx/>
                <a:latin typeface="Arial"/>
              </a:rPr>
              <a:t> der </a:t>
            </a:r>
            <a:r>
              <a:rPr lang="en-US" sz="2800" b="1" u="sng" strike="noStrike" spc="-1" dirty="0" err="1">
                <a:solidFill>
                  <a:srgbClr val="000000"/>
                </a:solidFill>
                <a:uFillTx/>
                <a:latin typeface="Arial"/>
              </a:rPr>
              <a:t>Aufgaben</a:t>
            </a:r>
            <a:br>
              <a:rPr sz="2800" dirty="0"/>
            </a:br>
            <a:br>
              <a:rPr sz="2000" dirty="0"/>
            </a:br>
            <a:r>
              <a:rPr lang="de-DE" sz="2000" dirty="0">
                <a:latin typeface="+mn-lt"/>
              </a:rPr>
              <a:t>Der generelle Ablauf der beiden Aufgaben ist identisch und wird auf den nächsten Folien anhand der beiden Aufgaben illustriert.</a:t>
            </a:r>
            <a:br>
              <a:rPr lang="de-DE" sz="2000" dirty="0">
                <a:latin typeface="+mn-lt"/>
              </a:rPr>
            </a:br>
            <a:br>
              <a:rPr lang="de-DE" sz="2000" dirty="0">
                <a:latin typeface="+mn-lt"/>
              </a:rPr>
            </a:br>
            <a:r>
              <a:rPr lang="de-DE" sz="2000" dirty="0">
                <a:latin typeface="+mn-lt"/>
              </a:rPr>
              <a:t>Zunächst wird Aufgabe 2 beschrieben (Lernaufgabe).</a:t>
            </a:r>
            <a:br>
              <a:rPr lang="en-US" dirty="0"/>
            </a:br>
            <a:br>
              <a:rPr sz="2000" dirty="0"/>
            </a:br>
            <a:endParaRPr lang="de-DE" sz="2000" b="0" strike="noStrike" spc="-1" dirty="0">
              <a:solidFill>
                <a:srgbClr val="0000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1431720" y="434520"/>
            <a:ext cx="9370800" cy="1616400"/>
          </a:xfrm>
          <a:prstGeom prst="rect">
            <a:avLst/>
          </a:prstGeom>
          <a:noFill/>
          <a:ln w="0">
            <a:noFill/>
          </a:ln>
        </p:spPr>
        <p:txBody>
          <a:bodyPr numCol="1" spcCol="0" anchor="ctr">
            <a:noAutofit/>
          </a:bodyPr>
          <a:lstStyle/>
          <a:p>
            <a:pPr algn="ctr">
              <a:lnSpc>
                <a:spcPct val="100000"/>
              </a:lnSpc>
            </a:pPr>
            <a:r>
              <a:rPr lang="de-DE" sz="2000" dirty="0">
                <a:latin typeface="+mn-lt"/>
              </a:rPr>
              <a:t>Während der </a:t>
            </a:r>
            <a:r>
              <a:rPr lang="de-DE" sz="2000" b="1" dirty="0">
                <a:latin typeface="+mn-lt"/>
              </a:rPr>
              <a:t>Lernaufgabe</a:t>
            </a:r>
            <a:r>
              <a:rPr lang="de-DE" sz="2000" dirty="0">
                <a:latin typeface="+mn-lt"/>
              </a:rPr>
              <a:t>, </a:t>
            </a:r>
            <a:r>
              <a:rPr lang="en-US" sz="2000" b="0" strike="noStrike" spc="-1" dirty="0" err="1">
                <a:solidFill>
                  <a:srgbClr val="000000"/>
                </a:solidFill>
                <a:latin typeface="+mn-lt"/>
              </a:rPr>
              <a:t>erscheinen</a:t>
            </a:r>
            <a:r>
              <a:rPr lang="en-US" sz="2000" b="0" strike="noStrike" spc="-1" dirty="0">
                <a:solidFill>
                  <a:srgbClr val="000000"/>
                </a:solidFill>
                <a:latin typeface="+mn-lt"/>
              </a:rPr>
              <a:t> </a:t>
            </a:r>
            <a:r>
              <a:rPr lang="en-US" sz="2000" b="0" strike="noStrike" spc="-1" dirty="0" err="1">
                <a:solidFill>
                  <a:srgbClr val="000000"/>
                </a:solidFill>
                <a:latin typeface="+mn-lt"/>
              </a:rPr>
              <a:t>Bilder</a:t>
            </a:r>
            <a:r>
              <a:rPr lang="en-US" sz="2000" b="0" strike="noStrike" spc="-1" dirty="0">
                <a:solidFill>
                  <a:srgbClr val="000000"/>
                </a:solidFill>
                <a:latin typeface="+mn-lt"/>
              </a:rPr>
              <a:t> und </a:t>
            </a:r>
            <a:r>
              <a:rPr lang="en-US" sz="2000" b="0" strike="noStrike" spc="-1" dirty="0" err="1">
                <a:solidFill>
                  <a:srgbClr val="000000"/>
                </a:solidFill>
                <a:latin typeface="+mn-lt"/>
              </a:rPr>
              <a:t>Wörter</a:t>
            </a:r>
            <a:r>
              <a:rPr lang="en-US" sz="2000" b="0" strike="noStrike" spc="-1" dirty="0">
                <a:solidFill>
                  <a:srgbClr val="000000"/>
                </a:solidFill>
                <a:latin typeface="+mn-lt"/>
              </a:rPr>
              <a:t> </a:t>
            </a:r>
            <a:r>
              <a:rPr lang="en-US" sz="2000" b="0" strike="noStrike" spc="-1" dirty="0" err="1">
                <a:solidFill>
                  <a:srgbClr val="000000"/>
                </a:solidFill>
                <a:latin typeface="+mn-lt"/>
              </a:rPr>
              <a:t>jeweils</a:t>
            </a:r>
            <a:r>
              <a:rPr lang="en-US" sz="2000" b="0" strike="noStrike" spc="-1" dirty="0">
                <a:solidFill>
                  <a:srgbClr val="000000"/>
                </a:solidFill>
                <a:latin typeface="+mn-lt"/>
              </a:rPr>
              <a:t> für </a:t>
            </a:r>
            <a:r>
              <a:rPr lang="en-US" sz="2000" b="1" strike="noStrike" spc="-1" dirty="0">
                <a:solidFill>
                  <a:srgbClr val="FF0000"/>
                </a:solidFill>
                <a:latin typeface="+mn-lt"/>
              </a:rPr>
              <a:t>2,5 </a:t>
            </a:r>
            <a:r>
              <a:rPr lang="en-US" sz="2000" b="1" strike="noStrike" spc="-1" dirty="0" err="1">
                <a:solidFill>
                  <a:srgbClr val="FF0000"/>
                </a:solidFill>
                <a:latin typeface="+mn-lt"/>
              </a:rPr>
              <a:t>Sekunden</a:t>
            </a:r>
            <a:r>
              <a:rPr lang="en-US" sz="2000" b="1" strike="noStrike" spc="-1" dirty="0">
                <a:solidFill>
                  <a:srgbClr val="FF0000"/>
                </a:solidFill>
                <a:latin typeface="+mn-lt"/>
              </a:rPr>
              <a:t> </a:t>
            </a:r>
            <a:r>
              <a:rPr lang="en-US" sz="2000" b="0" strike="noStrike" spc="-1" dirty="0">
                <a:solidFill>
                  <a:srgbClr val="000000"/>
                </a:solidFill>
                <a:latin typeface="+mn-lt"/>
              </a:rPr>
              <a:t>auf dem </a:t>
            </a:r>
            <a:r>
              <a:rPr lang="en-US" sz="2000" b="0" strike="noStrike" spc="-1" dirty="0" err="1">
                <a:solidFill>
                  <a:srgbClr val="000000"/>
                </a:solidFill>
                <a:latin typeface="+mn-lt"/>
              </a:rPr>
              <a:t>Bildschirm</a:t>
            </a:r>
            <a:r>
              <a:rPr lang="en-US" sz="2000" b="0" strike="noStrike" spc="-1" dirty="0">
                <a:solidFill>
                  <a:srgbClr val="000000"/>
                </a:solidFill>
                <a:latin typeface="+mn-lt"/>
              </a:rPr>
              <a:t>. In </a:t>
            </a:r>
            <a:r>
              <a:rPr lang="en-US" sz="2000" b="0" strike="noStrike" spc="-1" dirty="0" err="1">
                <a:solidFill>
                  <a:srgbClr val="000000"/>
                </a:solidFill>
                <a:latin typeface="+mn-lt"/>
              </a:rPr>
              <a:t>dieser</a:t>
            </a:r>
            <a:r>
              <a:rPr lang="en-US" sz="2000" b="0" strike="noStrike" spc="-1" dirty="0">
                <a:solidFill>
                  <a:srgbClr val="000000"/>
                </a:solidFill>
                <a:latin typeface="+mn-lt"/>
              </a:rPr>
              <a:t> </a:t>
            </a:r>
            <a:r>
              <a:rPr lang="en-US" sz="2000" b="0" strike="noStrike" spc="-1" dirty="0">
                <a:solidFill>
                  <a:srgbClr val="000000"/>
                </a:solidFill>
                <a:latin typeface="Arial"/>
              </a:rPr>
              <a:t>Zeit </a:t>
            </a:r>
            <a:r>
              <a:rPr lang="en-US" sz="2000" b="0" strike="noStrike" spc="-1" dirty="0" err="1">
                <a:solidFill>
                  <a:srgbClr val="000000"/>
                </a:solidFill>
                <a:latin typeface="Arial"/>
              </a:rPr>
              <a:t>sollen</a:t>
            </a:r>
            <a:r>
              <a:rPr lang="en-US" sz="2000" b="0" strike="noStrike" spc="-1" dirty="0">
                <a:solidFill>
                  <a:srgbClr val="000000"/>
                </a:solidFill>
                <a:latin typeface="Arial"/>
              </a:rPr>
              <a:t> Sie </a:t>
            </a:r>
            <a:r>
              <a:rPr lang="en-US" sz="2000" b="0" strike="noStrike" spc="-1" dirty="0" err="1">
                <a:solidFill>
                  <a:srgbClr val="000000"/>
                </a:solidFill>
                <a:latin typeface="Arial"/>
              </a:rPr>
              <a:t>durch</a:t>
            </a:r>
            <a:r>
              <a:rPr lang="en-US" sz="2000" b="0" strike="noStrike" spc="-1" dirty="0">
                <a:solidFill>
                  <a:srgbClr val="000000"/>
                </a:solidFill>
                <a:latin typeface="Arial"/>
              </a:rPr>
              <a:t> </a:t>
            </a:r>
            <a:r>
              <a:rPr lang="en-US" sz="2000" b="0" strike="noStrike" spc="-1" dirty="0" err="1">
                <a:solidFill>
                  <a:srgbClr val="000000"/>
                </a:solidFill>
                <a:latin typeface="Arial"/>
              </a:rPr>
              <a:t>Tastendruck</a:t>
            </a:r>
            <a:r>
              <a:rPr lang="en-US" sz="2000" b="0" strike="noStrike" spc="-1" dirty="0">
                <a:solidFill>
                  <a:srgbClr val="000000"/>
                </a:solidFill>
                <a:latin typeface="Arial"/>
              </a:rPr>
              <a:t> </a:t>
            </a:r>
            <a:r>
              <a:rPr lang="en-US" sz="2000" b="0" strike="noStrike" spc="-1" dirty="0" err="1">
                <a:solidFill>
                  <a:srgbClr val="000000"/>
                </a:solidFill>
                <a:latin typeface="Arial"/>
              </a:rPr>
              <a:t>entscheiden</a:t>
            </a:r>
            <a:r>
              <a:rPr lang="en-US" sz="2000" b="0" strike="noStrike" spc="-1" dirty="0">
                <a:solidFill>
                  <a:srgbClr val="000000"/>
                </a:solidFill>
                <a:latin typeface="Arial"/>
              </a:rPr>
              <a:t>, </a:t>
            </a:r>
            <a:r>
              <a:rPr lang="en-US" sz="2000" b="0" strike="noStrike" spc="-1" dirty="0" err="1">
                <a:solidFill>
                  <a:srgbClr val="000000"/>
                </a:solidFill>
                <a:latin typeface="Arial"/>
              </a:rPr>
              <a:t>ob</a:t>
            </a:r>
            <a:r>
              <a:rPr lang="en-US" sz="2000" b="0" strike="noStrike" spc="-1" dirty="0">
                <a:solidFill>
                  <a:srgbClr val="000000"/>
                </a:solidFill>
                <a:latin typeface="Arial"/>
              </a:rPr>
              <a:t> die </a:t>
            </a:r>
            <a:r>
              <a:rPr lang="en-US" sz="2000" b="0" strike="noStrike" spc="-1" dirty="0" err="1">
                <a:solidFill>
                  <a:srgbClr val="000000"/>
                </a:solidFill>
                <a:latin typeface="Arial"/>
              </a:rPr>
              <a:t>präsentierte</a:t>
            </a:r>
            <a:r>
              <a:rPr lang="en-US" sz="2000" b="0" strike="noStrike" spc="-1" dirty="0">
                <a:solidFill>
                  <a:srgbClr val="000000"/>
                </a:solidFill>
                <a:latin typeface="Arial"/>
              </a:rPr>
              <a:t> </a:t>
            </a:r>
            <a:r>
              <a:rPr lang="en-US" sz="2000" b="0" strike="noStrike" spc="-1" dirty="0" err="1">
                <a:solidFill>
                  <a:srgbClr val="000000"/>
                </a:solidFill>
                <a:latin typeface="Arial"/>
              </a:rPr>
              <a:t>Paarung</a:t>
            </a:r>
            <a:r>
              <a:rPr lang="en-US" sz="2000" b="0" strike="noStrike" spc="-1" dirty="0">
                <a:solidFill>
                  <a:srgbClr val="000000"/>
                </a:solidFill>
                <a:latin typeface="Arial"/>
              </a:rPr>
              <a:t> </a:t>
            </a:r>
            <a:r>
              <a:rPr lang="en-US" sz="2000" b="1" strike="noStrike" spc="-1" dirty="0" err="1">
                <a:solidFill>
                  <a:srgbClr val="000000"/>
                </a:solidFill>
                <a:latin typeface="Arial"/>
              </a:rPr>
              <a:t>richtig</a:t>
            </a:r>
            <a:r>
              <a:rPr lang="en-US" sz="2000" b="0" strike="noStrike" spc="-1" dirty="0">
                <a:solidFill>
                  <a:srgbClr val="000000"/>
                </a:solidFill>
                <a:latin typeface="Arial"/>
              </a:rPr>
              <a:t> </a:t>
            </a:r>
            <a:r>
              <a:rPr lang="en-US" sz="2000" b="0" strike="noStrike" spc="-1" dirty="0" err="1">
                <a:solidFill>
                  <a:srgbClr val="000000"/>
                </a:solidFill>
                <a:latin typeface="Arial"/>
              </a:rPr>
              <a:t>oder</a:t>
            </a:r>
            <a:r>
              <a:rPr lang="en-US" sz="2000" b="0" strike="noStrike" spc="-1" dirty="0">
                <a:solidFill>
                  <a:srgbClr val="000000"/>
                </a:solidFill>
                <a:latin typeface="Arial"/>
              </a:rPr>
              <a:t> </a:t>
            </a:r>
            <a:r>
              <a:rPr lang="en-US" sz="2000" b="1" strike="noStrike" spc="-1" dirty="0" err="1">
                <a:solidFill>
                  <a:srgbClr val="000000"/>
                </a:solidFill>
                <a:latin typeface="Arial"/>
              </a:rPr>
              <a:t>falsch</a:t>
            </a:r>
            <a:r>
              <a:rPr lang="en-US" sz="2000" b="0" strike="noStrike" spc="-1" dirty="0">
                <a:solidFill>
                  <a:srgbClr val="000000"/>
                </a:solidFill>
                <a:latin typeface="Arial"/>
              </a:rPr>
              <a:t> </a:t>
            </a:r>
            <a:r>
              <a:rPr lang="en-US" sz="2000" b="0" strike="noStrike" spc="-1" dirty="0" err="1">
                <a:solidFill>
                  <a:srgbClr val="000000"/>
                </a:solidFill>
                <a:latin typeface="Arial"/>
              </a:rPr>
              <a:t>ist</a:t>
            </a:r>
            <a:r>
              <a:rPr lang="en-US" sz="2000" b="0" strike="noStrike" spc="-1" dirty="0">
                <a:solidFill>
                  <a:srgbClr val="000000"/>
                </a:solidFill>
                <a:latin typeface="Arial"/>
              </a:rPr>
              <a:t>.</a:t>
            </a:r>
            <a:br>
              <a:rPr sz="2000" dirty="0"/>
            </a:br>
            <a:br>
              <a:rPr sz="2000" dirty="0"/>
            </a:br>
            <a:r>
              <a:rPr lang="en-US" sz="2000" b="0" strike="noStrike" spc="-1" dirty="0">
                <a:solidFill>
                  <a:srgbClr val="000000"/>
                </a:solidFill>
                <a:latin typeface="Arial"/>
              </a:rPr>
              <a:t>Bei den </a:t>
            </a:r>
            <a:r>
              <a:rPr lang="en-US" sz="2000" b="0" strike="noStrike" spc="-1" dirty="0" err="1">
                <a:solidFill>
                  <a:srgbClr val="000000"/>
                </a:solidFill>
                <a:latin typeface="Arial"/>
              </a:rPr>
              <a:t>ersten</a:t>
            </a:r>
            <a:r>
              <a:rPr lang="en-US" sz="2000" b="0" strike="noStrike" spc="-1" dirty="0">
                <a:solidFill>
                  <a:srgbClr val="000000"/>
                </a:solidFill>
                <a:latin typeface="Arial"/>
              </a:rPr>
              <a:t> </a:t>
            </a:r>
            <a:r>
              <a:rPr lang="en-US" sz="2000" b="0" strike="noStrike" spc="-1" dirty="0" err="1">
                <a:solidFill>
                  <a:srgbClr val="000000"/>
                </a:solidFill>
                <a:latin typeface="Arial"/>
              </a:rPr>
              <a:t>Durchgängen</a:t>
            </a:r>
            <a:r>
              <a:rPr lang="en-US" sz="2000" b="0" strike="noStrike" spc="-1" dirty="0">
                <a:solidFill>
                  <a:srgbClr val="000000"/>
                </a:solidFill>
                <a:latin typeface="Arial"/>
              </a:rPr>
              <a:t> </a:t>
            </a:r>
            <a:r>
              <a:rPr lang="en-US" sz="2000" b="0" strike="noStrike" spc="-1" dirty="0" err="1">
                <a:solidFill>
                  <a:srgbClr val="000000"/>
                </a:solidFill>
                <a:latin typeface="Arial"/>
              </a:rPr>
              <a:t>müssen</a:t>
            </a:r>
            <a:r>
              <a:rPr lang="en-US" sz="2000" b="0" strike="noStrike" spc="-1" dirty="0">
                <a:solidFill>
                  <a:srgbClr val="000000"/>
                </a:solidFill>
                <a:latin typeface="Arial"/>
              </a:rPr>
              <a:t> Sie </a:t>
            </a:r>
            <a:r>
              <a:rPr lang="en-US" sz="2000" b="1" strike="noStrike" spc="-1" dirty="0" err="1">
                <a:latin typeface="Arial"/>
              </a:rPr>
              <a:t>zwangsläufig</a:t>
            </a:r>
            <a:r>
              <a:rPr lang="en-US" sz="2000" b="0" strike="noStrike" spc="-1" dirty="0">
                <a:solidFill>
                  <a:srgbClr val="000000"/>
                </a:solidFill>
                <a:latin typeface="Arial"/>
              </a:rPr>
              <a:t> </a:t>
            </a:r>
            <a:r>
              <a:rPr lang="en-US" sz="2000" b="0" strike="noStrike" spc="-1" dirty="0" err="1">
                <a:solidFill>
                  <a:srgbClr val="000000"/>
                </a:solidFill>
                <a:latin typeface="Arial"/>
              </a:rPr>
              <a:t>raten</a:t>
            </a:r>
            <a:r>
              <a:rPr lang="en-US" sz="2000" b="0" strike="noStrike" spc="-1" dirty="0">
                <a:solidFill>
                  <a:srgbClr val="000000"/>
                </a:solidFill>
                <a:latin typeface="Arial"/>
              </a:rPr>
              <a:t>!</a:t>
            </a:r>
            <a:endParaRPr lang="de-DE" sz="2000" b="0" strike="noStrike" spc="-1" dirty="0">
              <a:solidFill>
                <a:srgbClr val="000000"/>
              </a:solidFill>
              <a:latin typeface="Calibri"/>
            </a:endParaRPr>
          </a:p>
        </p:txBody>
      </p:sp>
      <p:sp>
        <p:nvSpPr>
          <p:cNvPr id="70" name="Eckige Klammer rechts 13"/>
          <p:cNvSpPr/>
          <p:nvPr/>
        </p:nvSpPr>
        <p:spPr>
          <a:xfrm rot="16200000" flipH="1">
            <a:off x="3793320" y="2212560"/>
            <a:ext cx="45360" cy="243180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71" name="Pfeil nach rechts 14"/>
          <p:cNvSpPr/>
          <p:nvPr/>
        </p:nvSpPr>
        <p:spPr>
          <a:xfrm>
            <a:off x="2566800" y="3267360"/>
            <a:ext cx="6858720" cy="1097280"/>
          </a:xfrm>
          <a:prstGeom prst="rightArrow">
            <a:avLst>
              <a:gd name="adj1" fmla="val 50000"/>
              <a:gd name="adj2" fmla="val 50000"/>
            </a:avLst>
          </a:prstGeom>
          <a:gradFill rotWithShape="0">
            <a:gsLst>
              <a:gs pos="0">
                <a:srgbClr val="FAFAFA"/>
              </a:gs>
              <a:gs pos="100000">
                <a:srgbClr val="D6D6D6"/>
              </a:gs>
            </a:gsLst>
            <a:lin ang="5400000"/>
          </a:gradFill>
          <a:ln>
            <a:solidFill>
              <a:srgbClr val="A5A5A5"/>
            </a:solidFill>
          </a:ln>
        </p:spPr>
        <p:style>
          <a:lnRef idx="1">
            <a:schemeClr val="accent3"/>
          </a:lnRef>
          <a:fillRef idx="2">
            <a:schemeClr val="accent3"/>
          </a:fillRef>
          <a:effectRef idx="1">
            <a:schemeClr val="accent3"/>
          </a:effectRef>
          <a:fontRef idx="minor"/>
        </p:style>
      </p:sp>
      <p:pic>
        <p:nvPicPr>
          <p:cNvPr id="72" name="Grafik 15"/>
          <p:cNvPicPr/>
          <p:nvPr/>
        </p:nvPicPr>
        <p:blipFill>
          <a:blip r:embed="rId3"/>
          <a:stretch/>
        </p:blipFill>
        <p:spPr>
          <a:xfrm>
            <a:off x="2607480" y="2525400"/>
            <a:ext cx="1139400" cy="798840"/>
          </a:xfrm>
          <a:prstGeom prst="rect">
            <a:avLst/>
          </a:prstGeom>
          <a:ln w="22225">
            <a:solidFill>
              <a:srgbClr val="000000"/>
            </a:solidFill>
            <a:round/>
          </a:ln>
        </p:spPr>
      </p:pic>
      <p:sp>
        <p:nvSpPr>
          <p:cNvPr id="73" name="Textfeld 16"/>
          <p:cNvSpPr/>
          <p:nvPr/>
        </p:nvSpPr>
        <p:spPr>
          <a:xfrm>
            <a:off x="2521080" y="4098960"/>
            <a:ext cx="7733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Arial"/>
              </a:rPr>
              <a:t>0	 1	 2	 3	 4	 5    (Sekunden)</a:t>
            </a:r>
            <a:endParaRPr lang="en-US" sz="1800" b="0" strike="noStrike" spc="-1">
              <a:latin typeface="Arial"/>
            </a:endParaRPr>
          </a:p>
        </p:txBody>
      </p:sp>
      <p:sp>
        <p:nvSpPr>
          <p:cNvPr id="74" name="Textfeld 19"/>
          <p:cNvSpPr/>
          <p:nvPr/>
        </p:nvSpPr>
        <p:spPr>
          <a:xfrm>
            <a:off x="2770200" y="2119320"/>
            <a:ext cx="919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1" strike="noStrike" spc="-1">
                <a:solidFill>
                  <a:srgbClr val="FF0000"/>
                </a:solidFill>
                <a:latin typeface="Arial"/>
              </a:rPr>
              <a:t>Gesor</a:t>
            </a:r>
            <a:endParaRPr lang="en-US" sz="1800" b="0" strike="noStrike" spc="-1">
              <a:latin typeface="Arial"/>
            </a:endParaRPr>
          </a:p>
        </p:txBody>
      </p:sp>
      <p:sp>
        <p:nvSpPr>
          <p:cNvPr id="75" name="Gerade Verbindung mit Pfeil 21"/>
          <p:cNvSpPr/>
          <p:nvPr/>
        </p:nvSpPr>
        <p:spPr>
          <a:xfrm flipH="1">
            <a:off x="3934800" y="2270160"/>
            <a:ext cx="393480" cy="606240"/>
          </a:xfrm>
          <a:custGeom>
            <a:avLst/>
            <a:gdLst/>
            <a:ahLst/>
            <a:cxnLst/>
            <a:rect l="l" t="t" r="r" b="b"/>
            <a:pathLst>
              <a:path w="21600" h="21600">
                <a:moveTo>
                  <a:pt x="0" y="0"/>
                </a:moveTo>
                <a:lnTo>
                  <a:pt x="21600" y="21600"/>
                </a:lnTo>
              </a:path>
            </a:pathLst>
          </a:custGeom>
          <a:noFill/>
          <a:ln w="41275">
            <a:solidFill>
              <a:srgbClr val="FF0000"/>
            </a:solidFill>
            <a:tailEnd type="triangle" w="med" len="med"/>
          </a:ln>
        </p:spPr>
        <p:style>
          <a:lnRef idx="1">
            <a:schemeClr val="accent1"/>
          </a:lnRef>
          <a:fillRef idx="0">
            <a:schemeClr val="accent1"/>
          </a:fillRef>
          <a:effectRef idx="0">
            <a:schemeClr val="accent1"/>
          </a:effectRef>
          <a:fontRef idx="minor"/>
        </p:style>
      </p:sp>
      <p:pic>
        <p:nvPicPr>
          <p:cNvPr id="76" name="Grafik 22"/>
          <p:cNvPicPr/>
          <p:nvPr/>
        </p:nvPicPr>
        <p:blipFill>
          <a:blip r:embed="rId4"/>
          <a:stretch/>
        </p:blipFill>
        <p:spPr>
          <a:xfrm>
            <a:off x="2794320" y="4978080"/>
            <a:ext cx="1002960" cy="995400"/>
          </a:xfrm>
          <a:prstGeom prst="rect">
            <a:avLst/>
          </a:prstGeom>
          <a:ln w="0">
            <a:noFill/>
          </a:ln>
        </p:spPr>
      </p:pic>
      <p:sp>
        <p:nvSpPr>
          <p:cNvPr id="77" name="Textfeld 23"/>
          <p:cNvSpPr/>
          <p:nvPr/>
        </p:nvSpPr>
        <p:spPr>
          <a:xfrm>
            <a:off x="260748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78" name="Textfeld 24"/>
          <p:cNvSpPr/>
          <p:nvPr/>
        </p:nvSpPr>
        <p:spPr>
          <a:xfrm>
            <a:off x="356796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
        <p:nvSpPr>
          <p:cNvPr id="79" name="Textfeld 1"/>
          <p:cNvSpPr/>
          <p:nvPr/>
        </p:nvSpPr>
        <p:spPr>
          <a:xfrm>
            <a:off x="2660760" y="3630240"/>
            <a:ext cx="242496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1" strike="noStrike" spc="-1">
                <a:solidFill>
                  <a:srgbClr val="FFFFFF"/>
                </a:solidFill>
                <a:latin typeface="Calibri"/>
              </a:rPr>
              <a:t>Entscheidung (2.5 Sek)</a:t>
            </a:r>
            <a:endParaRPr lang="en-US" sz="1800" b="0" strike="noStrike" spc="-1">
              <a:latin typeface="Arial"/>
            </a:endParaRPr>
          </a:p>
        </p:txBody>
      </p:sp>
    </p:spTree>
    <p:extLst>
      <p:ext uri="{BB962C8B-B14F-4D97-AF65-F5344CB8AC3E}">
        <p14:creationId xmlns:p14="http://schemas.microsoft.com/office/powerpoint/2010/main" val="4189266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1431720" y="525600"/>
            <a:ext cx="9370800" cy="2226240"/>
          </a:xfrm>
          <a:prstGeom prst="rect">
            <a:avLst/>
          </a:prstGeom>
          <a:noFill/>
          <a:ln w="0">
            <a:noFill/>
          </a:ln>
        </p:spPr>
        <p:txBody>
          <a:bodyPr numCol="1" spcCol="0" anchor="ctr">
            <a:noAutofit/>
          </a:bodyPr>
          <a:lstStyle/>
          <a:p>
            <a:pPr algn="ctr">
              <a:lnSpc>
                <a:spcPct val="100000"/>
              </a:lnSpc>
              <a:buNone/>
            </a:pPr>
            <a:r>
              <a:rPr lang="de-DE" sz="2000" b="0" strike="noStrike" spc="-1">
                <a:solidFill>
                  <a:srgbClr val="000000"/>
                </a:solidFill>
                <a:latin typeface="Arial"/>
              </a:rPr>
              <a:t>Unmittelbar im Anschluß an jede Paarung, erhalten Sie automatisch </a:t>
            </a:r>
            <a:r>
              <a:rPr lang="de-DE" sz="2000" b="1" strike="noStrike" spc="-1">
                <a:solidFill>
                  <a:srgbClr val="000000"/>
                </a:solidFill>
                <a:latin typeface="Arial"/>
              </a:rPr>
              <a:t>Rückmeldung</a:t>
            </a:r>
            <a:r>
              <a:rPr lang="de-DE" sz="2000" b="0" strike="noStrike" spc="-1">
                <a:solidFill>
                  <a:srgbClr val="000000"/>
                </a:solidFill>
                <a:latin typeface="Arial"/>
              </a:rPr>
              <a:t>, ob Ihre Antwort richtig oder falsch war.</a:t>
            </a:r>
            <a:br>
              <a:rPr sz="2000"/>
            </a:br>
            <a:br>
              <a:rPr sz="2000"/>
            </a:br>
            <a:r>
              <a:rPr lang="de-DE" sz="2000" b="0" strike="noStrike" spc="-1">
                <a:solidFill>
                  <a:srgbClr val="000000"/>
                </a:solidFill>
                <a:latin typeface="Arial"/>
              </a:rPr>
              <a:t>Hier sehen Sie ein Beispiel für die Rückmeldung, nach einer </a:t>
            </a:r>
            <a:r>
              <a:rPr lang="de-DE" sz="2000" b="1" strike="noStrike" spc="-1">
                <a:solidFill>
                  <a:srgbClr val="000000"/>
                </a:solidFill>
                <a:latin typeface="Arial"/>
              </a:rPr>
              <a:t>richtigen Antwort</a:t>
            </a:r>
            <a:r>
              <a:rPr lang="de-DE" sz="2000" b="0" strike="noStrike" spc="-1">
                <a:solidFill>
                  <a:srgbClr val="000000"/>
                </a:solidFill>
                <a:latin typeface="Arial"/>
              </a:rPr>
              <a:t>.</a:t>
            </a:r>
            <a:br>
              <a:rPr sz="2000"/>
            </a:br>
            <a:br>
              <a:rPr sz="2000"/>
            </a:br>
            <a:br>
              <a:rPr sz="2000"/>
            </a:br>
            <a:endParaRPr lang="de-DE" sz="2000" b="0" strike="noStrike" spc="-1">
              <a:solidFill>
                <a:srgbClr val="000000"/>
              </a:solidFill>
              <a:latin typeface="Calibri"/>
            </a:endParaRPr>
          </a:p>
        </p:txBody>
      </p:sp>
      <p:sp>
        <p:nvSpPr>
          <p:cNvPr id="81" name="Eckige Klammer rechts 5"/>
          <p:cNvSpPr/>
          <p:nvPr/>
        </p:nvSpPr>
        <p:spPr>
          <a:xfrm rot="16200000" flipH="1">
            <a:off x="3793320" y="2212560"/>
            <a:ext cx="45360" cy="243180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82" name="Pfeil nach rechts 3"/>
          <p:cNvSpPr/>
          <p:nvPr/>
        </p:nvSpPr>
        <p:spPr>
          <a:xfrm>
            <a:off x="2566800" y="3267360"/>
            <a:ext cx="6858720" cy="1097280"/>
          </a:xfrm>
          <a:prstGeom prst="rightArrow">
            <a:avLst>
              <a:gd name="adj1" fmla="val 50000"/>
              <a:gd name="adj2" fmla="val 50000"/>
            </a:avLst>
          </a:prstGeom>
          <a:gradFill rotWithShape="0">
            <a:gsLst>
              <a:gs pos="0">
                <a:srgbClr val="FAFAFA"/>
              </a:gs>
              <a:gs pos="100000">
                <a:srgbClr val="D6D6D6"/>
              </a:gs>
            </a:gsLst>
            <a:lin ang="5400000"/>
          </a:gradFill>
          <a:ln>
            <a:solidFill>
              <a:srgbClr val="A5A5A5"/>
            </a:solidFill>
          </a:ln>
        </p:spPr>
        <p:style>
          <a:lnRef idx="1">
            <a:schemeClr val="accent3"/>
          </a:lnRef>
          <a:fillRef idx="2">
            <a:schemeClr val="accent3"/>
          </a:fillRef>
          <a:effectRef idx="1">
            <a:schemeClr val="accent3"/>
          </a:effectRef>
          <a:fontRef idx="minor"/>
        </p:style>
      </p:sp>
      <p:pic>
        <p:nvPicPr>
          <p:cNvPr id="83" name="Grafik 5"/>
          <p:cNvPicPr/>
          <p:nvPr/>
        </p:nvPicPr>
        <p:blipFill>
          <a:blip r:embed="rId3"/>
          <a:stretch/>
        </p:blipFill>
        <p:spPr>
          <a:xfrm>
            <a:off x="2607480" y="2525400"/>
            <a:ext cx="1139400" cy="798840"/>
          </a:xfrm>
          <a:prstGeom prst="rect">
            <a:avLst/>
          </a:prstGeom>
          <a:ln w="22225">
            <a:solidFill>
              <a:srgbClr val="000000"/>
            </a:solidFill>
            <a:round/>
          </a:ln>
        </p:spPr>
      </p:pic>
      <p:sp>
        <p:nvSpPr>
          <p:cNvPr id="84" name="Textfeld 33"/>
          <p:cNvSpPr/>
          <p:nvPr/>
        </p:nvSpPr>
        <p:spPr>
          <a:xfrm>
            <a:off x="2521080" y="4098960"/>
            <a:ext cx="7733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Arial"/>
              </a:rPr>
              <a:t>0	 1	 2	 3	 4	 5    (Sekunden)</a:t>
            </a:r>
            <a:endParaRPr lang="en-US" sz="1800" b="0" strike="noStrike" spc="-1">
              <a:latin typeface="Arial"/>
            </a:endParaRPr>
          </a:p>
        </p:txBody>
      </p:sp>
      <p:sp>
        <p:nvSpPr>
          <p:cNvPr id="85" name="Eckige Klammer rechts 7"/>
          <p:cNvSpPr/>
          <p:nvPr/>
        </p:nvSpPr>
        <p:spPr>
          <a:xfrm rot="16200000" flipH="1">
            <a:off x="6023520" y="2469240"/>
            <a:ext cx="45360" cy="192204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86" name="Textfeld 34"/>
          <p:cNvSpPr/>
          <p:nvPr/>
        </p:nvSpPr>
        <p:spPr>
          <a:xfrm>
            <a:off x="4963680" y="2742120"/>
            <a:ext cx="2084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1800" b="1" strike="noStrike" spc="-1">
                <a:solidFill>
                  <a:srgbClr val="FF0000"/>
                </a:solidFill>
                <a:latin typeface="Arial"/>
              </a:rPr>
              <a:t>Richtig</a:t>
            </a:r>
            <a:endParaRPr lang="en-US" sz="1800" b="0" strike="noStrike" spc="-1">
              <a:latin typeface="Arial"/>
            </a:endParaRPr>
          </a:p>
          <a:p>
            <a:pPr algn="ctr">
              <a:lnSpc>
                <a:spcPct val="100000"/>
              </a:lnSpc>
              <a:buNone/>
            </a:pPr>
            <a:r>
              <a:rPr lang="de-DE" sz="1800" b="1" strike="noStrike" spc="-1">
                <a:solidFill>
                  <a:srgbClr val="FF0000"/>
                </a:solidFill>
                <a:latin typeface="Arial"/>
              </a:rPr>
              <a:t>Das ist Gesor </a:t>
            </a:r>
            <a:endParaRPr lang="en-US" sz="1800" b="0" strike="noStrike" spc="-1">
              <a:latin typeface="Arial"/>
            </a:endParaRPr>
          </a:p>
        </p:txBody>
      </p:sp>
      <p:sp>
        <p:nvSpPr>
          <p:cNvPr id="87" name="Textfeld 35"/>
          <p:cNvSpPr/>
          <p:nvPr/>
        </p:nvSpPr>
        <p:spPr>
          <a:xfrm>
            <a:off x="2770200" y="2119320"/>
            <a:ext cx="919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1" strike="noStrike" spc="-1">
                <a:solidFill>
                  <a:srgbClr val="FF0000"/>
                </a:solidFill>
                <a:latin typeface="Arial"/>
              </a:rPr>
              <a:t>Gesor</a:t>
            </a:r>
            <a:endParaRPr lang="en-US" sz="1800" b="0" strike="noStrike" spc="-1">
              <a:latin typeface="Arial"/>
            </a:endParaRPr>
          </a:p>
        </p:txBody>
      </p:sp>
      <p:sp>
        <p:nvSpPr>
          <p:cNvPr id="88" name="Textfeld 36"/>
          <p:cNvSpPr/>
          <p:nvPr/>
        </p:nvSpPr>
        <p:spPr>
          <a:xfrm>
            <a:off x="4963680" y="3626640"/>
            <a:ext cx="221580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1" strike="noStrike" spc="-1">
                <a:solidFill>
                  <a:srgbClr val="FFFFFF"/>
                </a:solidFill>
                <a:latin typeface="Calibri"/>
              </a:rPr>
              <a:t>Rückmeldung (2 Sek)</a:t>
            </a:r>
            <a:endParaRPr lang="en-US" sz="1800" b="0" strike="noStrike" spc="-1">
              <a:latin typeface="Arial"/>
            </a:endParaRPr>
          </a:p>
        </p:txBody>
      </p:sp>
      <p:sp>
        <p:nvSpPr>
          <p:cNvPr id="89" name="Gerade Verbindung mit Pfeil 3"/>
          <p:cNvSpPr/>
          <p:nvPr/>
        </p:nvSpPr>
        <p:spPr>
          <a:xfrm flipH="1">
            <a:off x="6598800" y="2270160"/>
            <a:ext cx="393480" cy="606240"/>
          </a:xfrm>
          <a:custGeom>
            <a:avLst/>
            <a:gdLst/>
            <a:ahLst/>
            <a:cxnLst/>
            <a:rect l="l" t="t" r="r" b="b"/>
            <a:pathLst>
              <a:path w="21600" h="21600">
                <a:moveTo>
                  <a:pt x="0" y="0"/>
                </a:moveTo>
                <a:lnTo>
                  <a:pt x="21600" y="21600"/>
                </a:lnTo>
              </a:path>
            </a:pathLst>
          </a:custGeom>
          <a:noFill/>
          <a:ln w="41275">
            <a:solidFill>
              <a:srgbClr val="FF0000"/>
            </a:solidFill>
            <a:tailEnd type="triangle" w="med" len="med"/>
          </a:ln>
        </p:spPr>
        <p:style>
          <a:lnRef idx="1">
            <a:schemeClr val="accent1"/>
          </a:lnRef>
          <a:fillRef idx="0">
            <a:schemeClr val="accent1"/>
          </a:fillRef>
          <a:effectRef idx="0">
            <a:schemeClr val="accent1"/>
          </a:effectRef>
          <a:fontRef idx="minor"/>
        </p:style>
      </p:sp>
      <p:pic>
        <p:nvPicPr>
          <p:cNvPr id="90" name="Grafik 6"/>
          <p:cNvPicPr/>
          <p:nvPr/>
        </p:nvPicPr>
        <p:blipFill>
          <a:blip r:embed="rId4"/>
          <a:stretch/>
        </p:blipFill>
        <p:spPr>
          <a:xfrm>
            <a:off x="2794320" y="4978080"/>
            <a:ext cx="1002960" cy="995400"/>
          </a:xfrm>
          <a:prstGeom prst="rect">
            <a:avLst/>
          </a:prstGeom>
          <a:ln w="0">
            <a:noFill/>
          </a:ln>
        </p:spPr>
      </p:pic>
      <p:sp>
        <p:nvSpPr>
          <p:cNvPr id="91" name="Textfeld 37"/>
          <p:cNvSpPr/>
          <p:nvPr/>
        </p:nvSpPr>
        <p:spPr>
          <a:xfrm>
            <a:off x="260748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92" name="Textfeld 38"/>
          <p:cNvSpPr/>
          <p:nvPr/>
        </p:nvSpPr>
        <p:spPr>
          <a:xfrm>
            <a:off x="356796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1431720" y="552240"/>
            <a:ext cx="9370800" cy="1236600"/>
          </a:xfrm>
          <a:prstGeom prst="rect">
            <a:avLst/>
          </a:prstGeom>
          <a:noFill/>
          <a:ln w="0">
            <a:noFill/>
          </a:ln>
        </p:spPr>
        <p:txBody>
          <a:bodyPr numCol="1" spcCol="0" anchor="ctr">
            <a:noAutofit/>
          </a:bodyPr>
          <a:lstStyle/>
          <a:p>
            <a:pPr algn="ctr">
              <a:lnSpc>
                <a:spcPct val="100000"/>
              </a:lnSpc>
              <a:buNone/>
            </a:pPr>
            <a:r>
              <a:rPr lang="de-DE" sz="2000" b="0" strike="noStrike" spc="-1">
                <a:solidFill>
                  <a:srgbClr val="000000"/>
                </a:solidFill>
                <a:latin typeface="Arial"/>
              </a:rPr>
              <a:t>Wenn Ihre Antwort </a:t>
            </a:r>
            <a:r>
              <a:rPr lang="de-DE" sz="2000" b="1" strike="noStrike" spc="-1">
                <a:solidFill>
                  <a:srgbClr val="000000"/>
                </a:solidFill>
                <a:latin typeface="Arial"/>
              </a:rPr>
              <a:t>falsch</a:t>
            </a:r>
            <a:r>
              <a:rPr lang="de-DE" sz="2000" b="0" strike="noStrike" spc="-1">
                <a:solidFill>
                  <a:srgbClr val="000000"/>
                </a:solidFill>
                <a:latin typeface="Arial"/>
              </a:rPr>
              <a:t> war, erhalten Sie ebenfalls Rückmeldung.</a:t>
            </a:r>
            <a:br>
              <a:rPr sz="2000"/>
            </a:br>
            <a:br>
              <a:rPr sz="2000"/>
            </a:br>
            <a:r>
              <a:rPr lang="de-DE" sz="2000" b="0" strike="noStrike" spc="-1">
                <a:solidFill>
                  <a:srgbClr val="000000"/>
                </a:solidFill>
                <a:latin typeface="Arial"/>
              </a:rPr>
              <a:t>Außerdem wird das </a:t>
            </a:r>
            <a:r>
              <a:rPr lang="de-DE" sz="2000" b="1" strike="noStrike" spc="-1">
                <a:solidFill>
                  <a:srgbClr val="000000"/>
                </a:solidFill>
                <a:latin typeface="Arial"/>
              </a:rPr>
              <a:t>korrekte Pseudowort </a:t>
            </a:r>
            <a:r>
              <a:rPr lang="de-DE" sz="2000" b="0" strike="noStrike" spc="-1">
                <a:solidFill>
                  <a:srgbClr val="000000"/>
                </a:solidFill>
                <a:latin typeface="Arial"/>
              </a:rPr>
              <a:t>angezeigt.</a:t>
            </a:r>
            <a:endParaRPr lang="de-DE" sz="2000" b="0" strike="noStrike" spc="-1">
              <a:solidFill>
                <a:srgbClr val="000000"/>
              </a:solidFill>
              <a:latin typeface="Calibri"/>
            </a:endParaRPr>
          </a:p>
        </p:txBody>
      </p:sp>
      <p:sp>
        <p:nvSpPr>
          <p:cNvPr id="94" name="Eckige Klammer rechts 3"/>
          <p:cNvSpPr/>
          <p:nvPr/>
        </p:nvSpPr>
        <p:spPr>
          <a:xfrm rot="16200000" flipH="1">
            <a:off x="3793320" y="2212560"/>
            <a:ext cx="45360" cy="243180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95" name="Pfeil nach rechts 2"/>
          <p:cNvSpPr/>
          <p:nvPr/>
        </p:nvSpPr>
        <p:spPr>
          <a:xfrm>
            <a:off x="2566800" y="3267360"/>
            <a:ext cx="6858720" cy="1097280"/>
          </a:xfrm>
          <a:prstGeom prst="rightArrow">
            <a:avLst>
              <a:gd name="adj1" fmla="val 50000"/>
              <a:gd name="adj2" fmla="val 50000"/>
            </a:avLst>
          </a:prstGeom>
          <a:gradFill rotWithShape="0">
            <a:gsLst>
              <a:gs pos="0">
                <a:srgbClr val="FAFAFA"/>
              </a:gs>
              <a:gs pos="100000">
                <a:srgbClr val="D6D6D6"/>
              </a:gs>
            </a:gsLst>
            <a:lin ang="5400000"/>
          </a:gradFill>
          <a:ln>
            <a:solidFill>
              <a:srgbClr val="A5A5A5"/>
            </a:solidFill>
          </a:ln>
        </p:spPr>
        <p:style>
          <a:lnRef idx="1">
            <a:schemeClr val="accent3"/>
          </a:lnRef>
          <a:fillRef idx="2">
            <a:schemeClr val="accent3"/>
          </a:fillRef>
          <a:effectRef idx="1">
            <a:schemeClr val="accent3"/>
          </a:effectRef>
          <a:fontRef idx="minor"/>
        </p:style>
      </p:sp>
      <p:pic>
        <p:nvPicPr>
          <p:cNvPr id="96" name="Grafik 3"/>
          <p:cNvPicPr/>
          <p:nvPr/>
        </p:nvPicPr>
        <p:blipFill>
          <a:blip r:embed="rId3"/>
          <a:stretch/>
        </p:blipFill>
        <p:spPr>
          <a:xfrm>
            <a:off x="2607480" y="2525400"/>
            <a:ext cx="1139400" cy="798840"/>
          </a:xfrm>
          <a:prstGeom prst="rect">
            <a:avLst/>
          </a:prstGeom>
          <a:ln w="22225">
            <a:solidFill>
              <a:srgbClr val="000000"/>
            </a:solidFill>
            <a:round/>
          </a:ln>
        </p:spPr>
      </p:pic>
      <p:sp>
        <p:nvSpPr>
          <p:cNvPr id="97" name="Textfeld 7"/>
          <p:cNvSpPr/>
          <p:nvPr/>
        </p:nvSpPr>
        <p:spPr>
          <a:xfrm>
            <a:off x="2521080" y="4098960"/>
            <a:ext cx="7733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Arial"/>
              </a:rPr>
              <a:t>0	 1	 2	 3	 4	 5    (Sekunden)</a:t>
            </a:r>
            <a:endParaRPr lang="en-US" sz="1800" b="0" strike="noStrike" spc="-1">
              <a:latin typeface="Arial"/>
            </a:endParaRPr>
          </a:p>
        </p:txBody>
      </p:sp>
      <p:sp>
        <p:nvSpPr>
          <p:cNvPr id="98" name="Eckige Klammer rechts 4"/>
          <p:cNvSpPr/>
          <p:nvPr/>
        </p:nvSpPr>
        <p:spPr>
          <a:xfrm rot="16200000" flipH="1">
            <a:off x="6023520" y="2469240"/>
            <a:ext cx="45360" cy="192204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99" name="Textfeld 8"/>
          <p:cNvSpPr/>
          <p:nvPr/>
        </p:nvSpPr>
        <p:spPr>
          <a:xfrm>
            <a:off x="4963680" y="2742120"/>
            <a:ext cx="2084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1800" b="1" strike="noStrike" spc="-1">
                <a:solidFill>
                  <a:srgbClr val="FF0000"/>
                </a:solidFill>
                <a:latin typeface="Arial"/>
              </a:rPr>
              <a:t>Falsch!</a:t>
            </a:r>
            <a:endParaRPr lang="en-US" sz="1800" b="0" strike="noStrike" spc="-1">
              <a:latin typeface="Arial"/>
            </a:endParaRPr>
          </a:p>
          <a:p>
            <a:pPr algn="ctr">
              <a:lnSpc>
                <a:spcPct val="100000"/>
              </a:lnSpc>
              <a:buNone/>
            </a:pPr>
            <a:r>
              <a:rPr lang="de-DE" sz="1800" b="1" strike="noStrike" spc="-1">
                <a:solidFill>
                  <a:srgbClr val="FF0000"/>
                </a:solidFill>
                <a:latin typeface="Arial"/>
              </a:rPr>
              <a:t>Das ist Gesor </a:t>
            </a:r>
            <a:endParaRPr lang="en-US" sz="1800" b="0" strike="noStrike" spc="-1">
              <a:latin typeface="Arial"/>
            </a:endParaRPr>
          </a:p>
        </p:txBody>
      </p:sp>
      <p:sp>
        <p:nvSpPr>
          <p:cNvPr id="100" name="Textfeld 26"/>
          <p:cNvSpPr/>
          <p:nvPr/>
        </p:nvSpPr>
        <p:spPr>
          <a:xfrm>
            <a:off x="2770200" y="2119320"/>
            <a:ext cx="919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1" strike="noStrike" spc="-1">
                <a:solidFill>
                  <a:srgbClr val="FF0000"/>
                </a:solidFill>
                <a:latin typeface="Arial"/>
              </a:rPr>
              <a:t>Kulat</a:t>
            </a:r>
            <a:endParaRPr lang="en-US" sz="1800" b="0" strike="noStrike" spc="-1">
              <a:latin typeface="Arial"/>
            </a:endParaRPr>
          </a:p>
        </p:txBody>
      </p:sp>
      <p:sp>
        <p:nvSpPr>
          <p:cNvPr id="101" name="Textfeld 27"/>
          <p:cNvSpPr/>
          <p:nvPr/>
        </p:nvSpPr>
        <p:spPr>
          <a:xfrm>
            <a:off x="4963680" y="3626640"/>
            <a:ext cx="221580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1" strike="noStrike" spc="-1">
                <a:solidFill>
                  <a:srgbClr val="FFFFFF"/>
                </a:solidFill>
                <a:latin typeface="Calibri"/>
              </a:rPr>
              <a:t>Rückmeldung (2 Sek)</a:t>
            </a:r>
            <a:endParaRPr lang="en-US" sz="1800" b="0" strike="noStrike" spc="-1">
              <a:latin typeface="Arial"/>
            </a:endParaRPr>
          </a:p>
        </p:txBody>
      </p:sp>
      <p:sp>
        <p:nvSpPr>
          <p:cNvPr id="102" name="Gerade Verbindung mit Pfeil 2"/>
          <p:cNvSpPr/>
          <p:nvPr/>
        </p:nvSpPr>
        <p:spPr>
          <a:xfrm flipH="1">
            <a:off x="6598800" y="2270160"/>
            <a:ext cx="393480" cy="606240"/>
          </a:xfrm>
          <a:custGeom>
            <a:avLst/>
            <a:gdLst/>
            <a:ahLst/>
            <a:cxnLst/>
            <a:rect l="l" t="t" r="r" b="b"/>
            <a:pathLst>
              <a:path w="21600" h="21600">
                <a:moveTo>
                  <a:pt x="0" y="0"/>
                </a:moveTo>
                <a:lnTo>
                  <a:pt x="21600" y="21600"/>
                </a:lnTo>
              </a:path>
            </a:pathLst>
          </a:custGeom>
          <a:noFill/>
          <a:ln w="41275">
            <a:solidFill>
              <a:srgbClr val="FF0000"/>
            </a:solidFill>
            <a:tailEnd type="triangle" w="med" len="med"/>
          </a:ln>
        </p:spPr>
        <p:style>
          <a:lnRef idx="1">
            <a:schemeClr val="accent1"/>
          </a:lnRef>
          <a:fillRef idx="0">
            <a:schemeClr val="accent1"/>
          </a:fillRef>
          <a:effectRef idx="0">
            <a:schemeClr val="accent1"/>
          </a:effectRef>
          <a:fontRef idx="minor"/>
        </p:style>
      </p:sp>
      <p:pic>
        <p:nvPicPr>
          <p:cNvPr id="103" name="Grafik 4"/>
          <p:cNvPicPr/>
          <p:nvPr/>
        </p:nvPicPr>
        <p:blipFill>
          <a:blip r:embed="rId4"/>
          <a:stretch/>
        </p:blipFill>
        <p:spPr>
          <a:xfrm>
            <a:off x="2794320" y="4978080"/>
            <a:ext cx="1002960" cy="995400"/>
          </a:xfrm>
          <a:prstGeom prst="rect">
            <a:avLst/>
          </a:prstGeom>
          <a:ln w="0">
            <a:noFill/>
          </a:ln>
        </p:spPr>
      </p:pic>
      <p:sp>
        <p:nvSpPr>
          <p:cNvPr id="104" name="Textfeld 31"/>
          <p:cNvSpPr/>
          <p:nvPr/>
        </p:nvSpPr>
        <p:spPr>
          <a:xfrm>
            <a:off x="260748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105" name="Textfeld 32"/>
          <p:cNvSpPr/>
          <p:nvPr/>
        </p:nvSpPr>
        <p:spPr>
          <a:xfrm>
            <a:off x="356796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1431720" y="533520"/>
            <a:ext cx="9370800" cy="1921320"/>
          </a:xfrm>
          <a:prstGeom prst="rect">
            <a:avLst/>
          </a:prstGeom>
          <a:noFill/>
          <a:ln w="0">
            <a:noFill/>
          </a:ln>
        </p:spPr>
        <p:txBody>
          <a:bodyPr numCol="1" spcCol="0" anchor="ctr">
            <a:noAutofit/>
          </a:bodyPr>
          <a:lstStyle/>
          <a:p>
            <a:pPr algn="ctr">
              <a:lnSpc>
                <a:spcPct val="100000"/>
              </a:lnSpc>
              <a:buNone/>
            </a:pPr>
            <a:r>
              <a:rPr lang="de-DE" sz="2000" b="1" strike="noStrike" spc="-1">
                <a:solidFill>
                  <a:srgbClr val="000000"/>
                </a:solidFill>
                <a:latin typeface="Arial"/>
              </a:rPr>
              <a:t>Es ist wichtig innerhalb von 2.5 Sekunden zu antworten</a:t>
            </a:r>
            <a:br>
              <a:rPr sz="2000"/>
            </a:br>
            <a:br>
              <a:rPr sz="2000"/>
            </a:br>
            <a:r>
              <a:rPr lang="de-DE" sz="2000" b="0" strike="noStrike" spc="-1">
                <a:solidFill>
                  <a:srgbClr val="000000"/>
                </a:solidFill>
                <a:latin typeface="Arial"/>
              </a:rPr>
              <a:t>Wenn Sie zu spät drücken, wird Ihre Antwort nicht gewertet.</a:t>
            </a:r>
            <a:br>
              <a:rPr sz="2000"/>
            </a:br>
            <a:r>
              <a:rPr lang="de-DE" sz="2000" b="0" strike="noStrike" spc="-1">
                <a:solidFill>
                  <a:srgbClr val="000000"/>
                </a:solidFill>
                <a:latin typeface="Arial"/>
              </a:rPr>
              <a:t>In diesem Fall erhalten Sie ebenfalls Rückmeldung und das korrekte Pseudowort wird angezeigt.  </a:t>
            </a:r>
            <a:br>
              <a:rPr sz="2000"/>
            </a:br>
            <a:r>
              <a:rPr lang="de-DE" sz="2000" b="0" strike="noStrike" spc="-1">
                <a:solidFill>
                  <a:srgbClr val="000000"/>
                </a:solidFill>
                <a:latin typeface="Arial"/>
              </a:rPr>
              <a:t> </a:t>
            </a:r>
            <a:endParaRPr lang="de-DE" sz="2000" b="0" strike="noStrike" spc="-1">
              <a:solidFill>
                <a:srgbClr val="000000"/>
              </a:solidFill>
              <a:latin typeface="Calibri"/>
            </a:endParaRPr>
          </a:p>
        </p:txBody>
      </p:sp>
      <p:sp>
        <p:nvSpPr>
          <p:cNvPr id="107" name="Eckige Klammer rechts 8"/>
          <p:cNvSpPr/>
          <p:nvPr/>
        </p:nvSpPr>
        <p:spPr>
          <a:xfrm rot="16200000" flipH="1">
            <a:off x="3793320" y="2212560"/>
            <a:ext cx="45360" cy="243180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108" name="Pfeil nach rechts 4"/>
          <p:cNvSpPr/>
          <p:nvPr/>
        </p:nvSpPr>
        <p:spPr>
          <a:xfrm>
            <a:off x="2566800" y="3267360"/>
            <a:ext cx="6858720" cy="1097280"/>
          </a:xfrm>
          <a:prstGeom prst="rightArrow">
            <a:avLst>
              <a:gd name="adj1" fmla="val 50000"/>
              <a:gd name="adj2" fmla="val 50000"/>
            </a:avLst>
          </a:prstGeom>
          <a:gradFill rotWithShape="0">
            <a:gsLst>
              <a:gs pos="0">
                <a:srgbClr val="FAFAFA"/>
              </a:gs>
              <a:gs pos="100000">
                <a:srgbClr val="D6D6D6"/>
              </a:gs>
            </a:gsLst>
            <a:lin ang="5400000"/>
          </a:gradFill>
          <a:ln>
            <a:solidFill>
              <a:srgbClr val="A5A5A5"/>
            </a:solidFill>
          </a:ln>
        </p:spPr>
        <p:style>
          <a:lnRef idx="1">
            <a:schemeClr val="accent3"/>
          </a:lnRef>
          <a:fillRef idx="2">
            <a:schemeClr val="accent3"/>
          </a:fillRef>
          <a:effectRef idx="1">
            <a:schemeClr val="accent3"/>
          </a:effectRef>
          <a:fontRef idx="minor"/>
        </p:style>
      </p:sp>
      <p:pic>
        <p:nvPicPr>
          <p:cNvPr id="109" name="Grafik 7"/>
          <p:cNvPicPr/>
          <p:nvPr/>
        </p:nvPicPr>
        <p:blipFill>
          <a:blip r:embed="rId3"/>
          <a:stretch/>
        </p:blipFill>
        <p:spPr>
          <a:xfrm>
            <a:off x="2607480" y="2525400"/>
            <a:ext cx="1139400" cy="798840"/>
          </a:xfrm>
          <a:prstGeom prst="rect">
            <a:avLst/>
          </a:prstGeom>
          <a:ln w="22225">
            <a:solidFill>
              <a:srgbClr val="000000"/>
            </a:solidFill>
            <a:round/>
          </a:ln>
        </p:spPr>
      </p:pic>
      <p:sp>
        <p:nvSpPr>
          <p:cNvPr id="110" name="Textfeld 25"/>
          <p:cNvSpPr/>
          <p:nvPr/>
        </p:nvSpPr>
        <p:spPr>
          <a:xfrm>
            <a:off x="2521080" y="4098960"/>
            <a:ext cx="7733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Arial"/>
              </a:rPr>
              <a:t>0	 1	 2	 3	 4	 5    (Sekunden)</a:t>
            </a:r>
            <a:endParaRPr lang="en-US" sz="1800" b="0" strike="noStrike" spc="-1">
              <a:latin typeface="Arial"/>
            </a:endParaRPr>
          </a:p>
        </p:txBody>
      </p:sp>
      <p:sp>
        <p:nvSpPr>
          <p:cNvPr id="111" name="Eckige Klammer rechts 9"/>
          <p:cNvSpPr/>
          <p:nvPr/>
        </p:nvSpPr>
        <p:spPr>
          <a:xfrm rot="16200000" flipH="1">
            <a:off x="6023520" y="2469240"/>
            <a:ext cx="45360" cy="192204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112" name="Textfeld 39"/>
          <p:cNvSpPr/>
          <p:nvPr/>
        </p:nvSpPr>
        <p:spPr>
          <a:xfrm>
            <a:off x="4963680" y="2742120"/>
            <a:ext cx="2084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1800" b="1" strike="noStrike" spc="-1">
                <a:solidFill>
                  <a:srgbClr val="FF0000"/>
                </a:solidFill>
                <a:latin typeface="Arial"/>
              </a:rPr>
              <a:t>Zu spät!</a:t>
            </a:r>
            <a:endParaRPr lang="en-US" sz="1800" b="0" strike="noStrike" spc="-1">
              <a:latin typeface="Arial"/>
            </a:endParaRPr>
          </a:p>
          <a:p>
            <a:pPr algn="ctr">
              <a:lnSpc>
                <a:spcPct val="100000"/>
              </a:lnSpc>
              <a:buNone/>
            </a:pPr>
            <a:r>
              <a:rPr lang="de-DE" sz="1800" b="1" strike="noStrike" spc="-1">
                <a:solidFill>
                  <a:srgbClr val="FF0000"/>
                </a:solidFill>
                <a:latin typeface="Arial"/>
              </a:rPr>
              <a:t>Das ist Gesor </a:t>
            </a:r>
            <a:endParaRPr lang="en-US" sz="1800" b="0" strike="noStrike" spc="-1">
              <a:latin typeface="Arial"/>
            </a:endParaRPr>
          </a:p>
        </p:txBody>
      </p:sp>
      <p:sp>
        <p:nvSpPr>
          <p:cNvPr id="113" name="Textfeld 40"/>
          <p:cNvSpPr/>
          <p:nvPr/>
        </p:nvSpPr>
        <p:spPr>
          <a:xfrm>
            <a:off x="2770200" y="2119320"/>
            <a:ext cx="919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1" strike="noStrike" spc="-1">
                <a:solidFill>
                  <a:srgbClr val="FF0000"/>
                </a:solidFill>
                <a:latin typeface="Arial"/>
              </a:rPr>
              <a:t>Gesor</a:t>
            </a:r>
            <a:endParaRPr lang="en-US" sz="1800" b="0" strike="noStrike" spc="-1">
              <a:latin typeface="Arial"/>
            </a:endParaRPr>
          </a:p>
        </p:txBody>
      </p:sp>
      <p:sp>
        <p:nvSpPr>
          <p:cNvPr id="114" name="Textfeld 41"/>
          <p:cNvSpPr/>
          <p:nvPr/>
        </p:nvSpPr>
        <p:spPr>
          <a:xfrm>
            <a:off x="4963680" y="3626640"/>
            <a:ext cx="221580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1" strike="noStrike" spc="-1">
                <a:solidFill>
                  <a:srgbClr val="FFFFFF"/>
                </a:solidFill>
                <a:latin typeface="Calibri"/>
              </a:rPr>
              <a:t>Rückmeldung (2 Sek)</a:t>
            </a:r>
            <a:endParaRPr lang="en-US" sz="1800" b="0" strike="noStrike" spc="-1">
              <a:latin typeface="Arial"/>
            </a:endParaRPr>
          </a:p>
        </p:txBody>
      </p:sp>
      <p:sp>
        <p:nvSpPr>
          <p:cNvPr id="115" name="Gerade Verbindung mit Pfeil 4"/>
          <p:cNvSpPr/>
          <p:nvPr/>
        </p:nvSpPr>
        <p:spPr>
          <a:xfrm flipH="1">
            <a:off x="6598800" y="2270160"/>
            <a:ext cx="393480" cy="606240"/>
          </a:xfrm>
          <a:custGeom>
            <a:avLst/>
            <a:gdLst/>
            <a:ahLst/>
            <a:cxnLst/>
            <a:rect l="l" t="t" r="r" b="b"/>
            <a:pathLst>
              <a:path w="21600" h="21600">
                <a:moveTo>
                  <a:pt x="0" y="0"/>
                </a:moveTo>
                <a:lnTo>
                  <a:pt x="21600" y="21600"/>
                </a:lnTo>
              </a:path>
            </a:pathLst>
          </a:custGeom>
          <a:noFill/>
          <a:ln w="41275">
            <a:solidFill>
              <a:srgbClr val="FF0000"/>
            </a:solidFill>
            <a:tailEnd type="triangle" w="med" len="med"/>
          </a:ln>
        </p:spPr>
        <p:style>
          <a:lnRef idx="1">
            <a:schemeClr val="accent1"/>
          </a:lnRef>
          <a:fillRef idx="0">
            <a:schemeClr val="accent1"/>
          </a:fillRef>
          <a:effectRef idx="0">
            <a:schemeClr val="accent1"/>
          </a:effectRef>
          <a:fontRef idx="minor"/>
        </p:style>
      </p:sp>
      <p:pic>
        <p:nvPicPr>
          <p:cNvPr id="116" name="Grafik 9"/>
          <p:cNvPicPr/>
          <p:nvPr/>
        </p:nvPicPr>
        <p:blipFill>
          <a:blip r:embed="rId4"/>
          <a:stretch/>
        </p:blipFill>
        <p:spPr>
          <a:xfrm>
            <a:off x="5349951" y="5075640"/>
            <a:ext cx="1002960" cy="995400"/>
          </a:xfrm>
          <a:prstGeom prst="rect">
            <a:avLst/>
          </a:prstGeom>
          <a:ln w="0">
            <a:noFill/>
          </a:ln>
        </p:spPr>
      </p:pic>
      <p:sp>
        <p:nvSpPr>
          <p:cNvPr id="117" name="Textfeld 42"/>
          <p:cNvSpPr/>
          <p:nvPr/>
        </p:nvSpPr>
        <p:spPr>
          <a:xfrm>
            <a:off x="5163111" y="466056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118" name="Textfeld 43"/>
          <p:cNvSpPr/>
          <p:nvPr/>
        </p:nvSpPr>
        <p:spPr>
          <a:xfrm>
            <a:off x="6123591" y="466056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Tree>
    <p:extLst>
      <p:ext uri="{BB962C8B-B14F-4D97-AF65-F5344CB8AC3E}">
        <p14:creationId xmlns:p14="http://schemas.microsoft.com/office/powerpoint/2010/main" val="250165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2338200" y="1213560"/>
            <a:ext cx="7458480" cy="2836080"/>
          </a:xfrm>
          <a:prstGeom prst="rect">
            <a:avLst/>
          </a:prstGeom>
          <a:noFill/>
          <a:ln w="0">
            <a:noFill/>
          </a:ln>
        </p:spPr>
        <p:txBody>
          <a:bodyPr numCol="1" spcCol="0" anchor="ctr">
            <a:noAutofit/>
          </a:bodyPr>
          <a:lstStyle/>
          <a:p>
            <a:pPr algn="ctr">
              <a:lnSpc>
                <a:spcPct val="100000"/>
              </a:lnSpc>
              <a:buNone/>
            </a:pPr>
            <a:br>
              <a:rPr sz="2000" dirty="0"/>
            </a:br>
            <a:r>
              <a:rPr lang="de-DE" sz="2000" b="0" strike="noStrike" spc="-1" dirty="0">
                <a:solidFill>
                  <a:srgbClr val="000000"/>
                </a:solidFill>
                <a:latin typeface="Arial"/>
              </a:rPr>
              <a:t>Bitte </a:t>
            </a:r>
            <a:r>
              <a:rPr lang="de-DE" sz="2000" b="1" strike="noStrike" spc="-1" dirty="0">
                <a:solidFill>
                  <a:srgbClr val="000000"/>
                </a:solidFill>
                <a:latin typeface="Arial"/>
              </a:rPr>
              <a:t>benutzen Sie die jeweiligen Rückmeldungen</a:t>
            </a:r>
            <a:r>
              <a:rPr lang="de-DE" sz="2000" b="0" strike="noStrike" spc="-1" dirty="0">
                <a:solidFill>
                  <a:srgbClr val="000000"/>
                </a:solidFill>
                <a:latin typeface="Arial"/>
              </a:rPr>
              <a:t>, um im Laufe des Experiments korrekte Paarungen von Bildern und Pseudowörtern zu erlernen.</a:t>
            </a:r>
            <a:br>
              <a:rPr sz="2000" dirty="0"/>
            </a:br>
            <a:br>
              <a:rPr sz="2000" dirty="0"/>
            </a:br>
            <a:r>
              <a:rPr lang="de-DE" sz="2000" b="0" strike="noStrike" spc="-1" dirty="0">
                <a:solidFill>
                  <a:srgbClr val="000000"/>
                </a:solidFill>
                <a:latin typeface="Arial"/>
              </a:rPr>
              <a:t>Wenn Sie sich nicht sicher sind, </a:t>
            </a:r>
            <a:r>
              <a:rPr lang="de-DE" sz="2000" b="1" strike="noStrike" spc="-1" dirty="0">
                <a:solidFill>
                  <a:srgbClr val="000000"/>
                </a:solidFill>
                <a:latin typeface="Arial"/>
              </a:rPr>
              <a:t>raten</a:t>
            </a:r>
            <a:r>
              <a:rPr lang="de-DE" sz="2000" b="0" strike="noStrike" spc="-1" dirty="0">
                <a:solidFill>
                  <a:srgbClr val="000000"/>
                </a:solidFill>
                <a:latin typeface="Arial"/>
              </a:rPr>
              <a:t> Sie bitte.</a:t>
            </a:r>
            <a:br>
              <a:rPr sz="2000" dirty="0"/>
            </a:br>
            <a:br>
              <a:rPr sz="2000" dirty="0"/>
            </a:br>
            <a:br>
              <a:rPr sz="2000" dirty="0"/>
            </a:br>
            <a:endParaRPr lang="de-DE" sz="2000" b="0" strike="noStrike" spc="-1" dirty="0">
              <a:solidFill>
                <a:srgbClr val="000000"/>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1769760" y="739800"/>
            <a:ext cx="9370800" cy="1311480"/>
          </a:xfrm>
          <a:prstGeom prst="rect">
            <a:avLst/>
          </a:prstGeom>
          <a:noFill/>
          <a:ln w="0">
            <a:noFill/>
          </a:ln>
        </p:spPr>
        <p:txBody>
          <a:bodyPr numCol="1" spcCol="0" anchor="ctr">
            <a:noAutofit/>
          </a:bodyPr>
          <a:lstStyle/>
          <a:p>
            <a:pPr>
              <a:lnSpc>
                <a:spcPct val="100000"/>
              </a:lnSpc>
              <a:buNone/>
            </a:pPr>
            <a:r>
              <a:rPr lang="de-DE" sz="2000" b="0" strike="noStrike" spc="-1" dirty="0">
                <a:solidFill>
                  <a:srgbClr val="000000"/>
                </a:solidFill>
                <a:latin typeface="Arial"/>
              </a:rPr>
              <a:t>Der Ablauf der </a:t>
            </a:r>
            <a:r>
              <a:rPr lang="de-DE" sz="2000" b="1" strike="noStrike" spc="-1" dirty="0">
                <a:solidFill>
                  <a:srgbClr val="000000"/>
                </a:solidFill>
                <a:latin typeface="Arial"/>
              </a:rPr>
              <a:t>Bild-Wort Übereinstimmungsaufgabe </a:t>
            </a:r>
            <a:r>
              <a:rPr lang="de-DE" sz="2000" b="0" strike="noStrike" spc="-1" dirty="0">
                <a:solidFill>
                  <a:srgbClr val="000000"/>
                </a:solidFill>
                <a:latin typeface="Arial"/>
              </a:rPr>
              <a:t>ist identisch.</a:t>
            </a:r>
            <a:br>
              <a:rPr sz="2000" dirty="0"/>
            </a:br>
            <a:br>
              <a:rPr sz="2000" dirty="0"/>
            </a:br>
            <a:r>
              <a:rPr lang="de-DE" sz="2000" b="0" strike="noStrike" spc="-1" dirty="0">
                <a:solidFill>
                  <a:srgbClr val="000000"/>
                </a:solidFill>
                <a:latin typeface="Arial"/>
              </a:rPr>
              <a:t>Auch hier erhalten Sie Rückmeldung.</a:t>
            </a:r>
            <a:br>
              <a:rPr sz="2000" dirty="0"/>
            </a:br>
            <a:endParaRPr lang="de-DE" sz="2000" b="0" strike="noStrike" spc="-1" dirty="0">
              <a:solidFill>
                <a:srgbClr val="000000"/>
              </a:solidFill>
              <a:latin typeface="Calibri"/>
            </a:endParaRPr>
          </a:p>
        </p:txBody>
      </p:sp>
      <p:sp>
        <p:nvSpPr>
          <p:cNvPr id="121" name="Eckige Klammer rechts 13"/>
          <p:cNvSpPr/>
          <p:nvPr/>
        </p:nvSpPr>
        <p:spPr>
          <a:xfrm rot="16200000" flipH="1">
            <a:off x="3793320" y="2212560"/>
            <a:ext cx="45360" cy="243180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122" name="Pfeil nach rechts 14"/>
          <p:cNvSpPr/>
          <p:nvPr/>
        </p:nvSpPr>
        <p:spPr>
          <a:xfrm>
            <a:off x="2566800" y="3267360"/>
            <a:ext cx="6858720" cy="1097280"/>
          </a:xfrm>
          <a:prstGeom prst="rightArrow">
            <a:avLst>
              <a:gd name="adj1" fmla="val 50000"/>
              <a:gd name="adj2" fmla="val 50000"/>
            </a:avLst>
          </a:prstGeom>
          <a:gradFill rotWithShape="0">
            <a:gsLst>
              <a:gs pos="0">
                <a:srgbClr val="FAFAFA"/>
              </a:gs>
              <a:gs pos="100000">
                <a:srgbClr val="D6D6D6"/>
              </a:gs>
            </a:gsLst>
            <a:lin ang="5400000"/>
          </a:gradFill>
          <a:ln>
            <a:solidFill>
              <a:srgbClr val="A5A5A5"/>
            </a:solidFill>
          </a:ln>
        </p:spPr>
        <p:style>
          <a:lnRef idx="1">
            <a:schemeClr val="accent3"/>
          </a:lnRef>
          <a:fillRef idx="2">
            <a:schemeClr val="accent3"/>
          </a:fillRef>
          <a:effectRef idx="1">
            <a:schemeClr val="accent3"/>
          </a:effectRef>
          <a:fontRef idx="minor"/>
        </p:style>
      </p:sp>
      <p:pic>
        <p:nvPicPr>
          <p:cNvPr id="123" name="Grafik 15"/>
          <p:cNvPicPr/>
          <p:nvPr/>
        </p:nvPicPr>
        <p:blipFill>
          <a:blip r:embed="rId3"/>
          <a:stretch/>
        </p:blipFill>
        <p:spPr>
          <a:xfrm>
            <a:off x="2607480" y="2525400"/>
            <a:ext cx="1139400" cy="798840"/>
          </a:xfrm>
          <a:prstGeom prst="rect">
            <a:avLst/>
          </a:prstGeom>
          <a:ln w="22225">
            <a:solidFill>
              <a:srgbClr val="000000"/>
            </a:solidFill>
            <a:round/>
          </a:ln>
        </p:spPr>
      </p:pic>
      <p:sp>
        <p:nvSpPr>
          <p:cNvPr id="124" name="Textfeld 16"/>
          <p:cNvSpPr/>
          <p:nvPr/>
        </p:nvSpPr>
        <p:spPr>
          <a:xfrm>
            <a:off x="2521080" y="4098960"/>
            <a:ext cx="7733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Arial"/>
              </a:rPr>
              <a:t>0	 1	 2	 3	 4	 5    (Sekunden)</a:t>
            </a:r>
            <a:endParaRPr lang="en-US" sz="1800" b="0" strike="noStrike" spc="-1">
              <a:latin typeface="Arial"/>
            </a:endParaRPr>
          </a:p>
        </p:txBody>
      </p:sp>
      <p:sp>
        <p:nvSpPr>
          <p:cNvPr id="125" name="Eckige Klammer rechts 17"/>
          <p:cNvSpPr/>
          <p:nvPr/>
        </p:nvSpPr>
        <p:spPr>
          <a:xfrm rot="16200000" flipH="1">
            <a:off x="6023520" y="2469240"/>
            <a:ext cx="45360" cy="192204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126" name="Textfeld 18"/>
          <p:cNvSpPr/>
          <p:nvPr/>
        </p:nvSpPr>
        <p:spPr>
          <a:xfrm>
            <a:off x="4963680" y="2742120"/>
            <a:ext cx="2084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1800" b="1" strike="noStrike" spc="-1">
                <a:solidFill>
                  <a:srgbClr val="FF0000"/>
                </a:solidFill>
                <a:latin typeface="Arial"/>
              </a:rPr>
              <a:t>Richtig</a:t>
            </a:r>
            <a:endParaRPr lang="en-US" sz="1800" b="0" strike="noStrike" spc="-1">
              <a:latin typeface="Arial"/>
            </a:endParaRPr>
          </a:p>
          <a:p>
            <a:pPr algn="ctr">
              <a:lnSpc>
                <a:spcPct val="100000"/>
              </a:lnSpc>
              <a:buNone/>
            </a:pPr>
            <a:r>
              <a:rPr lang="de-DE" sz="1800" b="1" strike="noStrike" spc="-1">
                <a:solidFill>
                  <a:srgbClr val="FF0000"/>
                </a:solidFill>
                <a:latin typeface="Arial"/>
              </a:rPr>
              <a:t>Das ist Sonne </a:t>
            </a:r>
            <a:endParaRPr lang="en-US" sz="1800" b="0" strike="noStrike" spc="-1">
              <a:latin typeface="Arial"/>
            </a:endParaRPr>
          </a:p>
        </p:txBody>
      </p:sp>
      <p:sp>
        <p:nvSpPr>
          <p:cNvPr id="127" name="Textfeld 19"/>
          <p:cNvSpPr/>
          <p:nvPr/>
        </p:nvSpPr>
        <p:spPr>
          <a:xfrm>
            <a:off x="2770200" y="2119320"/>
            <a:ext cx="919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1" strike="noStrike" spc="-1">
                <a:solidFill>
                  <a:srgbClr val="FF0000"/>
                </a:solidFill>
                <a:latin typeface="Arial"/>
              </a:rPr>
              <a:t>Sonne</a:t>
            </a:r>
            <a:endParaRPr lang="en-US" sz="1800" b="0" strike="noStrike" spc="-1">
              <a:latin typeface="Arial"/>
            </a:endParaRPr>
          </a:p>
        </p:txBody>
      </p:sp>
      <p:sp>
        <p:nvSpPr>
          <p:cNvPr id="128" name="Textfeld 20"/>
          <p:cNvSpPr/>
          <p:nvPr/>
        </p:nvSpPr>
        <p:spPr>
          <a:xfrm>
            <a:off x="4963680" y="3626640"/>
            <a:ext cx="221580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1" strike="noStrike" spc="-1">
                <a:solidFill>
                  <a:srgbClr val="FFFFFF"/>
                </a:solidFill>
                <a:latin typeface="Calibri"/>
              </a:rPr>
              <a:t>Rückmeldung (2 Sek)</a:t>
            </a:r>
            <a:endParaRPr lang="en-US" sz="1800" b="0" strike="noStrike" spc="-1">
              <a:latin typeface="Arial"/>
            </a:endParaRPr>
          </a:p>
        </p:txBody>
      </p:sp>
      <p:pic>
        <p:nvPicPr>
          <p:cNvPr id="129" name="Grafik 22"/>
          <p:cNvPicPr/>
          <p:nvPr/>
        </p:nvPicPr>
        <p:blipFill>
          <a:blip r:embed="rId4"/>
          <a:stretch/>
        </p:blipFill>
        <p:spPr>
          <a:xfrm>
            <a:off x="2794320" y="4978080"/>
            <a:ext cx="1002960" cy="995400"/>
          </a:xfrm>
          <a:prstGeom prst="rect">
            <a:avLst/>
          </a:prstGeom>
          <a:ln w="0">
            <a:noFill/>
          </a:ln>
        </p:spPr>
      </p:pic>
      <p:sp>
        <p:nvSpPr>
          <p:cNvPr id="130" name="Textfeld 23"/>
          <p:cNvSpPr/>
          <p:nvPr/>
        </p:nvSpPr>
        <p:spPr>
          <a:xfrm>
            <a:off x="260748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131" name="Textfeld 24"/>
          <p:cNvSpPr/>
          <p:nvPr/>
        </p:nvSpPr>
        <p:spPr>
          <a:xfrm>
            <a:off x="356796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94600" y="178920"/>
            <a:ext cx="9764640" cy="4206600"/>
          </a:xfrm>
          <a:prstGeom prst="rect">
            <a:avLst/>
          </a:prstGeom>
          <a:noFill/>
          <a:ln w="0">
            <a:noFill/>
          </a:ln>
        </p:spPr>
        <p:txBody>
          <a:bodyPr numCol="1" spcCol="0" anchor="ctr">
            <a:noAutofit/>
          </a:bodyPr>
          <a:lstStyle/>
          <a:p>
            <a:pPr>
              <a:lnSpc>
                <a:spcPct val="90000"/>
              </a:lnSpc>
              <a:buNone/>
            </a:pPr>
            <a:r>
              <a:rPr lang="en-US" sz="2000" b="1" u="sng" strike="noStrike" spc="-1" dirty="0" err="1">
                <a:solidFill>
                  <a:srgbClr val="000000"/>
                </a:solidFill>
                <a:uFillTx/>
                <a:latin typeface="Arial"/>
              </a:rPr>
              <a:t>Ablauf</a:t>
            </a:r>
            <a:r>
              <a:rPr lang="en-US" sz="2000" b="1" u="sng" strike="noStrike" spc="-1" dirty="0">
                <a:solidFill>
                  <a:srgbClr val="000000"/>
                </a:solidFill>
                <a:uFillTx/>
                <a:latin typeface="Arial"/>
              </a:rPr>
              <a:t> des </a:t>
            </a:r>
            <a:r>
              <a:rPr lang="en-US" sz="2000" b="1" u="sng" strike="noStrike" spc="-1" dirty="0" err="1">
                <a:solidFill>
                  <a:srgbClr val="000000"/>
                </a:solidFill>
                <a:uFillTx/>
                <a:latin typeface="Arial"/>
              </a:rPr>
              <a:t>Gesamtexperiments</a:t>
            </a:r>
            <a:br>
              <a:rPr sz="2000" dirty="0"/>
            </a:br>
            <a:br>
              <a:rPr sz="2000" dirty="0"/>
            </a:br>
            <a:r>
              <a:rPr lang="de-DE" sz="2000" b="0" strike="noStrike" spc="-1" dirty="0">
                <a:solidFill>
                  <a:srgbClr val="000000"/>
                </a:solidFill>
                <a:latin typeface="Arial"/>
              </a:rPr>
              <a:t>Beide Aufgaben werden wiederholt in kurzen </a:t>
            </a:r>
            <a:r>
              <a:rPr lang="de-DE" sz="2000" b="1" strike="noStrike" spc="-1" dirty="0">
                <a:solidFill>
                  <a:srgbClr val="000000"/>
                </a:solidFill>
                <a:latin typeface="Arial"/>
              </a:rPr>
              <a:t>Blöcken von je 3 Minuten </a:t>
            </a:r>
            <a:r>
              <a:rPr lang="de-DE" sz="2000" b="0" strike="noStrike" spc="-1" dirty="0">
                <a:solidFill>
                  <a:srgbClr val="000000"/>
                </a:solidFill>
                <a:latin typeface="Arial"/>
              </a:rPr>
              <a:t>durchgeführt (</a:t>
            </a:r>
            <a:r>
              <a:rPr lang="de-DE" sz="2000" b="1" strike="noStrike" spc="-1" dirty="0">
                <a:solidFill>
                  <a:srgbClr val="000000"/>
                </a:solidFill>
                <a:latin typeface="Arial"/>
              </a:rPr>
              <a:t>2x</a:t>
            </a:r>
            <a:r>
              <a:rPr lang="de-DE" sz="2000" b="0" strike="noStrike" spc="-1" dirty="0">
                <a:solidFill>
                  <a:srgbClr val="000000"/>
                </a:solidFill>
                <a:latin typeface="Arial"/>
              </a:rPr>
              <a:t> Bild-Wort Entscheidung; </a:t>
            </a:r>
            <a:r>
              <a:rPr lang="de-DE" sz="2000" b="1" spc="-1" dirty="0">
                <a:solidFill>
                  <a:srgbClr val="000000"/>
                </a:solidFill>
                <a:latin typeface="Arial"/>
              </a:rPr>
              <a:t>4</a:t>
            </a:r>
            <a:r>
              <a:rPr lang="de-DE" sz="2000" b="1" strike="noStrike" spc="-1" dirty="0">
                <a:solidFill>
                  <a:srgbClr val="000000"/>
                </a:solidFill>
                <a:latin typeface="Arial"/>
              </a:rPr>
              <a:t>x</a:t>
            </a:r>
            <a:r>
              <a:rPr lang="de-DE" sz="2000" b="0" strike="noStrike" spc="-1" dirty="0">
                <a:solidFill>
                  <a:srgbClr val="000000"/>
                </a:solidFill>
                <a:latin typeface="Arial"/>
              </a:rPr>
              <a:t> Lernaufgabe).</a:t>
            </a:r>
            <a:br>
              <a:rPr sz="2000" dirty="0"/>
            </a:br>
            <a:br>
              <a:rPr sz="2000" dirty="0"/>
            </a:br>
            <a:r>
              <a:rPr lang="de-DE" sz="2000" b="0" strike="noStrike" spc="-1" dirty="0">
                <a:solidFill>
                  <a:srgbClr val="000000"/>
                </a:solidFill>
                <a:latin typeface="Arial"/>
              </a:rPr>
              <a:t>Die </a:t>
            </a:r>
            <a:r>
              <a:rPr lang="de-DE" sz="2000" b="1" strike="noStrike" spc="-1" dirty="0">
                <a:solidFill>
                  <a:srgbClr val="000000"/>
                </a:solidFill>
                <a:latin typeface="Arial"/>
              </a:rPr>
              <a:t>Abfolge der Aufgaben ist zufällig </a:t>
            </a:r>
            <a:r>
              <a:rPr lang="de-DE" sz="2000" b="0" strike="noStrike" spc="-1" dirty="0">
                <a:solidFill>
                  <a:srgbClr val="000000"/>
                </a:solidFill>
                <a:latin typeface="Arial"/>
              </a:rPr>
              <a:t>und wird kurz davor durch eine </a:t>
            </a:r>
            <a:r>
              <a:rPr lang="de-DE" sz="2000" b="1" strike="noStrike" spc="-1" dirty="0">
                <a:solidFill>
                  <a:srgbClr val="000000"/>
                </a:solidFill>
                <a:latin typeface="Arial"/>
              </a:rPr>
              <a:t>Sprechblase </a:t>
            </a:r>
            <a:r>
              <a:rPr lang="de-DE" sz="2000" b="0" strike="noStrike" spc="-1" dirty="0">
                <a:solidFill>
                  <a:srgbClr val="000000"/>
                </a:solidFill>
                <a:latin typeface="Arial"/>
              </a:rPr>
              <a:t>angekündigt.</a:t>
            </a:r>
            <a:br>
              <a:rPr sz="2000" dirty="0"/>
            </a:br>
            <a:br>
              <a:rPr sz="2000" dirty="0"/>
            </a:br>
            <a:r>
              <a:rPr lang="de-DE" sz="2000" b="0" strike="noStrike" spc="-1" dirty="0">
                <a:solidFill>
                  <a:srgbClr val="000000"/>
                </a:solidFill>
                <a:latin typeface="Arial"/>
              </a:rPr>
              <a:t>In jedem Block werden </a:t>
            </a:r>
            <a:r>
              <a:rPr lang="de-DE" sz="2000" b="1" strike="noStrike" spc="-1" dirty="0">
                <a:solidFill>
                  <a:srgbClr val="000000"/>
                </a:solidFill>
                <a:latin typeface="Arial"/>
              </a:rPr>
              <a:t>andere Bilder und (Pseudo)Wort Kombinationen</a:t>
            </a:r>
            <a:r>
              <a:rPr lang="de-DE" sz="2000" b="0" strike="noStrike" spc="-1" dirty="0">
                <a:solidFill>
                  <a:srgbClr val="000000"/>
                </a:solidFill>
                <a:latin typeface="Arial"/>
              </a:rPr>
              <a:t> verwendet.</a:t>
            </a:r>
            <a:br>
              <a:rPr sz="2000" dirty="0"/>
            </a:br>
            <a:br>
              <a:rPr sz="2000" dirty="0"/>
            </a:br>
            <a:r>
              <a:rPr lang="de-DE" sz="2000" b="0" strike="noStrike" spc="-1" dirty="0">
                <a:solidFill>
                  <a:srgbClr val="000000"/>
                </a:solidFill>
                <a:latin typeface="Arial"/>
              </a:rPr>
              <a:t>Zwischen den Aufgaben gibt es kurze Pausen, in denen wir Sie bitten auf ein Kreuz zu schauen (ca. 15 Sekunden).</a:t>
            </a:r>
            <a:br>
              <a:rPr sz="2000" dirty="0"/>
            </a:br>
            <a:br>
              <a:rPr sz="2000" dirty="0"/>
            </a:br>
            <a:r>
              <a:rPr lang="en-US" sz="2000" b="0" strike="noStrike" spc="-1" dirty="0" err="1">
                <a:solidFill>
                  <a:srgbClr val="000000"/>
                </a:solidFill>
                <a:latin typeface="Arial"/>
              </a:rPr>
              <a:t>Insgesamt</a:t>
            </a:r>
            <a:r>
              <a:rPr lang="en-US" sz="2000" b="0" strike="noStrike" spc="-1" dirty="0">
                <a:solidFill>
                  <a:srgbClr val="000000"/>
                </a:solidFill>
                <a:latin typeface="Arial"/>
              </a:rPr>
              <a:t> </a:t>
            </a:r>
            <a:r>
              <a:rPr lang="en-US" sz="2000" b="0" strike="noStrike" spc="-1" dirty="0" err="1">
                <a:solidFill>
                  <a:srgbClr val="000000"/>
                </a:solidFill>
                <a:latin typeface="Arial"/>
              </a:rPr>
              <a:t>dauert</a:t>
            </a:r>
            <a:r>
              <a:rPr lang="en-US" sz="2000" b="0" strike="noStrike" spc="-1" dirty="0">
                <a:solidFill>
                  <a:srgbClr val="000000"/>
                </a:solidFill>
                <a:latin typeface="Arial"/>
              </a:rPr>
              <a:t> das Experiment ca. </a:t>
            </a:r>
            <a:r>
              <a:rPr lang="en-US" sz="2000" b="1" spc="-1" dirty="0">
                <a:solidFill>
                  <a:srgbClr val="000000"/>
                </a:solidFill>
                <a:latin typeface="Arial"/>
              </a:rPr>
              <a:t>29</a:t>
            </a:r>
            <a:r>
              <a:rPr lang="en-US" sz="2000" b="1" strike="noStrike" spc="-1" dirty="0">
                <a:solidFill>
                  <a:srgbClr val="000000"/>
                </a:solidFill>
                <a:latin typeface="Arial"/>
              </a:rPr>
              <a:t> </a:t>
            </a:r>
            <a:r>
              <a:rPr lang="en-US" sz="2000" b="1" strike="noStrike" spc="-1" dirty="0" err="1">
                <a:solidFill>
                  <a:srgbClr val="000000"/>
                </a:solidFill>
                <a:latin typeface="Arial"/>
              </a:rPr>
              <a:t>Minuten</a:t>
            </a:r>
            <a:r>
              <a:rPr lang="en-US" sz="2000" b="1" strike="noStrike" spc="-1" dirty="0">
                <a:solidFill>
                  <a:srgbClr val="000000"/>
                </a:solidFill>
                <a:latin typeface="Arial"/>
              </a:rPr>
              <a:t>.</a:t>
            </a:r>
            <a:endParaRPr lang="de-DE" sz="2000" b="0" strike="noStrike" spc="-1" dirty="0">
              <a:solidFill>
                <a:srgbClr val="000000"/>
              </a:solidFill>
              <a:latin typeface="Calibri"/>
            </a:endParaRPr>
          </a:p>
        </p:txBody>
      </p:sp>
      <p:sp>
        <p:nvSpPr>
          <p:cNvPr id="133" name="Rechteck 1"/>
          <p:cNvSpPr/>
          <p:nvPr/>
        </p:nvSpPr>
        <p:spPr>
          <a:xfrm>
            <a:off x="1018800" y="5383800"/>
            <a:ext cx="1370520" cy="711720"/>
          </a:xfrm>
          <a:prstGeom prst="rect">
            <a:avLst/>
          </a:prstGeom>
          <a:gradFill rotWithShape="0">
            <a:gsLst>
              <a:gs pos="0">
                <a:srgbClr val="A8B7DF"/>
              </a:gs>
              <a:gs pos="100000">
                <a:srgbClr val="9AABD9"/>
              </a:gs>
            </a:gsLst>
            <a:lin ang="5400000"/>
          </a:gradFill>
          <a:ln>
            <a:solidFill>
              <a:srgbClr val="4472C4"/>
            </a:solidFill>
          </a:ln>
        </p:spPr>
        <p:style>
          <a:lnRef idx="1">
            <a:schemeClr val="accent5"/>
          </a:lnRef>
          <a:fillRef idx="2">
            <a:schemeClr val="accent5"/>
          </a:fillRef>
          <a:effectRef idx="1">
            <a:schemeClr val="accent5"/>
          </a:effectRef>
          <a:fontRef idx="minor"/>
        </p:style>
        <p:txBody>
          <a:bodyPr lIns="90000" tIns="45000" rIns="90000" bIns="45000" anchor="ctr">
            <a:noAutofit/>
          </a:bodyPr>
          <a:lstStyle/>
          <a:p>
            <a:pPr algn="ctr">
              <a:lnSpc>
                <a:spcPct val="100000"/>
              </a:lnSpc>
              <a:buNone/>
            </a:pPr>
            <a:r>
              <a:rPr lang="de-DE" sz="1800" b="1" strike="noStrike" spc="-1">
                <a:solidFill>
                  <a:srgbClr val="000000"/>
                </a:solidFill>
                <a:latin typeface="Calibri"/>
              </a:rPr>
              <a:t>Aufgabe 2</a:t>
            </a:r>
            <a:endParaRPr lang="en-US" sz="1800" b="0" strike="noStrike" spc="-1">
              <a:latin typeface="Arial"/>
            </a:endParaRPr>
          </a:p>
          <a:p>
            <a:pPr algn="ctr">
              <a:lnSpc>
                <a:spcPct val="100000"/>
              </a:lnSpc>
              <a:buNone/>
            </a:pPr>
            <a:r>
              <a:rPr lang="de-DE" sz="1600" b="0" strike="noStrike" spc="-1">
                <a:solidFill>
                  <a:srgbClr val="000000"/>
                </a:solidFill>
                <a:latin typeface="Calibri"/>
              </a:rPr>
              <a:t>Lernen</a:t>
            </a:r>
            <a:endParaRPr lang="en-US" sz="1600" b="0" strike="noStrike" spc="-1">
              <a:latin typeface="Arial"/>
            </a:endParaRPr>
          </a:p>
        </p:txBody>
      </p:sp>
      <p:sp>
        <p:nvSpPr>
          <p:cNvPr id="134" name="Rechteck 5"/>
          <p:cNvSpPr/>
          <p:nvPr/>
        </p:nvSpPr>
        <p:spPr>
          <a:xfrm>
            <a:off x="2685240" y="5383800"/>
            <a:ext cx="1370520" cy="711720"/>
          </a:xfrm>
          <a:prstGeom prst="rect">
            <a:avLst/>
          </a:prstGeom>
          <a:gradFill rotWithShape="0">
            <a:gsLst>
              <a:gs pos="0">
                <a:srgbClr val="B5D4A7"/>
              </a:gs>
              <a:gs pos="100000">
                <a:srgbClr val="A9CD99"/>
              </a:gs>
            </a:gsLst>
            <a:lin ang="5400000"/>
          </a:gradFill>
          <a:ln>
            <a:solidFill>
              <a:srgbClr val="70AD47"/>
            </a:solidFill>
          </a:ln>
        </p:spPr>
        <p:style>
          <a:lnRef idx="1">
            <a:schemeClr val="accent6"/>
          </a:lnRef>
          <a:fillRef idx="2">
            <a:schemeClr val="accent6"/>
          </a:fillRef>
          <a:effectRef idx="1">
            <a:schemeClr val="accent6"/>
          </a:effectRef>
          <a:fontRef idx="minor"/>
        </p:style>
        <p:txBody>
          <a:bodyPr lIns="90000" tIns="45000" rIns="90000" bIns="45000" anchor="ctr">
            <a:noAutofit/>
          </a:bodyPr>
          <a:lstStyle/>
          <a:p>
            <a:pPr algn="ctr">
              <a:lnSpc>
                <a:spcPct val="100000"/>
              </a:lnSpc>
              <a:buNone/>
            </a:pPr>
            <a:r>
              <a:rPr lang="de-DE" sz="1800" b="1" strike="noStrike" spc="-1">
                <a:solidFill>
                  <a:srgbClr val="000000"/>
                </a:solidFill>
                <a:latin typeface="Calibri"/>
              </a:rPr>
              <a:t>Aufgabe 1</a:t>
            </a:r>
            <a:endParaRPr lang="en-US" sz="1800" b="0" strike="noStrike" spc="-1">
              <a:latin typeface="Arial"/>
            </a:endParaRPr>
          </a:p>
          <a:p>
            <a:pPr algn="ctr">
              <a:lnSpc>
                <a:spcPct val="100000"/>
              </a:lnSpc>
              <a:buNone/>
            </a:pPr>
            <a:r>
              <a:rPr lang="de-DE" sz="1600" b="0" strike="noStrike" spc="-1">
                <a:solidFill>
                  <a:srgbClr val="000000"/>
                </a:solidFill>
                <a:latin typeface="Calibri"/>
              </a:rPr>
              <a:t>Entscheidung</a:t>
            </a:r>
            <a:endParaRPr lang="en-US" sz="1600" b="0" strike="noStrike" spc="-1">
              <a:latin typeface="Arial"/>
            </a:endParaRPr>
          </a:p>
        </p:txBody>
      </p:sp>
      <p:sp>
        <p:nvSpPr>
          <p:cNvPr id="135" name="Rechteck 8"/>
          <p:cNvSpPr/>
          <p:nvPr/>
        </p:nvSpPr>
        <p:spPr>
          <a:xfrm>
            <a:off x="4351680" y="5383800"/>
            <a:ext cx="1370520" cy="711720"/>
          </a:xfrm>
          <a:prstGeom prst="rect">
            <a:avLst/>
          </a:prstGeom>
          <a:gradFill rotWithShape="0">
            <a:gsLst>
              <a:gs pos="0">
                <a:srgbClr val="A8B7DF"/>
              </a:gs>
              <a:gs pos="100000">
                <a:srgbClr val="9AABD9"/>
              </a:gs>
            </a:gsLst>
            <a:lin ang="5400000"/>
          </a:gradFill>
          <a:ln>
            <a:solidFill>
              <a:srgbClr val="4472C4"/>
            </a:solidFill>
          </a:ln>
        </p:spPr>
        <p:style>
          <a:lnRef idx="1">
            <a:schemeClr val="accent5"/>
          </a:lnRef>
          <a:fillRef idx="2">
            <a:schemeClr val="accent5"/>
          </a:fillRef>
          <a:effectRef idx="1">
            <a:schemeClr val="accent5"/>
          </a:effectRef>
          <a:fontRef idx="minor"/>
        </p:style>
        <p:txBody>
          <a:bodyPr lIns="90000" tIns="45000" rIns="90000" bIns="45000" anchor="ctr">
            <a:noAutofit/>
          </a:bodyPr>
          <a:lstStyle/>
          <a:p>
            <a:pPr algn="ctr">
              <a:lnSpc>
                <a:spcPct val="100000"/>
              </a:lnSpc>
              <a:buNone/>
            </a:pPr>
            <a:r>
              <a:rPr lang="de-DE" sz="1800" b="1" strike="noStrike" spc="-1">
                <a:solidFill>
                  <a:srgbClr val="000000"/>
                </a:solidFill>
                <a:latin typeface="Calibri"/>
              </a:rPr>
              <a:t>Aufgabe 2</a:t>
            </a:r>
            <a:endParaRPr lang="en-US" sz="1800" b="0" strike="noStrike" spc="-1">
              <a:latin typeface="Arial"/>
            </a:endParaRPr>
          </a:p>
          <a:p>
            <a:pPr algn="ctr">
              <a:lnSpc>
                <a:spcPct val="100000"/>
              </a:lnSpc>
              <a:buNone/>
            </a:pPr>
            <a:r>
              <a:rPr lang="de-DE" sz="1600" b="0" strike="noStrike" spc="-1">
                <a:solidFill>
                  <a:srgbClr val="000000"/>
                </a:solidFill>
                <a:latin typeface="Calibri"/>
              </a:rPr>
              <a:t>Lernen</a:t>
            </a:r>
            <a:endParaRPr lang="en-US" sz="1600" b="0" strike="noStrike" spc="-1">
              <a:latin typeface="Arial"/>
            </a:endParaRPr>
          </a:p>
        </p:txBody>
      </p:sp>
      <p:sp>
        <p:nvSpPr>
          <p:cNvPr id="136" name="Textfeld 9"/>
          <p:cNvSpPr/>
          <p:nvPr/>
        </p:nvSpPr>
        <p:spPr>
          <a:xfrm>
            <a:off x="2396880" y="5555520"/>
            <a:ext cx="280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Calibri"/>
              </a:rPr>
              <a:t>+</a:t>
            </a:r>
            <a:endParaRPr lang="en-US" sz="1800" b="0" strike="noStrike" spc="-1">
              <a:latin typeface="Arial"/>
            </a:endParaRPr>
          </a:p>
        </p:txBody>
      </p:sp>
      <p:sp>
        <p:nvSpPr>
          <p:cNvPr id="137" name="Textfeld 10"/>
          <p:cNvSpPr/>
          <p:nvPr/>
        </p:nvSpPr>
        <p:spPr>
          <a:xfrm>
            <a:off x="4052160" y="5555520"/>
            <a:ext cx="280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Calibri"/>
              </a:rPr>
              <a:t>+</a:t>
            </a:r>
            <a:endParaRPr lang="en-US" sz="1800" b="0" strike="noStrike" spc="-1">
              <a:latin typeface="Arial"/>
            </a:endParaRPr>
          </a:p>
        </p:txBody>
      </p:sp>
      <p:sp>
        <p:nvSpPr>
          <p:cNvPr id="138" name="Rechteck 11"/>
          <p:cNvSpPr/>
          <p:nvPr/>
        </p:nvSpPr>
        <p:spPr>
          <a:xfrm>
            <a:off x="6017760" y="5383800"/>
            <a:ext cx="1370520" cy="711720"/>
          </a:xfrm>
          <a:prstGeom prst="rect">
            <a:avLst/>
          </a:prstGeom>
          <a:gradFill rotWithShape="0">
            <a:gsLst>
              <a:gs pos="0">
                <a:srgbClr val="A8B7DF"/>
              </a:gs>
              <a:gs pos="100000">
                <a:srgbClr val="9AABD9"/>
              </a:gs>
            </a:gsLst>
            <a:lin ang="5400000"/>
          </a:gradFill>
          <a:ln>
            <a:solidFill>
              <a:srgbClr val="4472C4"/>
            </a:solidFill>
          </a:ln>
        </p:spPr>
        <p:style>
          <a:lnRef idx="1">
            <a:schemeClr val="accent5"/>
          </a:lnRef>
          <a:fillRef idx="2">
            <a:schemeClr val="accent5"/>
          </a:fillRef>
          <a:effectRef idx="1">
            <a:schemeClr val="accent5"/>
          </a:effectRef>
          <a:fontRef idx="minor"/>
        </p:style>
        <p:txBody>
          <a:bodyPr lIns="90000" tIns="45000" rIns="90000" bIns="45000" anchor="ctr">
            <a:noAutofit/>
          </a:bodyPr>
          <a:lstStyle/>
          <a:p>
            <a:pPr algn="ctr">
              <a:lnSpc>
                <a:spcPct val="100000"/>
              </a:lnSpc>
              <a:buNone/>
            </a:pPr>
            <a:r>
              <a:rPr lang="de-DE" sz="1800" b="1" strike="noStrike" spc="-1">
                <a:solidFill>
                  <a:srgbClr val="000000"/>
                </a:solidFill>
                <a:latin typeface="Calibri"/>
              </a:rPr>
              <a:t>Aufgabe 2</a:t>
            </a:r>
            <a:endParaRPr lang="en-US" sz="1800" b="0" strike="noStrike" spc="-1">
              <a:latin typeface="Arial"/>
            </a:endParaRPr>
          </a:p>
          <a:p>
            <a:pPr algn="ctr">
              <a:lnSpc>
                <a:spcPct val="100000"/>
              </a:lnSpc>
              <a:buNone/>
            </a:pPr>
            <a:r>
              <a:rPr lang="de-DE" sz="1600" b="0" strike="noStrike" spc="-1">
                <a:solidFill>
                  <a:srgbClr val="000000"/>
                </a:solidFill>
                <a:latin typeface="Calibri"/>
              </a:rPr>
              <a:t>Lernen</a:t>
            </a:r>
            <a:endParaRPr lang="en-US" sz="1600" b="0" strike="noStrike" spc="-1">
              <a:latin typeface="Arial"/>
            </a:endParaRPr>
          </a:p>
        </p:txBody>
      </p:sp>
      <p:sp>
        <p:nvSpPr>
          <p:cNvPr id="139" name="Textfeld 12"/>
          <p:cNvSpPr/>
          <p:nvPr/>
        </p:nvSpPr>
        <p:spPr>
          <a:xfrm>
            <a:off x="5722560" y="5555520"/>
            <a:ext cx="280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Calibri"/>
              </a:rPr>
              <a:t>+</a:t>
            </a:r>
            <a:endParaRPr lang="en-US" sz="1800" b="0" strike="noStrike" spc="-1">
              <a:latin typeface="Arial"/>
            </a:endParaRPr>
          </a:p>
        </p:txBody>
      </p:sp>
      <p:sp>
        <p:nvSpPr>
          <p:cNvPr id="140" name="Rechteck 13"/>
          <p:cNvSpPr/>
          <p:nvPr/>
        </p:nvSpPr>
        <p:spPr>
          <a:xfrm>
            <a:off x="7684200" y="5383800"/>
            <a:ext cx="1370520" cy="711720"/>
          </a:xfrm>
          <a:prstGeom prst="rect">
            <a:avLst/>
          </a:prstGeom>
          <a:gradFill rotWithShape="0">
            <a:gsLst>
              <a:gs pos="0">
                <a:srgbClr val="B5D4A7"/>
              </a:gs>
              <a:gs pos="100000">
                <a:srgbClr val="A9CD99"/>
              </a:gs>
            </a:gsLst>
            <a:lin ang="5400000"/>
          </a:gradFill>
          <a:ln>
            <a:solidFill>
              <a:srgbClr val="70AD47"/>
            </a:solidFill>
          </a:ln>
        </p:spPr>
        <p:style>
          <a:lnRef idx="1">
            <a:schemeClr val="accent6"/>
          </a:lnRef>
          <a:fillRef idx="2">
            <a:schemeClr val="accent6"/>
          </a:fillRef>
          <a:effectRef idx="1">
            <a:schemeClr val="accent6"/>
          </a:effectRef>
          <a:fontRef idx="minor"/>
        </p:style>
        <p:txBody>
          <a:bodyPr lIns="90000" tIns="45000" rIns="90000" bIns="45000" anchor="ctr">
            <a:noAutofit/>
          </a:bodyPr>
          <a:lstStyle/>
          <a:p>
            <a:pPr algn="ctr">
              <a:lnSpc>
                <a:spcPct val="100000"/>
              </a:lnSpc>
              <a:buNone/>
            </a:pPr>
            <a:r>
              <a:rPr lang="de-DE" sz="1800" b="1" strike="noStrike" spc="-1">
                <a:solidFill>
                  <a:srgbClr val="000000"/>
                </a:solidFill>
                <a:latin typeface="Calibri"/>
              </a:rPr>
              <a:t>Aufgabe 1</a:t>
            </a:r>
            <a:endParaRPr lang="en-US" sz="1800" b="0" strike="noStrike" spc="-1">
              <a:latin typeface="Arial"/>
            </a:endParaRPr>
          </a:p>
          <a:p>
            <a:pPr algn="ctr">
              <a:lnSpc>
                <a:spcPct val="100000"/>
              </a:lnSpc>
              <a:buNone/>
            </a:pPr>
            <a:r>
              <a:rPr lang="de-DE" sz="1600" b="0" strike="noStrike" spc="-1">
                <a:solidFill>
                  <a:srgbClr val="000000"/>
                </a:solidFill>
                <a:latin typeface="Calibri"/>
              </a:rPr>
              <a:t>Entscheidung</a:t>
            </a:r>
            <a:endParaRPr lang="en-US" sz="1600" b="0" strike="noStrike" spc="-1">
              <a:latin typeface="Arial"/>
            </a:endParaRPr>
          </a:p>
        </p:txBody>
      </p:sp>
      <p:sp>
        <p:nvSpPr>
          <p:cNvPr id="141" name="Textfeld 14"/>
          <p:cNvSpPr/>
          <p:nvPr/>
        </p:nvSpPr>
        <p:spPr>
          <a:xfrm>
            <a:off x="7379280" y="5555520"/>
            <a:ext cx="280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Calibri"/>
              </a:rPr>
              <a:t>+</a:t>
            </a:r>
            <a:endParaRPr lang="en-US" sz="1800" b="0" strike="noStrike" spc="-1">
              <a:latin typeface="Arial"/>
            </a:endParaRPr>
          </a:p>
        </p:txBody>
      </p:sp>
      <p:sp>
        <p:nvSpPr>
          <p:cNvPr id="142" name="Textfeld 15"/>
          <p:cNvSpPr/>
          <p:nvPr/>
        </p:nvSpPr>
        <p:spPr>
          <a:xfrm>
            <a:off x="9066600" y="5555520"/>
            <a:ext cx="280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Calibri"/>
              </a:rPr>
              <a:t>+</a:t>
            </a:r>
            <a:endParaRPr lang="en-US" sz="1800" b="0" strike="noStrike" spc="-1">
              <a:latin typeface="Arial"/>
            </a:endParaRPr>
          </a:p>
        </p:txBody>
      </p:sp>
      <p:sp>
        <p:nvSpPr>
          <p:cNvPr id="143" name="Rechteck 16"/>
          <p:cNvSpPr/>
          <p:nvPr/>
        </p:nvSpPr>
        <p:spPr>
          <a:xfrm>
            <a:off x="9358560" y="5383800"/>
            <a:ext cx="1370520" cy="711720"/>
          </a:xfrm>
          <a:prstGeom prst="rect">
            <a:avLst/>
          </a:prstGeom>
          <a:gradFill rotWithShape="0">
            <a:gsLst>
              <a:gs pos="0">
                <a:srgbClr val="A8B7DF"/>
              </a:gs>
              <a:gs pos="100000">
                <a:srgbClr val="9AABD9"/>
              </a:gs>
            </a:gsLst>
            <a:lin ang="5400000"/>
          </a:gradFill>
          <a:ln>
            <a:solidFill>
              <a:srgbClr val="4472C4"/>
            </a:solidFill>
          </a:ln>
        </p:spPr>
        <p:style>
          <a:lnRef idx="1">
            <a:schemeClr val="accent5"/>
          </a:lnRef>
          <a:fillRef idx="2">
            <a:schemeClr val="accent5"/>
          </a:fillRef>
          <a:effectRef idx="1">
            <a:schemeClr val="accent5"/>
          </a:effectRef>
          <a:fontRef idx="minor"/>
        </p:style>
        <p:txBody>
          <a:bodyPr lIns="90000" tIns="45000" rIns="90000" bIns="45000" anchor="ctr">
            <a:noAutofit/>
          </a:bodyPr>
          <a:lstStyle/>
          <a:p>
            <a:pPr algn="ctr">
              <a:lnSpc>
                <a:spcPct val="100000"/>
              </a:lnSpc>
              <a:buNone/>
            </a:pPr>
            <a:r>
              <a:rPr lang="de-DE" sz="1800" b="1" strike="noStrike" spc="-1">
                <a:solidFill>
                  <a:srgbClr val="000000"/>
                </a:solidFill>
                <a:latin typeface="Calibri"/>
              </a:rPr>
              <a:t>Aufgabe 2</a:t>
            </a:r>
            <a:endParaRPr lang="en-US" sz="1800" b="0" strike="noStrike" spc="-1">
              <a:latin typeface="Arial"/>
            </a:endParaRPr>
          </a:p>
          <a:p>
            <a:pPr algn="ctr">
              <a:lnSpc>
                <a:spcPct val="100000"/>
              </a:lnSpc>
              <a:buNone/>
            </a:pPr>
            <a:r>
              <a:rPr lang="de-DE" sz="1600" b="0" strike="noStrike" spc="-1">
                <a:solidFill>
                  <a:srgbClr val="000000"/>
                </a:solidFill>
                <a:latin typeface="Calibri"/>
              </a:rPr>
              <a:t>Lernen</a:t>
            </a:r>
            <a:endParaRPr lang="en-US" sz="1600" b="0" strike="noStrike" spc="-1">
              <a:latin typeface="Arial"/>
            </a:endParaRPr>
          </a:p>
        </p:txBody>
      </p:sp>
      <p:sp>
        <p:nvSpPr>
          <p:cNvPr id="144" name="Textfeld 17"/>
          <p:cNvSpPr/>
          <p:nvPr/>
        </p:nvSpPr>
        <p:spPr>
          <a:xfrm>
            <a:off x="10740960" y="5555520"/>
            <a:ext cx="280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Calibri"/>
              </a:rPr>
              <a:t>+</a:t>
            </a:r>
            <a:endParaRPr lang="en-US" sz="1800" b="0" strike="noStrike" spc="-1">
              <a:latin typeface="Arial"/>
            </a:endParaRPr>
          </a:p>
        </p:txBody>
      </p:sp>
      <p:pic>
        <p:nvPicPr>
          <p:cNvPr id="145" name="Grafik 18"/>
          <p:cNvPicPr/>
          <p:nvPr/>
        </p:nvPicPr>
        <p:blipFill>
          <a:blip r:embed="rId3"/>
          <a:stretch/>
        </p:blipFill>
        <p:spPr>
          <a:xfrm>
            <a:off x="416520" y="4587840"/>
            <a:ext cx="1416240" cy="795600"/>
          </a:xfrm>
          <a:prstGeom prst="rect">
            <a:avLst/>
          </a:prstGeom>
          <a:ln w="0">
            <a:noFill/>
          </a:ln>
        </p:spPr>
      </p:pic>
      <p:pic>
        <p:nvPicPr>
          <p:cNvPr id="146" name="Grafik 19"/>
          <p:cNvPicPr/>
          <p:nvPr/>
        </p:nvPicPr>
        <p:blipFill>
          <a:blip r:embed="rId3"/>
          <a:stretch/>
        </p:blipFill>
        <p:spPr>
          <a:xfrm>
            <a:off x="3838680" y="4587840"/>
            <a:ext cx="1416240" cy="795600"/>
          </a:xfrm>
          <a:prstGeom prst="rect">
            <a:avLst/>
          </a:prstGeom>
          <a:ln w="0">
            <a:noFill/>
          </a:ln>
        </p:spPr>
      </p:pic>
      <p:pic>
        <p:nvPicPr>
          <p:cNvPr id="147" name="Grafik 20"/>
          <p:cNvPicPr/>
          <p:nvPr/>
        </p:nvPicPr>
        <p:blipFill>
          <a:blip r:embed="rId3"/>
          <a:stretch/>
        </p:blipFill>
        <p:spPr>
          <a:xfrm>
            <a:off x="5473800" y="4605480"/>
            <a:ext cx="1416240" cy="795600"/>
          </a:xfrm>
          <a:prstGeom prst="rect">
            <a:avLst/>
          </a:prstGeom>
          <a:ln w="0">
            <a:noFill/>
          </a:ln>
        </p:spPr>
      </p:pic>
      <p:pic>
        <p:nvPicPr>
          <p:cNvPr id="148" name="Grafik 21"/>
          <p:cNvPicPr/>
          <p:nvPr/>
        </p:nvPicPr>
        <p:blipFill>
          <a:blip r:embed="rId3"/>
          <a:stretch/>
        </p:blipFill>
        <p:spPr>
          <a:xfrm>
            <a:off x="8858160" y="4587840"/>
            <a:ext cx="1416240" cy="795600"/>
          </a:xfrm>
          <a:prstGeom prst="rect">
            <a:avLst/>
          </a:prstGeom>
          <a:ln w="0">
            <a:noFill/>
          </a:ln>
        </p:spPr>
      </p:pic>
      <p:pic>
        <p:nvPicPr>
          <p:cNvPr id="149" name="Grafik 22"/>
          <p:cNvPicPr/>
          <p:nvPr/>
        </p:nvPicPr>
        <p:blipFill>
          <a:blip r:embed="rId4"/>
          <a:stretch/>
        </p:blipFill>
        <p:spPr>
          <a:xfrm>
            <a:off x="2159640" y="4559040"/>
            <a:ext cx="1459800" cy="820440"/>
          </a:xfrm>
          <a:prstGeom prst="rect">
            <a:avLst/>
          </a:prstGeom>
          <a:ln w="0">
            <a:noFill/>
          </a:ln>
        </p:spPr>
      </p:pic>
      <p:pic>
        <p:nvPicPr>
          <p:cNvPr id="150" name="Grafik 23"/>
          <p:cNvPicPr/>
          <p:nvPr/>
        </p:nvPicPr>
        <p:blipFill>
          <a:blip r:embed="rId4"/>
          <a:stretch/>
        </p:blipFill>
        <p:spPr>
          <a:xfrm>
            <a:off x="7140240" y="4575600"/>
            <a:ext cx="1459800" cy="820440"/>
          </a:xfrm>
          <a:prstGeom prst="rect">
            <a:avLst/>
          </a:prstGeom>
          <a:ln w="0">
            <a:noFill/>
          </a:ln>
        </p:spPr>
      </p:pic>
      <p:sp>
        <p:nvSpPr>
          <p:cNvPr id="151" name="Textfeld 24"/>
          <p:cNvSpPr/>
          <p:nvPr/>
        </p:nvSpPr>
        <p:spPr>
          <a:xfrm>
            <a:off x="11065680" y="5832360"/>
            <a:ext cx="843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Calibri"/>
              </a:rPr>
              <a:t>……</a:t>
            </a:r>
            <a:endParaRPr lang="en-US" sz="18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600818" y="1722276"/>
            <a:ext cx="9144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e-DE" sz="2000" dirty="0">
                <a:latin typeface="+mn-lt"/>
              </a:rPr>
              <a:t>Zur Erinnerung an den Ablauf der Aufgaben, sehen Sie im folgenden nochmal Beispiele des Ablaufs.</a:t>
            </a:r>
            <a:endParaRPr lang="en-US" sz="2000" dirty="0">
              <a:latin typeface="+mn-lt"/>
            </a:endParaRPr>
          </a:p>
        </p:txBody>
      </p:sp>
      <p:sp>
        <p:nvSpPr>
          <p:cNvPr id="5" name="Textfeld 4"/>
          <p:cNvSpPr txBox="1"/>
          <p:nvPr/>
        </p:nvSpPr>
        <p:spPr>
          <a:xfrm>
            <a:off x="2552308" y="3809490"/>
            <a:ext cx="7241020" cy="400110"/>
          </a:xfrm>
          <a:prstGeom prst="rect">
            <a:avLst/>
          </a:prstGeom>
          <a:noFill/>
        </p:spPr>
        <p:txBody>
          <a:bodyPr wrap="none" rtlCol="0">
            <a:spAutoFit/>
          </a:bodyPr>
          <a:lstStyle/>
          <a:p>
            <a:pPr algn="ctr"/>
            <a:r>
              <a:rPr kumimoji="0" lang="de-DE" altLang="de-DE" sz="2000" i="0" u="none" strike="noStrike" cap="none" normalizeH="0" baseline="0" dirty="0">
                <a:ln>
                  <a:noFill/>
                </a:ln>
                <a:effectLst/>
                <a:latin typeface="Arial" panose="020B0604020202020204" pitchFamily="34" charset="0"/>
              </a:rPr>
              <a:t>Starten Sie den Test-Block durch Drücken der </a:t>
            </a:r>
            <a:r>
              <a:rPr lang="de-DE" sz="2000" spc="-1" dirty="0"/>
              <a:t>Leertaste</a:t>
            </a:r>
            <a:r>
              <a:rPr kumimoji="0" lang="de-DE" altLang="de-DE" sz="2000" i="0" u="none" strike="noStrike" cap="none" normalizeH="0" baseline="0" dirty="0">
                <a:ln>
                  <a:noFill/>
                </a:ln>
                <a:effectLst/>
                <a:latin typeface="Arial" panose="020B0604020202020204" pitchFamily="34" charset="0"/>
              </a:rPr>
              <a:t>-Taste.</a:t>
            </a:r>
          </a:p>
        </p:txBody>
      </p:sp>
    </p:spTree>
    <p:extLst>
      <p:ext uri="{BB962C8B-B14F-4D97-AF65-F5344CB8AC3E}">
        <p14:creationId xmlns:p14="http://schemas.microsoft.com/office/powerpoint/2010/main" val="3574169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feld 1"/>
          <p:cNvSpPr txBox="1"/>
          <p:nvPr/>
        </p:nvSpPr>
        <p:spPr>
          <a:xfrm>
            <a:off x="3886200" y="2583474"/>
            <a:ext cx="4352924" cy="400110"/>
          </a:xfrm>
          <a:prstGeom prst="rect">
            <a:avLst/>
          </a:prstGeom>
          <a:noFill/>
        </p:spPr>
        <p:txBody>
          <a:bodyPr wrap="square" rtlCol="0">
            <a:spAutoFit/>
          </a:bodyPr>
          <a:lstStyle/>
          <a:p>
            <a:pPr algn="ctr"/>
            <a:r>
              <a:rPr lang="de-DE" sz="2000" b="1" dirty="0">
                <a:solidFill>
                  <a:schemeClr val="bg1"/>
                </a:solidFill>
                <a:latin typeface="Arial" panose="020B0604020202020204" pitchFamily="34" charset="0"/>
                <a:cs typeface="Arial" panose="020B0604020202020204" pitchFamily="34" charset="0"/>
              </a:rPr>
              <a:t>Sind Sie bereit?</a:t>
            </a:r>
          </a:p>
        </p:txBody>
      </p:sp>
    </p:spTree>
    <p:extLst>
      <p:ext uri="{BB962C8B-B14F-4D97-AF65-F5344CB8AC3E}">
        <p14:creationId xmlns:p14="http://schemas.microsoft.com/office/powerpoint/2010/main" val="18197072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7678" y="2001609"/>
            <a:ext cx="5116643" cy="2854781"/>
          </a:xfrm>
          <a:prstGeom prst="rect">
            <a:avLst/>
          </a:prstGeom>
        </p:spPr>
      </p:pic>
    </p:spTree>
    <p:extLst>
      <p:ext uri="{BB962C8B-B14F-4D97-AF65-F5344CB8AC3E}">
        <p14:creationId xmlns:p14="http://schemas.microsoft.com/office/powerpoint/2010/main" val="3517539305"/>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feld 1"/>
          <p:cNvSpPr txBox="1"/>
          <p:nvPr/>
        </p:nvSpPr>
        <p:spPr>
          <a:xfrm>
            <a:off x="4667250" y="5024003"/>
            <a:ext cx="2857500" cy="711777"/>
          </a:xfrm>
          <a:prstGeom prst="rect">
            <a:avLst/>
          </a:prstGeom>
          <a:noFill/>
        </p:spPr>
        <p:txBody>
          <a:bodyPr wrap="square" rtlCol="0">
            <a:spAutoFit/>
          </a:bodyPr>
          <a:lstStyle/>
          <a:p>
            <a:pPr algn="ctr"/>
            <a:r>
              <a:rPr lang="de-DE" sz="4000" b="1" dirty="0" err="1">
                <a:solidFill>
                  <a:schemeClr val="bg1"/>
                </a:solidFill>
                <a:latin typeface="Arial" panose="020B0604020202020204" pitchFamily="34" charset="0"/>
                <a:cs typeface="Arial" panose="020B0604020202020204" pitchFamily="34" charset="0"/>
              </a:rPr>
              <a:t>Seipe</a:t>
            </a:r>
            <a:endParaRPr lang="de-DE" sz="4000" b="1" dirty="0">
              <a:solidFill>
                <a:schemeClr val="bg1"/>
              </a:solidFill>
              <a:latin typeface="Arial" panose="020B0604020202020204" pitchFamily="34" charset="0"/>
              <a:cs typeface="Arial" panose="020B0604020202020204" pitchFamily="34" charset="0"/>
            </a:endParaRPr>
          </a:p>
        </p:txBody>
      </p:sp>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Tree>
    <p:extLst>
      <p:ext uri="{BB962C8B-B14F-4D97-AF65-F5344CB8AC3E}">
        <p14:creationId xmlns:p14="http://schemas.microsoft.com/office/powerpoint/2010/main" val="3029780449"/>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feld 1"/>
          <p:cNvSpPr txBox="1"/>
          <p:nvPr/>
        </p:nvSpPr>
        <p:spPr>
          <a:xfrm>
            <a:off x="3380509" y="2724150"/>
            <a:ext cx="5394036"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Zu spät, das ist </a:t>
            </a:r>
            <a:r>
              <a:rPr lang="de-DE" sz="4000" b="1" dirty="0" err="1">
                <a:solidFill>
                  <a:schemeClr val="bg1"/>
                </a:solidFill>
                <a:latin typeface="Arial" panose="020B0604020202020204" pitchFamily="34" charset="0"/>
                <a:cs typeface="Arial" panose="020B0604020202020204" pitchFamily="34" charset="0"/>
              </a:rPr>
              <a:t>Seipe</a:t>
            </a:r>
            <a:endParaRPr lang="de-DE" sz="4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4150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
        <p:nvSpPr>
          <p:cNvPr id="4" name="Textfeld 3"/>
          <p:cNvSpPr txBox="1"/>
          <p:nvPr/>
        </p:nvSpPr>
        <p:spPr>
          <a:xfrm>
            <a:off x="4667250" y="5024003"/>
            <a:ext cx="2857500" cy="711777"/>
          </a:xfrm>
          <a:prstGeom prst="rect">
            <a:avLst/>
          </a:prstGeom>
          <a:noFill/>
        </p:spPr>
        <p:txBody>
          <a:bodyPr wrap="square" rtlCol="0">
            <a:spAutoFit/>
          </a:bodyPr>
          <a:lstStyle/>
          <a:p>
            <a:pPr algn="ctr"/>
            <a:r>
              <a:rPr lang="de-DE" sz="4000" b="1" dirty="0" err="1">
                <a:solidFill>
                  <a:schemeClr val="bg1"/>
                </a:solidFill>
                <a:latin typeface="Arial" panose="020B0604020202020204" pitchFamily="34" charset="0"/>
                <a:cs typeface="Arial" panose="020B0604020202020204" pitchFamily="34" charset="0"/>
              </a:rPr>
              <a:t>Hürtin</a:t>
            </a:r>
            <a:endParaRPr lang="de-DE" sz="4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9473364"/>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feld 3"/>
          <p:cNvSpPr txBox="1"/>
          <p:nvPr/>
        </p:nvSpPr>
        <p:spPr>
          <a:xfrm>
            <a:off x="3380508" y="2724150"/>
            <a:ext cx="5551055"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Korrekt, das ist </a:t>
            </a:r>
            <a:r>
              <a:rPr lang="de-DE" sz="4000" b="1" dirty="0" err="1">
                <a:solidFill>
                  <a:schemeClr val="bg1"/>
                </a:solidFill>
                <a:latin typeface="Arial" panose="020B0604020202020204" pitchFamily="34" charset="0"/>
                <a:cs typeface="Arial" panose="020B0604020202020204" pitchFamily="34" charset="0"/>
              </a:rPr>
              <a:t>Hürtin</a:t>
            </a:r>
            <a:endParaRPr lang="de-DE" sz="4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5664598"/>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
        <p:nvSpPr>
          <p:cNvPr id="4" name="Textfeld 3"/>
          <p:cNvSpPr txBox="1"/>
          <p:nvPr/>
        </p:nvSpPr>
        <p:spPr>
          <a:xfrm>
            <a:off x="4667250" y="5024003"/>
            <a:ext cx="2857500" cy="711777"/>
          </a:xfrm>
          <a:prstGeom prst="rect">
            <a:avLst/>
          </a:prstGeom>
          <a:noFill/>
        </p:spPr>
        <p:txBody>
          <a:bodyPr wrap="square" rtlCol="0">
            <a:spAutoFit/>
          </a:bodyPr>
          <a:lstStyle/>
          <a:p>
            <a:pPr algn="ctr"/>
            <a:r>
              <a:rPr lang="de-DE" sz="4000" b="1" dirty="0" err="1">
                <a:solidFill>
                  <a:schemeClr val="bg1"/>
                </a:solidFill>
                <a:latin typeface="Arial" panose="020B0604020202020204" pitchFamily="34" charset="0"/>
                <a:cs typeface="Arial" panose="020B0604020202020204" pitchFamily="34" charset="0"/>
              </a:rPr>
              <a:t>Gesor</a:t>
            </a:r>
            <a:endParaRPr lang="de-DE" sz="4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3160700"/>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feld 2"/>
          <p:cNvSpPr txBox="1"/>
          <p:nvPr/>
        </p:nvSpPr>
        <p:spPr>
          <a:xfrm>
            <a:off x="3380508" y="2724150"/>
            <a:ext cx="5551055"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Falsch, das ist </a:t>
            </a:r>
            <a:r>
              <a:rPr lang="de-DE" sz="4000" b="1" dirty="0" err="1">
                <a:solidFill>
                  <a:schemeClr val="bg1"/>
                </a:solidFill>
                <a:latin typeface="Arial" panose="020B0604020202020204" pitchFamily="34" charset="0"/>
                <a:cs typeface="Arial" panose="020B0604020202020204" pitchFamily="34" charset="0"/>
              </a:rPr>
              <a:t>Kulat</a:t>
            </a:r>
            <a:r>
              <a:rPr lang="de-DE" sz="4000" b="1" dirty="0">
                <a:solidFill>
                  <a:schemeClr val="bg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7292557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5792" y="2161467"/>
            <a:ext cx="4540416" cy="2535065"/>
          </a:xfrm>
          <a:prstGeom prst="rect">
            <a:avLst/>
          </a:prstGeom>
        </p:spPr>
      </p:pic>
    </p:spTree>
    <p:extLst>
      <p:ext uri="{BB962C8B-B14F-4D97-AF65-F5344CB8AC3E}">
        <p14:creationId xmlns:p14="http://schemas.microsoft.com/office/powerpoint/2010/main" val="3484701922"/>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
        <p:nvSpPr>
          <p:cNvPr id="4" name="Textfeld 3"/>
          <p:cNvSpPr txBox="1"/>
          <p:nvPr/>
        </p:nvSpPr>
        <p:spPr>
          <a:xfrm>
            <a:off x="4667250" y="5024003"/>
            <a:ext cx="2857500" cy="711777"/>
          </a:xfrm>
          <a:prstGeom prst="rect">
            <a:avLst/>
          </a:prstGeom>
          <a:noFill/>
        </p:spPr>
        <p:txBody>
          <a:bodyPr wrap="square" rtlCol="0">
            <a:spAutoFit/>
          </a:bodyPr>
          <a:lstStyle/>
          <a:p>
            <a:pPr algn="ctr"/>
            <a:r>
              <a:rPr lang="de-DE" sz="4000" b="1" dirty="0">
                <a:solidFill>
                  <a:schemeClr val="bg1"/>
                </a:solidFill>
                <a:latin typeface="Arial" panose="020B0604020202020204" pitchFamily="34" charset="0"/>
                <a:cs typeface="Arial" panose="020B0604020202020204" pitchFamily="34" charset="0"/>
              </a:rPr>
              <a:t>Käfer</a:t>
            </a:r>
          </a:p>
        </p:txBody>
      </p:sp>
    </p:spTree>
    <p:extLst>
      <p:ext uri="{BB962C8B-B14F-4D97-AF65-F5344CB8AC3E}">
        <p14:creationId xmlns:p14="http://schemas.microsoft.com/office/powerpoint/2010/main" val="3263059116"/>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feld 1"/>
          <p:cNvSpPr txBox="1"/>
          <p:nvPr/>
        </p:nvSpPr>
        <p:spPr>
          <a:xfrm>
            <a:off x="3380509" y="2724150"/>
            <a:ext cx="5394036"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Zu spät, das ist Käfer</a:t>
            </a:r>
          </a:p>
        </p:txBody>
      </p:sp>
    </p:spTree>
    <p:extLst>
      <p:ext uri="{BB962C8B-B14F-4D97-AF65-F5344CB8AC3E}">
        <p14:creationId xmlns:p14="http://schemas.microsoft.com/office/powerpoint/2010/main" val="26654795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
        <p:nvSpPr>
          <p:cNvPr id="4" name="Textfeld 3"/>
          <p:cNvSpPr txBox="1"/>
          <p:nvPr/>
        </p:nvSpPr>
        <p:spPr>
          <a:xfrm>
            <a:off x="4667250" y="5024003"/>
            <a:ext cx="2857500" cy="711777"/>
          </a:xfrm>
          <a:prstGeom prst="rect">
            <a:avLst/>
          </a:prstGeom>
          <a:noFill/>
        </p:spPr>
        <p:txBody>
          <a:bodyPr wrap="square" rtlCol="0">
            <a:spAutoFit/>
          </a:bodyPr>
          <a:lstStyle/>
          <a:p>
            <a:pPr algn="ctr"/>
            <a:r>
              <a:rPr lang="de-DE" sz="4000" b="1" dirty="0">
                <a:solidFill>
                  <a:schemeClr val="bg1"/>
                </a:solidFill>
                <a:latin typeface="Arial" panose="020B0604020202020204" pitchFamily="34" charset="0"/>
                <a:cs typeface="Arial" panose="020B0604020202020204" pitchFamily="34" charset="0"/>
              </a:rPr>
              <a:t>Donut</a:t>
            </a:r>
          </a:p>
        </p:txBody>
      </p:sp>
    </p:spTree>
    <p:extLst>
      <p:ext uri="{BB962C8B-B14F-4D97-AF65-F5344CB8AC3E}">
        <p14:creationId xmlns:p14="http://schemas.microsoft.com/office/powerpoint/2010/main" val="2912290950"/>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feld 3"/>
          <p:cNvSpPr txBox="1"/>
          <p:nvPr/>
        </p:nvSpPr>
        <p:spPr>
          <a:xfrm>
            <a:off x="3380508" y="2724150"/>
            <a:ext cx="5551055"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Korrekt, das ist Donut</a:t>
            </a:r>
          </a:p>
        </p:txBody>
      </p:sp>
    </p:spTree>
    <p:extLst>
      <p:ext uri="{BB962C8B-B14F-4D97-AF65-F5344CB8AC3E}">
        <p14:creationId xmlns:p14="http://schemas.microsoft.com/office/powerpoint/2010/main" val="13060970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
        <p:nvSpPr>
          <p:cNvPr id="3" name="Textfeld 2"/>
          <p:cNvSpPr txBox="1"/>
          <p:nvPr/>
        </p:nvSpPr>
        <p:spPr>
          <a:xfrm>
            <a:off x="4667250" y="5024003"/>
            <a:ext cx="2857500" cy="711777"/>
          </a:xfrm>
          <a:prstGeom prst="rect">
            <a:avLst/>
          </a:prstGeom>
          <a:noFill/>
        </p:spPr>
        <p:txBody>
          <a:bodyPr wrap="square" rtlCol="0">
            <a:spAutoFit/>
          </a:bodyPr>
          <a:lstStyle/>
          <a:p>
            <a:pPr algn="ctr"/>
            <a:r>
              <a:rPr lang="de-DE" sz="4000" b="1" dirty="0">
                <a:solidFill>
                  <a:schemeClr val="bg1"/>
                </a:solidFill>
                <a:latin typeface="Arial" panose="020B0604020202020204" pitchFamily="34" charset="0"/>
                <a:cs typeface="Arial" panose="020B0604020202020204" pitchFamily="34" charset="0"/>
              </a:rPr>
              <a:t>Laptop</a:t>
            </a:r>
          </a:p>
        </p:txBody>
      </p:sp>
    </p:spTree>
    <p:extLst>
      <p:ext uri="{BB962C8B-B14F-4D97-AF65-F5344CB8AC3E}">
        <p14:creationId xmlns:p14="http://schemas.microsoft.com/office/powerpoint/2010/main" val="2872604672"/>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feld 3"/>
          <p:cNvSpPr txBox="1"/>
          <p:nvPr/>
        </p:nvSpPr>
        <p:spPr>
          <a:xfrm>
            <a:off x="3380508" y="2724150"/>
            <a:ext cx="5551055"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Falsch, das ist Tisch</a:t>
            </a:r>
          </a:p>
        </p:txBody>
      </p:sp>
    </p:spTree>
    <p:extLst>
      <p:ext uri="{BB962C8B-B14F-4D97-AF65-F5344CB8AC3E}">
        <p14:creationId xmlns:p14="http://schemas.microsoft.com/office/powerpoint/2010/main" val="42451063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5752DC4-76D6-2BEE-F81C-FBCB953457B6}"/>
              </a:ext>
            </a:extLst>
          </p:cNvPr>
          <p:cNvSpPr txBox="1"/>
          <p:nvPr/>
        </p:nvSpPr>
        <p:spPr>
          <a:xfrm>
            <a:off x="4227226" y="2724150"/>
            <a:ext cx="4704337"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Und so weiter...</a:t>
            </a:r>
          </a:p>
        </p:txBody>
      </p:sp>
    </p:spTree>
    <p:extLst>
      <p:ext uri="{BB962C8B-B14F-4D97-AF65-F5344CB8AC3E}">
        <p14:creationId xmlns:p14="http://schemas.microsoft.com/office/powerpoint/2010/main" val="137370970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1419663" y="2952739"/>
            <a:ext cx="9143640" cy="1236600"/>
          </a:xfrm>
          <a:prstGeom prst="rect">
            <a:avLst/>
          </a:prstGeom>
          <a:noFill/>
          <a:ln w="0">
            <a:noFill/>
          </a:ln>
        </p:spPr>
        <p:txBody>
          <a:bodyPr numCol="1" spcCol="0" anchor="ctr">
            <a:noAutofit/>
          </a:bodyPr>
          <a:lstStyle/>
          <a:p>
            <a:pPr algn="ctr">
              <a:lnSpc>
                <a:spcPct val="100000"/>
              </a:lnSpc>
              <a:buNone/>
            </a:pPr>
            <a:r>
              <a:rPr lang="de-DE" sz="2000" b="0" strike="noStrike" spc="-1" dirty="0">
                <a:solidFill>
                  <a:srgbClr val="000000"/>
                </a:solidFill>
                <a:latin typeface="Arial"/>
              </a:rPr>
              <a:t>Haben Sie noch Fragen?</a:t>
            </a:r>
            <a:br>
              <a:rPr sz="2000" dirty="0"/>
            </a:br>
            <a:br>
              <a:rPr sz="2000" dirty="0"/>
            </a:br>
            <a:r>
              <a:rPr lang="de-DE" sz="2000" b="0" strike="noStrike" spc="-1" dirty="0">
                <a:solidFill>
                  <a:srgbClr val="000000"/>
                </a:solidFill>
                <a:latin typeface="Arial"/>
              </a:rPr>
              <a:t>				</a:t>
            </a:r>
            <a:endParaRPr lang="de-DE" sz="2000" b="0" strike="noStrike" spc="-1" dirty="0">
              <a:solidFill>
                <a:srgbClr val="000000"/>
              </a:solidFill>
              <a:latin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783772" y="-323826"/>
            <a:ext cx="6068101" cy="2387756"/>
          </a:xfrm>
          <a:prstGeom prst="rect">
            <a:avLst/>
          </a:prstGeom>
          <a:noFill/>
          <a:ln w="0">
            <a:noFill/>
          </a:ln>
        </p:spPr>
        <p:txBody>
          <a:bodyPr numCol="1" spcCol="0" anchor="ctr">
            <a:noAutofit/>
          </a:bodyPr>
          <a:lstStyle/>
          <a:p>
            <a:pPr>
              <a:lnSpc>
                <a:spcPct val="100000"/>
              </a:lnSpc>
            </a:pPr>
            <a:r>
              <a:rPr lang="de-DE" sz="2800" b="1" u="sng" spc="-1" dirty="0">
                <a:latin typeface="Arial"/>
              </a:rPr>
              <a:t>Wichtig!</a:t>
            </a:r>
            <a:br>
              <a:rPr sz="2800" dirty="0"/>
            </a:br>
            <a:br>
              <a:rPr sz="2000" dirty="0"/>
            </a:br>
            <a:endParaRPr lang="de-DE" sz="2000" b="0" strike="noStrike" spc="-1" dirty="0">
              <a:latin typeface="Calibri"/>
            </a:endParaRPr>
          </a:p>
        </p:txBody>
      </p:sp>
      <p:pic>
        <p:nvPicPr>
          <p:cNvPr id="3" name="Grafik 2"/>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3000" contrast="20000"/>
                    </a14:imgEffect>
                  </a14:imgLayer>
                </a14:imgProps>
              </a:ext>
              <a:ext uri="{28A0092B-C50C-407E-A947-70E740481C1C}">
                <a14:useLocalDpi xmlns:a14="http://schemas.microsoft.com/office/drawing/2010/main" val="0"/>
              </a:ext>
            </a:extLst>
          </a:blip>
          <a:stretch>
            <a:fillRect/>
          </a:stretch>
        </p:blipFill>
        <p:spPr>
          <a:xfrm rot="5400000">
            <a:off x="151711" y="1769386"/>
            <a:ext cx="5056488" cy="3792366"/>
          </a:xfrm>
          <a:prstGeom prst="rect">
            <a:avLst/>
          </a:prstGeom>
        </p:spPr>
      </p:pic>
      <p:sp>
        <p:nvSpPr>
          <p:cNvPr id="4" name="Textfeld 3">
            <a:extLst>
              <a:ext uri="{FF2B5EF4-FFF2-40B4-BE49-F238E27FC236}">
                <a16:creationId xmlns:a16="http://schemas.microsoft.com/office/drawing/2014/main" id="{3419BED7-5E94-4F41-A0E1-A7A57BDA3484}"/>
              </a:ext>
            </a:extLst>
          </p:cNvPr>
          <p:cNvSpPr txBox="1"/>
          <p:nvPr/>
        </p:nvSpPr>
        <p:spPr>
          <a:xfrm>
            <a:off x="5418474" y="1886277"/>
            <a:ext cx="6406025" cy="3477875"/>
          </a:xfrm>
          <a:prstGeom prst="rect">
            <a:avLst/>
          </a:prstGeom>
          <a:noFill/>
        </p:spPr>
        <p:txBody>
          <a:bodyPr wrap="square" rtlCol="0">
            <a:spAutoFit/>
          </a:bodyPr>
          <a:lstStyle/>
          <a:p>
            <a:pPr marL="285750" indent="-285750">
              <a:buFont typeface="Arial" panose="020B0604020202020204" pitchFamily="34" charset="0"/>
              <a:buChar char="•"/>
            </a:pPr>
            <a:r>
              <a:rPr lang="de-DE" sz="2000" dirty="0"/>
              <a:t>Im Scanner wird, anstatt der Tastatur, ein „Reaktionspad“ verwendet</a:t>
            </a:r>
          </a:p>
          <a:p>
            <a:pPr marL="285750" indent="-285750">
              <a:buFont typeface="Arial" panose="020B0604020202020204" pitchFamily="34" charset="0"/>
              <a:buChar char="•"/>
            </a:pPr>
            <a:endParaRPr lang="de-DE" sz="2000" dirty="0"/>
          </a:p>
          <a:p>
            <a:pPr marL="285750" indent="-285750">
              <a:buFont typeface="Arial" panose="020B0604020202020204" pitchFamily="34" charset="0"/>
              <a:buChar char="•"/>
            </a:pPr>
            <a:r>
              <a:rPr lang="de-DE" sz="2000" dirty="0"/>
              <a:t>Bitte drücken Sie mit dem </a:t>
            </a:r>
            <a:r>
              <a:rPr lang="de-DE" sz="2000" b="1" dirty="0"/>
              <a:t>Daumen</a:t>
            </a:r>
            <a:r>
              <a:rPr lang="de-DE" sz="2000" dirty="0"/>
              <a:t>, wenn Sie denken dass eine </a:t>
            </a:r>
            <a:r>
              <a:rPr lang="de-DE" sz="2000" b="1" dirty="0"/>
              <a:t>Paarung falsch </a:t>
            </a:r>
            <a:r>
              <a:rPr lang="de-DE" sz="2000" dirty="0"/>
              <a:t>ist</a:t>
            </a:r>
          </a:p>
          <a:p>
            <a:pPr marL="285750" indent="-285750">
              <a:buFont typeface="Arial" panose="020B0604020202020204" pitchFamily="34" charset="0"/>
              <a:buChar char="•"/>
            </a:pPr>
            <a:endParaRPr lang="de-DE" sz="2000" dirty="0"/>
          </a:p>
          <a:p>
            <a:pPr marL="285750" indent="-285750">
              <a:buFont typeface="Arial" panose="020B0604020202020204" pitchFamily="34" charset="0"/>
              <a:buChar char="•"/>
            </a:pPr>
            <a:r>
              <a:rPr lang="de-DE" sz="2000" dirty="0"/>
              <a:t>Bitte drücken Sie mit dem </a:t>
            </a:r>
            <a:r>
              <a:rPr lang="de-DE" sz="2000" b="1" dirty="0"/>
              <a:t>Zeigefinger</a:t>
            </a:r>
            <a:r>
              <a:rPr lang="de-DE" sz="2000" dirty="0"/>
              <a:t>, wenn Sie denken, dass eine </a:t>
            </a:r>
            <a:r>
              <a:rPr lang="de-DE" sz="2000" b="1"/>
              <a:t>Paarung richtig </a:t>
            </a:r>
            <a:r>
              <a:rPr lang="de-DE" sz="2000" dirty="0"/>
              <a:t>ist</a:t>
            </a:r>
          </a:p>
          <a:p>
            <a:pPr marL="285750" indent="-285750">
              <a:buFont typeface="Arial" panose="020B0604020202020204" pitchFamily="34" charset="0"/>
              <a:buChar char="•"/>
            </a:pPr>
            <a:endParaRPr lang="de-DE" sz="2000" dirty="0"/>
          </a:p>
          <a:p>
            <a:pPr marL="285750" indent="-285750">
              <a:buFont typeface="Arial" panose="020B0604020202020204" pitchFamily="34" charset="0"/>
              <a:buChar char="•"/>
            </a:pPr>
            <a:r>
              <a:rPr lang="de-DE" sz="2000" b="1" dirty="0"/>
              <a:t>Wir werden Ihnen dies im Scanner demonstrieren</a:t>
            </a:r>
          </a:p>
        </p:txBody>
      </p:sp>
      <p:sp>
        <p:nvSpPr>
          <p:cNvPr id="5" name="Textfeld 4">
            <a:extLst>
              <a:ext uri="{FF2B5EF4-FFF2-40B4-BE49-F238E27FC236}">
                <a16:creationId xmlns:a16="http://schemas.microsoft.com/office/drawing/2014/main" id="{3438E885-E8AB-4FC0-A69D-13CA46DE7C6F}"/>
              </a:ext>
            </a:extLst>
          </p:cNvPr>
          <p:cNvSpPr txBox="1"/>
          <p:nvPr/>
        </p:nvSpPr>
        <p:spPr>
          <a:xfrm>
            <a:off x="1979786" y="1637949"/>
            <a:ext cx="1896183" cy="369332"/>
          </a:xfrm>
          <a:prstGeom prst="rect">
            <a:avLst/>
          </a:prstGeom>
          <a:noFill/>
        </p:spPr>
        <p:txBody>
          <a:bodyPr wrap="square" rtlCol="0">
            <a:spAutoFit/>
          </a:bodyPr>
          <a:lstStyle/>
          <a:p>
            <a:r>
              <a:rPr lang="de-DE" b="1" dirty="0">
                <a:solidFill>
                  <a:srgbClr val="FF0000"/>
                </a:solidFill>
              </a:rPr>
              <a:t>falsch</a:t>
            </a:r>
          </a:p>
        </p:txBody>
      </p:sp>
      <p:sp>
        <p:nvSpPr>
          <p:cNvPr id="7" name="Textfeld 6">
            <a:extLst>
              <a:ext uri="{FF2B5EF4-FFF2-40B4-BE49-F238E27FC236}">
                <a16:creationId xmlns:a16="http://schemas.microsoft.com/office/drawing/2014/main" id="{B51ECC04-A345-447C-90BF-95500CD68F12}"/>
              </a:ext>
            </a:extLst>
          </p:cNvPr>
          <p:cNvSpPr txBox="1"/>
          <p:nvPr/>
        </p:nvSpPr>
        <p:spPr>
          <a:xfrm>
            <a:off x="1375301" y="3887556"/>
            <a:ext cx="1896183" cy="369332"/>
          </a:xfrm>
          <a:prstGeom prst="rect">
            <a:avLst/>
          </a:prstGeom>
          <a:noFill/>
        </p:spPr>
        <p:txBody>
          <a:bodyPr wrap="square" rtlCol="0">
            <a:spAutoFit/>
          </a:bodyPr>
          <a:lstStyle/>
          <a:p>
            <a:r>
              <a:rPr lang="de-DE" b="1" dirty="0">
                <a:solidFill>
                  <a:srgbClr val="FF0000"/>
                </a:solidFill>
              </a:rPr>
              <a:t>richtig</a:t>
            </a:r>
          </a:p>
        </p:txBody>
      </p:sp>
      <p:cxnSp>
        <p:nvCxnSpPr>
          <p:cNvPr id="8" name="Gerade Verbindung mit Pfeil 7">
            <a:extLst>
              <a:ext uri="{FF2B5EF4-FFF2-40B4-BE49-F238E27FC236}">
                <a16:creationId xmlns:a16="http://schemas.microsoft.com/office/drawing/2014/main" id="{791157B9-C7EA-4D21-8520-3999561913C7}"/>
              </a:ext>
            </a:extLst>
          </p:cNvPr>
          <p:cNvCxnSpPr/>
          <p:nvPr/>
        </p:nvCxnSpPr>
        <p:spPr>
          <a:xfrm>
            <a:off x="2403566" y="2063930"/>
            <a:ext cx="172429" cy="2560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Gerade Verbindung mit Pfeil 9">
            <a:extLst>
              <a:ext uri="{FF2B5EF4-FFF2-40B4-BE49-F238E27FC236}">
                <a16:creationId xmlns:a16="http://schemas.microsoft.com/office/drawing/2014/main" id="{712F87BF-D7D2-4AFF-8E7C-0DB3220E1FDA}"/>
              </a:ext>
            </a:extLst>
          </p:cNvPr>
          <p:cNvCxnSpPr>
            <a:cxnSpLocks/>
          </p:cNvCxnSpPr>
          <p:nvPr/>
        </p:nvCxnSpPr>
        <p:spPr>
          <a:xfrm flipV="1">
            <a:off x="1808934" y="3547472"/>
            <a:ext cx="341703" cy="23619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3224584"/>
      </p:ext>
    </p:extLst>
  </p:cSld>
  <p:clrMapOvr>
    <a:masterClrMapping/>
  </p:clrMapOvr>
  <p:extLst mod="1">
    <p:ext uri="{6950BFC3-D8DA-4A85-94F7-54DA5524770B}">
      <p188:commentRel xmlns:p188="http://schemas.microsoft.com/office/powerpoint/2018/8/main" xmlns="" r:id="rId5"/>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A5544C-43E8-B08E-00CD-87470072ACA0}"/>
              </a:ext>
            </a:extLst>
          </p:cNvPr>
          <p:cNvSpPr>
            <a:spLocks noGrp="1"/>
          </p:cNvSpPr>
          <p:nvPr>
            <p:ph idx="1"/>
          </p:nvPr>
        </p:nvSpPr>
        <p:spPr>
          <a:xfrm>
            <a:off x="609480" y="1596705"/>
            <a:ext cx="10972440" cy="3977280"/>
          </a:xfrm>
        </p:spPr>
        <p: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Das Experiment dauert insgesamt </a:t>
            </a:r>
            <a:r>
              <a:rPr kumimoji="0" lang="de-DE" sz="2000" b="0" i="0" u="none" strike="noStrike" kern="1200" cap="none" spc="0" normalizeH="0" baseline="0" noProof="0">
                <a:ln>
                  <a:noFill/>
                </a:ln>
                <a:solidFill>
                  <a:prstClr val="black"/>
                </a:solidFill>
                <a:effectLst/>
                <a:uLnTx/>
                <a:uFillTx/>
                <a:latin typeface="Arial" panose="020B0604020202020204" pitchFamily="34" charset="0"/>
                <a:ea typeface="+mn-ea"/>
                <a:cs typeface="+mn-cs"/>
              </a:rPr>
              <a:t>etwa 29 </a:t>
            </a:r>
            <a:r>
              <a:rPr kumimoji="0" 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Minuten.</a:t>
            </a: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endParaRPr kumimoji="0" 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lvl="0" indent="0" algn="ctr" eaLnBrk="0" fontAlgn="base" hangingPunct="0">
              <a:lnSpc>
                <a:spcPct val="100000"/>
              </a:lnSpc>
              <a:spcBef>
                <a:spcPct val="0"/>
              </a:spcBef>
              <a:spcAft>
                <a:spcPct val="0"/>
              </a:spcAft>
              <a:buNone/>
              <a:defRPr/>
            </a:pPr>
            <a: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Die </a:t>
            </a:r>
            <a:r>
              <a:rPr kumimoji="0" lang="de-DE" altLang="de-DE" sz="2000" b="0" i="0" u="none" strike="noStrike" kern="1200" cap="none" spc="0" normalizeH="0" baseline="0" noProof="0" dirty="0">
                <a:ln>
                  <a:noFill/>
                </a:ln>
                <a:effectLst/>
                <a:uLnTx/>
                <a:uFillTx/>
                <a:latin typeface="Arial" panose="020B0604020202020204" pitchFamily="34" charset="0"/>
                <a:ea typeface="+mn-ea"/>
                <a:cs typeface="+mn-cs"/>
              </a:rPr>
              <a:t>Lernau</a:t>
            </a:r>
            <a: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fgabe mag Ihnen zu Beginn schwierig vorkommen.</a:t>
            </a:r>
            <a:b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br>
            <a: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Das ist ganz normal, da Sie </a:t>
            </a:r>
            <a:r>
              <a:rPr lang="de-DE" sz="2000" spc="-1" dirty="0">
                <a:solidFill>
                  <a:srgbClr val="000000"/>
                </a:solidFill>
              </a:rPr>
              <a:t>korrekte Paarungen von Bildern und Pseudowörtern </a:t>
            </a:r>
            <a:b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br>
            <a: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über die Zeit erst herausfinden sollen.</a:t>
            </a:r>
            <a:br>
              <a:rPr kumimoji="0" lang="de-DE" altLang="de-DE" sz="2000" b="0"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mn-ea"/>
                <a:cs typeface="+mn-cs"/>
              </a:rPr>
            </a:br>
            <a:b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br>
            <a:r>
              <a:rPr lang="de-DE" altLang="de-DE" sz="2000" dirty="0">
                <a:latin typeface="Arial" panose="020B0604020202020204" pitchFamily="34" charset="0"/>
              </a:rPr>
              <a:t>Bitte versuchen Sie es trotzdem.</a:t>
            </a:r>
          </a:p>
          <a:p>
            <a:pPr marL="0" lvl="0" indent="0" algn="ctr" eaLnBrk="0" fontAlgn="base" hangingPunct="0">
              <a:lnSpc>
                <a:spcPct val="100000"/>
              </a:lnSpc>
              <a:spcBef>
                <a:spcPct val="0"/>
              </a:spcBef>
              <a:spcAft>
                <a:spcPct val="0"/>
              </a:spcAft>
              <a:buNone/>
              <a:defRPr/>
            </a:pPr>
            <a:r>
              <a:rPr lang="de-DE" sz="2000" dirty="0"/>
              <a:t>Wenn Sie eine korrekte Paarungen nicht erkennen</a:t>
            </a:r>
            <a:br>
              <a:rPr lang="de-DE" sz="2000" dirty="0"/>
            </a:br>
            <a:r>
              <a:rPr lang="de-DE" sz="2000" dirty="0"/>
              <a:t>oder sich nicht sicher sind, </a:t>
            </a:r>
            <a:r>
              <a:rPr lang="de-DE" sz="2000" b="1" dirty="0"/>
              <a:t>raten</a:t>
            </a:r>
            <a:r>
              <a:rPr lang="de-DE" sz="2000" dirty="0"/>
              <a:t> Sie bitte!</a:t>
            </a:r>
            <a:endParaRPr lang="en-US" sz="2000" dirty="0"/>
          </a:p>
        </p:txBody>
      </p:sp>
    </p:spTree>
    <p:extLst>
      <p:ext uri="{BB962C8B-B14F-4D97-AF65-F5344CB8AC3E}">
        <p14:creationId xmlns:p14="http://schemas.microsoft.com/office/powerpoint/2010/main" val="1271992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936</Words>
  <Application>Microsoft Office PowerPoint</Application>
  <PresentationFormat>Breitbild</PresentationFormat>
  <Paragraphs>124</Paragraphs>
  <Slides>32</Slides>
  <Notes>16</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32</vt:i4>
      </vt:variant>
    </vt:vector>
  </HeadingPairs>
  <TitlesOfParts>
    <vt:vector size="40" baseType="lpstr">
      <vt:lpstr>Arial</vt:lpstr>
      <vt:lpstr>Calibri</vt:lpstr>
      <vt:lpstr>Calibri Light</vt:lpstr>
      <vt:lpstr>DejaVu Sans</vt:lpstr>
      <vt:lpstr>Symbol</vt:lpstr>
      <vt:lpstr>Times New Roman</vt:lpstr>
      <vt:lpstr>Wingdings</vt:lpstr>
      <vt:lpstr>Office Theme</vt:lpstr>
      <vt:lpstr>Projekt 3 der Forschungsgruppe 5429  Effekte von fokaler Gleichstromstimulation auf Sprachlernen </vt:lpstr>
      <vt:lpstr>Während des Experiments bitten wir Sie  zwei Aufgaben zu bearbeiten  Aufgabe 1  Entscheidung ob BILDER und WORTE übereinstimmen  Aufgabe 2 Erlernen von BILD und PSEUDOWORT Paaren   Aufgabe 1 wird insgesamt zweimal durchgeführt  Aufgabe 2 wird insgesamt viermal durchgeführt  Daher ist die Aufgabe diesmal deutlich länger als beim ersten Mal.                               </vt:lpstr>
      <vt:lpstr>Aufgabe 1  Bitte entscheiden Sie durch Tastendruck, ob Bilder und Worte übereinstimmen  </vt:lpstr>
      <vt:lpstr> Aufgabe 2  Ihnen werden Paare von Bilder und Pseudowörtern präsentiert  Diese Paare können entweder richtig oder falsch sein  Ihre Aufgabe besteht darin zu lernen, welche Paare richtig sind  Wichtig: Es gibt jeweils nur eine richtige Paarung zwischen Bild und Pseudowort  </vt:lpstr>
      <vt:lpstr> Ablauf der Aufgaben  Der generelle Ablauf der beiden Aufgaben ist identisch und wird auf den nächsten Folien anhand der beiden Aufgaben illustriert.  Zunächst wird Aufgabe 2 beschrieben (Lernaufgabe).  </vt:lpstr>
      <vt:lpstr>Während der Lernaufgabe, erscheinen Bilder und Wörter jeweils für 2,5 Sekunden auf dem Bildschirm. In dieser Zeit sollen Sie durch Tastendruck entscheiden, ob die präsentierte Paarung richtig oder falsch ist.  Bei den ersten Durchgängen müssen Sie zwangsläufig raten!</vt:lpstr>
      <vt:lpstr>Unmittelbar im Anschluß an jede Paarung, erhalten Sie automatisch Rückmeldung, ob Ihre Antwort richtig oder falsch war.  Hier sehen Sie ein Beispiel für die Rückmeldung, nach einer richtigen Antwort.   </vt:lpstr>
      <vt:lpstr>Wenn Ihre Antwort falsch war, erhalten Sie ebenfalls Rückmeldung.  Außerdem wird das korrekte Pseudowort angezeigt.</vt:lpstr>
      <vt:lpstr>Es ist wichtig innerhalb von 2.5 Sekunden zu antworten  Wenn Sie zu spät drücken, wird Ihre Antwort nicht gewertet. In diesem Fall erhalten Sie ebenfalls Rückmeldung und das korrekte Pseudowort wird angezeigt.    </vt:lpstr>
      <vt:lpstr> Bitte benutzen Sie die jeweiligen Rückmeldungen, um im Laufe des Experiments korrekte Paarungen von Bildern und Pseudowörtern zu erlernen.  Wenn Sie sich nicht sicher sind, raten Sie bitte.   </vt:lpstr>
      <vt:lpstr>Der Ablauf der Bild-Wort Übereinstimmungsaufgabe ist identisch.  Auch hier erhalten Sie Rückmeldung. </vt:lpstr>
      <vt:lpstr>Ablauf des Gesamtexperiments  Beide Aufgaben werden wiederholt in kurzen Blöcken von je 3 Minuten durchgeführt (2x Bild-Wort Entscheidung; 4x Lernaufgabe).  Die Abfolge der Aufgaben ist zufällig und wird kurz davor durch eine Sprechblase angekündigt.  In jedem Block werden andere Bilder und (Pseudo)Wort Kombinationen verwendet.  Zwischen den Aufgaben gibt es kurze Pausen, in denen wir Sie bitten auf ein Kreuz zu schauen (ca. 15 Sekunden).  Insgesamt dauert das Experiment ca. 29 Minuten.</vt:lpstr>
      <vt:lpstr>Zur Erinnerung an den Ablauf der Aufgaben, sehen Sie im folgenden nochmal Beispiele des Ablaufs.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Haben Sie noch Fragen?      </vt:lpstr>
      <vt:lpstr>Wichtig!  </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 Folgenden werden Sie die AUFGABE     „ERLENEN VON HÄUSER-POSITIONEN AUF EINEM STADTPLAN„    im Rahmen eines Trainingsprogramms wiederholt durchführen.                                       Bitte drücken Sie eine Taste um fortzufahren</dc:title>
  <dc:subject/>
  <dc:creator>Malinowski, Robert</dc:creator>
  <dc:description/>
  <cp:lastModifiedBy>fMRI</cp:lastModifiedBy>
  <cp:revision>130</cp:revision>
  <dcterms:created xsi:type="dcterms:W3CDTF">2022-03-21T08:43:36Z</dcterms:created>
  <dcterms:modified xsi:type="dcterms:W3CDTF">2024-04-28T15:48:15Z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Breitbild</vt:lpwstr>
  </property>
  <property fmtid="{D5CDD505-2E9C-101B-9397-08002B2CF9AE}" pid="4" name="Slides">
    <vt:i4>15</vt:i4>
  </property>
</Properties>
</file>